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6" r:id="rId39"/>
    <p:sldId id="293" r:id="rId40"/>
    <p:sldId id="295" r:id="rId41"/>
    <p:sldId id="294" r:id="rId42"/>
  </p:sldIdLst>
  <p:sldSz cx="12192000" cy="6858000"/>
  <p:notesSz cx="6858000" cy="9144000"/>
  <p:defaultTextStyle>
    <a:defPPr>
      <a:defRPr lang="es-419"/>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36C1E3-A39A-434B-8547-7EDA8D4CD249}" v="13" dt="2026-08-23T02:56:26.1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0073" autoAdjust="0"/>
  </p:normalViewPr>
  <p:slideViewPr>
    <p:cSldViewPr snapToGrid="0" snapToObjects="1">
      <p:cViewPr varScale="1">
        <p:scale>
          <a:sx n="49" d="100"/>
          <a:sy n="49" d="100"/>
        </p:scale>
        <p:origin x="1244"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és Pablo FANTIN" userId="764826b2-ac4e-4fd7-bda5-68d0e7ba4060" providerId="ADAL" clId="{955200AB-5571-4391-89BE-10686F9C0B7F}"/>
    <pc:docChg chg="undo custSel modSld sldOrd">
      <pc:chgData name="Andrés Pablo FANTIN" userId="764826b2-ac4e-4fd7-bda5-68d0e7ba4060" providerId="ADAL" clId="{955200AB-5571-4391-89BE-10686F9C0B7F}" dt="2026-08-23T19:35:41.657" v="678"/>
      <pc:docMkLst>
        <pc:docMk/>
      </pc:docMkLst>
      <pc:sldChg chg="modSp mod">
        <pc:chgData name="Andrés Pablo FANTIN" userId="764826b2-ac4e-4fd7-bda5-68d0e7ba4060" providerId="ADAL" clId="{955200AB-5571-4391-89BE-10686F9C0B7F}" dt="2026-08-23T01:48:28.946" v="113" actId="1036"/>
        <pc:sldMkLst>
          <pc:docMk/>
          <pc:sldMk cId="310099672" sldId="258"/>
        </pc:sldMkLst>
        <pc:spChg chg="mod">
          <ac:chgData name="Andrés Pablo FANTIN" userId="764826b2-ac4e-4fd7-bda5-68d0e7ba4060" providerId="ADAL" clId="{955200AB-5571-4391-89BE-10686F9C0B7F}" dt="2026-08-23T01:48:28.946" v="113" actId="1036"/>
          <ac:spMkLst>
            <pc:docMk/>
            <pc:sldMk cId="310099672" sldId="258"/>
            <ac:spMk id="13" creationId="{2F7230F0-F624-489A-AD82-F00C809B47BE}"/>
          </ac:spMkLst>
        </pc:spChg>
        <pc:spChg chg="mod">
          <ac:chgData name="Andrés Pablo FANTIN" userId="764826b2-ac4e-4fd7-bda5-68d0e7ba4060" providerId="ADAL" clId="{955200AB-5571-4391-89BE-10686F9C0B7F}" dt="2026-08-23T01:48:28.946" v="113" actId="1036"/>
          <ac:spMkLst>
            <pc:docMk/>
            <pc:sldMk cId="310099672" sldId="258"/>
            <ac:spMk id="14" creationId="{E2F5AB8B-6919-4F9C-8594-9C9A36907F9C}"/>
          </ac:spMkLst>
        </pc:spChg>
        <pc:spChg chg="mod">
          <ac:chgData name="Andrés Pablo FANTIN" userId="764826b2-ac4e-4fd7-bda5-68d0e7ba4060" providerId="ADAL" clId="{955200AB-5571-4391-89BE-10686F9C0B7F}" dt="2026-08-23T01:48:28.946" v="113" actId="1036"/>
          <ac:spMkLst>
            <pc:docMk/>
            <pc:sldMk cId="310099672" sldId="258"/>
            <ac:spMk id="15" creationId="{6BD72E30-B334-45B0-8C20-88A8C0BEB72D}"/>
          </ac:spMkLst>
        </pc:spChg>
        <pc:spChg chg="mod">
          <ac:chgData name="Andrés Pablo FANTIN" userId="764826b2-ac4e-4fd7-bda5-68d0e7ba4060" providerId="ADAL" clId="{955200AB-5571-4391-89BE-10686F9C0B7F}" dt="2026-08-23T01:48:03.849" v="99" actId="20577"/>
          <ac:spMkLst>
            <pc:docMk/>
            <pc:sldMk cId="310099672" sldId="258"/>
            <ac:spMk id="23" creationId="{FB8898C2-FAEE-4805-9949-6DE0724DBD32}"/>
          </ac:spMkLst>
        </pc:spChg>
      </pc:sldChg>
      <pc:sldChg chg="modSp mod">
        <pc:chgData name="Andrés Pablo FANTIN" userId="764826b2-ac4e-4fd7-bda5-68d0e7ba4060" providerId="ADAL" clId="{955200AB-5571-4391-89BE-10686F9C0B7F}" dt="2026-08-23T02:48:00.797" v="319" actId="27636"/>
        <pc:sldMkLst>
          <pc:docMk/>
          <pc:sldMk cId="1266273655" sldId="260"/>
        </pc:sldMkLst>
        <pc:spChg chg="mod">
          <ac:chgData name="Andrés Pablo FANTIN" userId="764826b2-ac4e-4fd7-bda5-68d0e7ba4060" providerId="ADAL" clId="{955200AB-5571-4391-89BE-10686F9C0B7F}" dt="2026-08-23T01:50:29.146" v="128" actId="20577"/>
          <ac:spMkLst>
            <pc:docMk/>
            <pc:sldMk cId="1266273655" sldId="260"/>
            <ac:spMk id="10" creationId="{81671ABD-48EF-408D-8FF6-693F511B0897}"/>
          </ac:spMkLst>
        </pc:spChg>
        <pc:spChg chg="mod">
          <ac:chgData name="Andrés Pablo FANTIN" userId="764826b2-ac4e-4fd7-bda5-68d0e7ba4060" providerId="ADAL" clId="{955200AB-5571-4391-89BE-10686F9C0B7F}" dt="2026-08-23T02:48:00.797" v="318" actId="27636"/>
          <ac:spMkLst>
            <pc:docMk/>
            <pc:sldMk cId="1266273655" sldId="260"/>
            <ac:spMk id="16" creationId="{55DB74F9-1EEA-49D6-95B8-CF5F7BB3D0EA}"/>
          </ac:spMkLst>
        </pc:spChg>
        <pc:spChg chg="mod">
          <ac:chgData name="Andrés Pablo FANTIN" userId="764826b2-ac4e-4fd7-bda5-68d0e7ba4060" providerId="ADAL" clId="{955200AB-5571-4391-89BE-10686F9C0B7F}" dt="2026-08-23T01:54:24.854" v="192" actId="20577"/>
          <ac:spMkLst>
            <pc:docMk/>
            <pc:sldMk cId="1266273655" sldId="260"/>
            <ac:spMk id="18" creationId="{72EE3412-64C0-4F6E-819F-EE0037424C3B}"/>
          </ac:spMkLst>
        </pc:spChg>
        <pc:spChg chg="mod">
          <ac:chgData name="Andrés Pablo FANTIN" userId="764826b2-ac4e-4fd7-bda5-68d0e7ba4060" providerId="ADAL" clId="{955200AB-5571-4391-89BE-10686F9C0B7F}" dt="2026-08-22T14:05:16.971" v="1" actId="27636"/>
          <ac:spMkLst>
            <pc:docMk/>
            <pc:sldMk cId="1266273655" sldId="260"/>
            <ac:spMk id="22" creationId="{47998F5D-0E17-4C43-B9F3-00E773C50045}"/>
          </ac:spMkLst>
        </pc:spChg>
        <pc:spChg chg="mod">
          <ac:chgData name="Andrés Pablo FANTIN" userId="764826b2-ac4e-4fd7-bda5-68d0e7ba4060" providerId="ADAL" clId="{955200AB-5571-4391-89BE-10686F9C0B7F}" dt="2026-08-23T01:53:32.131" v="169" actId="20577"/>
          <ac:spMkLst>
            <pc:docMk/>
            <pc:sldMk cId="1266273655" sldId="260"/>
            <ac:spMk id="24" creationId="{7A49D0C5-3D39-4F7E-9467-AD1CCD659292}"/>
          </ac:spMkLst>
        </pc:spChg>
        <pc:spChg chg="mod">
          <ac:chgData name="Andrés Pablo FANTIN" userId="764826b2-ac4e-4fd7-bda5-68d0e7ba4060" providerId="ADAL" clId="{955200AB-5571-4391-89BE-10686F9C0B7F}" dt="2026-08-23T02:48:00.797" v="319" actId="27636"/>
          <ac:spMkLst>
            <pc:docMk/>
            <pc:sldMk cId="1266273655" sldId="260"/>
            <ac:spMk id="34" creationId="{392406F1-46FB-40F5-BB2E-8EB04DEF4BB7}"/>
          </ac:spMkLst>
        </pc:spChg>
        <pc:spChg chg="mod">
          <ac:chgData name="Andrés Pablo FANTIN" userId="764826b2-ac4e-4fd7-bda5-68d0e7ba4060" providerId="ADAL" clId="{955200AB-5571-4391-89BE-10686F9C0B7F}" dt="2026-08-23T02:48:00.797" v="317" actId="27636"/>
          <ac:spMkLst>
            <pc:docMk/>
            <pc:sldMk cId="1266273655" sldId="260"/>
            <ac:spMk id="40" creationId="{AFECFC72-B476-4B85-B9F4-3537A57531E6}"/>
          </ac:spMkLst>
        </pc:spChg>
      </pc:sldChg>
      <pc:sldChg chg="addSp delSp modSp mod delAnim modAnim modNotesTx">
        <pc:chgData name="Andrés Pablo FANTIN" userId="764826b2-ac4e-4fd7-bda5-68d0e7ba4060" providerId="ADAL" clId="{955200AB-5571-4391-89BE-10686F9C0B7F}" dt="2026-08-23T02:48:07.852" v="325" actId="20577"/>
        <pc:sldMkLst>
          <pc:docMk/>
          <pc:sldMk cId="968378455" sldId="267"/>
        </pc:sldMkLst>
        <pc:picChg chg="add del">
          <ac:chgData name="Andrés Pablo FANTIN" userId="764826b2-ac4e-4fd7-bda5-68d0e7ba4060" providerId="ADAL" clId="{955200AB-5571-4391-89BE-10686F9C0B7F}" dt="2026-08-23T02:37:24.738" v="194" actId="478"/>
          <ac:picMkLst>
            <pc:docMk/>
            <pc:sldMk cId="968378455" sldId="267"/>
            <ac:picMk id="35" creationId="{DAB89EF5-01A6-CC38-C73E-69C815AEC135}"/>
          </ac:picMkLst>
        </pc:picChg>
        <pc:picChg chg="add del">
          <ac:chgData name="Andrés Pablo FANTIN" userId="764826b2-ac4e-4fd7-bda5-68d0e7ba4060" providerId="ADAL" clId="{955200AB-5571-4391-89BE-10686F9C0B7F}" dt="2026-08-23T02:37:43.471" v="196" actId="478"/>
          <ac:picMkLst>
            <pc:docMk/>
            <pc:sldMk cId="968378455" sldId="267"/>
            <ac:picMk id="37" creationId="{CB7AA3A3-8D3B-D384-47D9-168233E43494}"/>
          </ac:picMkLst>
        </pc:picChg>
        <pc:picChg chg="add del mod">
          <ac:chgData name="Andrés Pablo FANTIN" userId="764826b2-ac4e-4fd7-bda5-68d0e7ba4060" providerId="ADAL" clId="{955200AB-5571-4391-89BE-10686F9C0B7F}" dt="2026-08-23T02:47:38.569" v="306" actId="21"/>
          <ac:picMkLst>
            <pc:docMk/>
            <pc:sldMk cId="968378455" sldId="267"/>
            <ac:picMk id="39" creationId="{D84C1771-5F80-AEEB-B86C-5146872142E5}"/>
          </ac:picMkLst>
        </pc:picChg>
      </pc:sldChg>
      <pc:sldChg chg="modSp mod">
        <pc:chgData name="Andrés Pablo FANTIN" userId="764826b2-ac4e-4fd7-bda5-68d0e7ba4060" providerId="ADAL" clId="{955200AB-5571-4391-89BE-10686F9C0B7F}" dt="2026-08-23T02:48:00.943" v="324" actId="27636"/>
        <pc:sldMkLst>
          <pc:docMk/>
          <pc:sldMk cId="310099672" sldId="268"/>
        </pc:sldMkLst>
        <pc:spChg chg="mod">
          <ac:chgData name="Andrés Pablo FANTIN" userId="764826b2-ac4e-4fd7-bda5-68d0e7ba4060" providerId="ADAL" clId="{955200AB-5571-4391-89BE-10686F9C0B7F}" dt="2026-08-23T02:48:00.943" v="320" actId="27636"/>
          <ac:spMkLst>
            <pc:docMk/>
            <pc:sldMk cId="310099672" sldId="268"/>
            <ac:spMk id="10" creationId="{84D95DCB-4624-4C65-AED4-E8E5109A6C5D}"/>
          </ac:spMkLst>
        </pc:spChg>
        <pc:spChg chg="mod">
          <ac:chgData name="Andrés Pablo FANTIN" userId="764826b2-ac4e-4fd7-bda5-68d0e7ba4060" providerId="ADAL" clId="{955200AB-5571-4391-89BE-10686F9C0B7F}" dt="2026-08-23T02:39:59.198" v="215" actId="1036"/>
          <ac:spMkLst>
            <pc:docMk/>
            <pc:sldMk cId="310099672" sldId="268"/>
            <ac:spMk id="13" creationId="{2F7230F0-F624-489A-AD82-F00C809B47BE}"/>
          </ac:spMkLst>
        </pc:spChg>
        <pc:spChg chg="mod">
          <ac:chgData name="Andrés Pablo FANTIN" userId="764826b2-ac4e-4fd7-bda5-68d0e7ba4060" providerId="ADAL" clId="{955200AB-5571-4391-89BE-10686F9C0B7F}" dt="2026-08-23T02:39:59.198" v="215" actId="1036"/>
          <ac:spMkLst>
            <pc:docMk/>
            <pc:sldMk cId="310099672" sldId="268"/>
            <ac:spMk id="14" creationId="{E2F5AB8B-6919-4F9C-8594-9C9A36907F9C}"/>
          </ac:spMkLst>
        </pc:spChg>
        <pc:spChg chg="mod">
          <ac:chgData name="Andrés Pablo FANTIN" userId="764826b2-ac4e-4fd7-bda5-68d0e7ba4060" providerId="ADAL" clId="{955200AB-5571-4391-89BE-10686F9C0B7F}" dt="2026-08-23T02:39:59.198" v="215" actId="1036"/>
          <ac:spMkLst>
            <pc:docMk/>
            <pc:sldMk cId="310099672" sldId="268"/>
            <ac:spMk id="15" creationId="{6BD72E30-B334-45B0-8C20-88A8C0BEB72D}"/>
          </ac:spMkLst>
        </pc:spChg>
        <pc:spChg chg="mod">
          <ac:chgData name="Andrés Pablo FANTIN" userId="764826b2-ac4e-4fd7-bda5-68d0e7ba4060" providerId="ADAL" clId="{955200AB-5571-4391-89BE-10686F9C0B7F}" dt="2026-08-23T02:48:00.943" v="324" actId="27636"/>
          <ac:spMkLst>
            <pc:docMk/>
            <pc:sldMk cId="310099672" sldId="268"/>
            <ac:spMk id="19" creationId="{7A2A6FD3-A2B6-446E-992F-C049FA9E2406}"/>
          </ac:spMkLst>
        </pc:spChg>
        <pc:spChg chg="mod">
          <ac:chgData name="Andrés Pablo FANTIN" userId="764826b2-ac4e-4fd7-bda5-68d0e7ba4060" providerId="ADAL" clId="{955200AB-5571-4391-89BE-10686F9C0B7F}" dt="2026-08-23T02:48:00.943" v="321" actId="27636"/>
          <ac:spMkLst>
            <pc:docMk/>
            <pc:sldMk cId="310099672" sldId="268"/>
            <ac:spMk id="23" creationId="{FB8898C2-FAEE-4805-9949-6DE0724DBD32}"/>
          </ac:spMkLst>
        </pc:spChg>
        <pc:spChg chg="mod">
          <ac:chgData name="Andrés Pablo FANTIN" userId="764826b2-ac4e-4fd7-bda5-68d0e7ba4060" providerId="ADAL" clId="{955200AB-5571-4391-89BE-10686F9C0B7F}" dt="2026-08-23T02:48:00.943" v="322" actId="27636"/>
          <ac:spMkLst>
            <pc:docMk/>
            <pc:sldMk cId="310099672" sldId="268"/>
            <ac:spMk id="27" creationId="{26F6DC83-B1D3-432B-86FE-19E529060708}"/>
          </ac:spMkLst>
        </pc:spChg>
        <pc:spChg chg="mod">
          <ac:chgData name="Andrés Pablo FANTIN" userId="764826b2-ac4e-4fd7-bda5-68d0e7ba4060" providerId="ADAL" clId="{955200AB-5571-4391-89BE-10686F9C0B7F}" dt="2026-08-23T02:48:00.943" v="323" actId="27636"/>
          <ac:spMkLst>
            <pc:docMk/>
            <pc:sldMk cId="310099672" sldId="268"/>
            <ac:spMk id="31" creationId="{687FB3BB-F621-43A1-9C8F-2933E47FFBE7}"/>
          </ac:spMkLst>
        </pc:spChg>
      </pc:sldChg>
      <pc:sldChg chg="addSp modSp modAnim modNotesTx">
        <pc:chgData name="Andrés Pablo FANTIN" userId="764826b2-ac4e-4fd7-bda5-68d0e7ba4060" providerId="ADAL" clId="{955200AB-5571-4391-89BE-10686F9C0B7F}" dt="2026-08-23T02:48:14.217" v="326" actId="20577"/>
        <pc:sldMkLst>
          <pc:docMk/>
          <pc:sldMk cId="968378455" sldId="269"/>
        </pc:sldMkLst>
        <pc:picChg chg="add mod">
          <ac:chgData name="Andrés Pablo FANTIN" userId="764826b2-ac4e-4fd7-bda5-68d0e7ba4060" providerId="ADAL" clId="{955200AB-5571-4391-89BE-10686F9C0B7F}" dt="2026-08-23T02:48:00.212" v="307"/>
          <ac:picMkLst>
            <pc:docMk/>
            <pc:sldMk cId="968378455" sldId="269"/>
            <ac:picMk id="39" creationId="{D84C1771-5F80-AEEB-B86C-5146872142E5}"/>
          </ac:picMkLst>
        </pc:picChg>
      </pc:sldChg>
      <pc:sldChg chg="modSp mod modNotesTx">
        <pc:chgData name="Andrés Pablo FANTIN" userId="764826b2-ac4e-4fd7-bda5-68d0e7ba4060" providerId="ADAL" clId="{955200AB-5571-4391-89BE-10686F9C0B7F}" dt="2026-08-23T02:52:25.560" v="375" actId="20577"/>
        <pc:sldMkLst>
          <pc:docMk/>
          <pc:sldMk cId="968378455" sldId="271"/>
        </pc:sldMkLst>
        <pc:spChg chg="mod">
          <ac:chgData name="Andrés Pablo FANTIN" userId="764826b2-ac4e-4fd7-bda5-68d0e7ba4060" providerId="ADAL" clId="{955200AB-5571-4391-89BE-10686F9C0B7F}" dt="2026-08-23T02:51:59.710" v="373" actId="20577"/>
          <ac:spMkLst>
            <pc:docMk/>
            <pc:sldMk cId="968378455" sldId="271"/>
            <ac:spMk id="16" creationId="{1F68C214-B521-4066-9D3A-42A47BEA2852}"/>
          </ac:spMkLst>
        </pc:spChg>
        <pc:spChg chg="mod">
          <ac:chgData name="Andrés Pablo FANTIN" userId="764826b2-ac4e-4fd7-bda5-68d0e7ba4060" providerId="ADAL" clId="{955200AB-5571-4391-89BE-10686F9C0B7F}" dt="2026-08-23T02:50:51.284" v="362" actId="20577"/>
          <ac:spMkLst>
            <pc:docMk/>
            <pc:sldMk cId="968378455" sldId="271"/>
            <ac:spMk id="28" creationId="{39EAD97E-ACE2-4547-A6C7-EC305192AC81}"/>
          </ac:spMkLst>
        </pc:spChg>
      </pc:sldChg>
      <pc:sldChg chg="modSp mod">
        <pc:chgData name="Andrés Pablo FANTIN" userId="764826b2-ac4e-4fd7-bda5-68d0e7ba4060" providerId="ADAL" clId="{955200AB-5571-4391-89BE-10686F9C0B7F}" dt="2026-08-23T02:55:05.340" v="412" actId="20577"/>
        <pc:sldMkLst>
          <pc:docMk/>
          <pc:sldMk cId="968378455" sldId="272"/>
        </pc:sldMkLst>
        <pc:spChg chg="mod">
          <ac:chgData name="Andrés Pablo FANTIN" userId="764826b2-ac4e-4fd7-bda5-68d0e7ba4060" providerId="ADAL" clId="{955200AB-5571-4391-89BE-10686F9C0B7F}" dt="2026-08-23T02:54:32.419" v="401" actId="20577"/>
          <ac:spMkLst>
            <pc:docMk/>
            <pc:sldMk cId="968378455" sldId="272"/>
            <ac:spMk id="10" creationId="{BDFECAF7-7624-4B06-8A6D-78057E0F3E84}"/>
          </ac:spMkLst>
        </pc:spChg>
        <pc:spChg chg="mod">
          <ac:chgData name="Andrés Pablo FANTIN" userId="764826b2-ac4e-4fd7-bda5-68d0e7ba4060" providerId="ADAL" clId="{955200AB-5571-4391-89BE-10686F9C0B7F}" dt="2026-08-23T02:55:05.340" v="412" actId="20577"/>
          <ac:spMkLst>
            <pc:docMk/>
            <pc:sldMk cId="968378455" sldId="272"/>
            <ac:spMk id="28" creationId="{39EAD97E-ACE2-4547-A6C7-EC305192AC81}"/>
          </ac:spMkLst>
        </pc:spChg>
      </pc:sldChg>
      <pc:sldChg chg="addSp modSp mod modAnim">
        <pc:chgData name="Andrés Pablo FANTIN" userId="764826b2-ac4e-4fd7-bda5-68d0e7ba4060" providerId="ADAL" clId="{955200AB-5571-4391-89BE-10686F9C0B7F}" dt="2026-08-23T03:09:28.704" v="570" actId="20577"/>
        <pc:sldMkLst>
          <pc:docMk/>
          <pc:sldMk cId="968378455" sldId="274"/>
        </pc:sldMkLst>
        <pc:spChg chg="mod">
          <ac:chgData name="Andrés Pablo FANTIN" userId="764826b2-ac4e-4fd7-bda5-68d0e7ba4060" providerId="ADAL" clId="{955200AB-5571-4391-89BE-10686F9C0B7F}" dt="2026-08-23T03:09:28.704" v="570" actId="20577"/>
          <ac:spMkLst>
            <pc:docMk/>
            <pc:sldMk cId="968378455" sldId="274"/>
            <ac:spMk id="10" creationId="{BDFECAF7-7624-4B06-8A6D-78057E0F3E84}"/>
          </ac:spMkLst>
        </pc:spChg>
        <pc:spChg chg="add mod">
          <ac:chgData name="Andrés Pablo FANTIN" userId="764826b2-ac4e-4fd7-bda5-68d0e7ba4060" providerId="ADAL" clId="{955200AB-5571-4391-89BE-10686F9C0B7F}" dt="2026-08-23T02:57:01.310" v="423" actId="5793"/>
          <ac:spMkLst>
            <pc:docMk/>
            <pc:sldMk cId="968378455" sldId="274"/>
            <ac:spMk id="35" creationId="{E59E12EB-8932-936A-6487-99C15CB8C366}"/>
          </ac:spMkLst>
        </pc:spChg>
      </pc:sldChg>
      <pc:sldChg chg="modSp mod">
        <pc:chgData name="Andrés Pablo FANTIN" userId="764826b2-ac4e-4fd7-bda5-68d0e7ba4060" providerId="ADAL" clId="{955200AB-5571-4391-89BE-10686F9C0B7F}" dt="2026-08-23T03:03:04.361" v="440" actId="20577"/>
        <pc:sldMkLst>
          <pc:docMk/>
          <pc:sldMk cId="968378455" sldId="276"/>
        </pc:sldMkLst>
        <pc:spChg chg="mod">
          <ac:chgData name="Andrés Pablo FANTIN" userId="764826b2-ac4e-4fd7-bda5-68d0e7ba4060" providerId="ADAL" clId="{955200AB-5571-4391-89BE-10686F9C0B7F}" dt="2026-08-23T03:03:04.361" v="440" actId="20577"/>
          <ac:spMkLst>
            <pc:docMk/>
            <pc:sldMk cId="968378455" sldId="276"/>
            <ac:spMk id="16" creationId="{1F68C214-B521-4066-9D3A-42A47BEA2852}"/>
          </ac:spMkLst>
        </pc:spChg>
      </pc:sldChg>
      <pc:sldChg chg="modSp mod">
        <pc:chgData name="Andrés Pablo FANTIN" userId="764826b2-ac4e-4fd7-bda5-68d0e7ba4060" providerId="ADAL" clId="{955200AB-5571-4391-89BE-10686F9C0B7F}" dt="2026-08-23T02:48:00.396" v="309" actId="27636"/>
        <pc:sldMkLst>
          <pc:docMk/>
          <pc:sldMk cId="968378455" sldId="279"/>
        </pc:sldMkLst>
        <pc:spChg chg="mod">
          <ac:chgData name="Andrés Pablo FANTIN" userId="764826b2-ac4e-4fd7-bda5-68d0e7ba4060" providerId="ADAL" clId="{955200AB-5571-4391-89BE-10686F9C0B7F}" dt="2026-08-23T02:48:00.396" v="309" actId="27636"/>
          <ac:spMkLst>
            <pc:docMk/>
            <pc:sldMk cId="968378455" sldId="279"/>
            <ac:spMk id="10" creationId="{BDFECAF7-7624-4B06-8A6D-78057E0F3E84}"/>
          </ac:spMkLst>
        </pc:spChg>
      </pc:sldChg>
      <pc:sldChg chg="modSp mod">
        <pc:chgData name="Andrés Pablo FANTIN" userId="764826b2-ac4e-4fd7-bda5-68d0e7ba4060" providerId="ADAL" clId="{955200AB-5571-4391-89BE-10686F9C0B7F}" dt="2026-08-23T03:07:15.245" v="457" actId="313"/>
        <pc:sldMkLst>
          <pc:docMk/>
          <pc:sldMk cId="968378455" sldId="281"/>
        </pc:sldMkLst>
        <pc:spChg chg="mod">
          <ac:chgData name="Andrés Pablo FANTIN" userId="764826b2-ac4e-4fd7-bda5-68d0e7ba4060" providerId="ADAL" clId="{955200AB-5571-4391-89BE-10686F9C0B7F}" dt="2026-08-23T03:07:15.245" v="457" actId="313"/>
          <ac:spMkLst>
            <pc:docMk/>
            <pc:sldMk cId="968378455" sldId="281"/>
            <ac:spMk id="10" creationId="{BDFECAF7-7624-4B06-8A6D-78057E0F3E84}"/>
          </ac:spMkLst>
        </pc:spChg>
      </pc:sldChg>
      <pc:sldChg chg="modSp mod modNotesTx">
        <pc:chgData name="Andrés Pablo FANTIN" userId="764826b2-ac4e-4fd7-bda5-68d0e7ba4060" providerId="ADAL" clId="{955200AB-5571-4391-89BE-10686F9C0B7F}" dt="2026-08-23T02:48:00.496" v="310" actId="27636"/>
        <pc:sldMkLst>
          <pc:docMk/>
          <pc:sldMk cId="968378455" sldId="282"/>
        </pc:sldMkLst>
        <pc:spChg chg="mod">
          <ac:chgData name="Andrés Pablo FANTIN" userId="764826b2-ac4e-4fd7-bda5-68d0e7ba4060" providerId="ADAL" clId="{955200AB-5571-4391-89BE-10686F9C0B7F}" dt="2026-08-23T02:48:00.496" v="310" actId="27636"/>
          <ac:spMkLst>
            <pc:docMk/>
            <pc:sldMk cId="968378455" sldId="282"/>
            <ac:spMk id="10" creationId="{BDFECAF7-7624-4B06-8A6D-78057E0F3E84}"/>
          </ac:spMkLst>
        </pc:spChg>
      </pc:sldChg>
      <pc:sldChg chg="modSp mod">
        <pc:chgData name="Andrés Pablo FANTIN" userId="764826b2-ac4e-4fd7-bda5-68d0e7ba4060" providerId="ADAL" clId="{955200AB-5571-4391-89BE-10686F9C0B7F}" dt="2026-08-23T03:10:46.539" v="612" actId="20577"/>
        <pc:sldMkLst>
          <pc:docMk/>
          <pc:sldMk cId="968378455" sldId="283"/>
        </pc:sldMkLst>
        <pc:spChg chg="mod">
          <ac:chgData name="Andrés Pablo FANTIN" userId="764826b2-ac4e-4fd7-bda5-68d0e7ba4060" providerId="ADAL" clId="{955200AB-5571-4391-89BE-10686F9C0B7F}" dt="2026-08-23T03:10:46.539" v="612" actId="20577"/>
          <ac:spMkLst>
            <pc:docMk/>
            <pc:sldMk cId="968378455" sldId="283"/>
            <ac:spMk id="10" creationId="{BDFECAF7-7624-4B06-8A6D-78057E0F3E84}"/>
          </ac:spMkLst>
        </pc:spChg>
      </pc:sldChg>
      <pc:sldChg chg="modSp mod">
        <pc:chgData name="Andrés Pablo FANTIN" userId="764826b2-ac4e-4fd7-bda5-68d0e7ba4060" providerId="ADAL" clId="{955200AB-5571-4391-89BE-10686F9C0B7F}" dt="2026-08-23T02:48:00.532" v="311" actId="27636"/>
        <pc:sldMkLst>
          <pc:docMk/>
          <pc:sldMk cId="968378455" sldId="286"/>
        </pc:sldMkLst>
        <pc:spChg chg="mod">
          <ac:chgData name="Andrés Pablo FANTIN" userId="764826b2-ac4e-4fd7-bda5-68d0e7ba4060" providerId="ADAL" clId="{955200AB-5571-4391-89BE-10686F9C0B7F}" dt="2026-08-23T02:48:00.532" v="311" actId="27636"/>
          <ac:spMkLst>
            <pc:docMk/>
            <pc:sldMk cId="968378455" sldId="286"/>
            <ac:spMk id="10" creationId="{BDFECAF7-7624-4B06-8A6D-78057E0F3E84}"/>
          </ac:spMkLst>
        </pc:spChg>
      </pc:sldChg>
      <pc:sldChg chg="addSp delSp modSp mod modAnim">
        <pc:chgData name="Andrés Pablo FANTIN" userId="764826b2-ac4e-4fd7-bda5-68d0e7ba4060" providerId="ADAL" clId="{955200AB-5571-4391-89BE-10686F9C0B7F}" dt="2026-08-22T20:32:09.935" v="67" actId="1076"/>
        <pc:sldMkLst>
          <pc:docMk/>
          <pc:sldMk cId="1562856934" sldId="288"/>
        </pc:sldMkLst>
        <pc:spChg chg="add del">
          <ac:chgData name="Andrés Pablo FANTIN" userId="764826b2-ac4e-4fd7-bda5-68d0e7ba4060" providerId="ADAL" clId="{955200AB-5571-4391-89BE-10686F9C0B7F}" dt="2026-08-22T20:27:03.628" v="35" actId="22"/>
          <ac:spMkLst>
            <pc:docMk/>
            <pc:sldMk cId="1562856934" sldId="288"/>
            <ac:spMk id="20" creationId="{D08524EC-0713-A0D4-78DA-B02652BE5546}"/>
          </ac:spMkLst>
        </pc:spChg>
        <pc:picChg chg="add mod">
          <ac:chgData name="Andrés Pablo FANTIN" userId="764826b2-ac4e-4fd7-bda5-68d0e7ba4060" providerId="ADAL" clId="{955200AB-5571-4391-89BE-10686F9C0B7F}" dt="2026-08-22T20:28:21.791" v="45" actId="14100"/>
          <ac:picMkLst>
            <pc:docMk/>
            <pc:sldMk cId="1562856934" sldId="288"/>
            <ac:picMk id="21" creationId="{236668C6-9E92-64C7-E6CA-111A2853451D}"/>
          </ac:picMkLst>
        </pc:picChg>
        <pc:picChg chg="add del mod">
          <ac:chgData name="Andrés Pablo FANTIN" userId="764826b2-ac4e-4fd7-bda5-68d0e7ba4060" providerId="ADAL" clId="{955200AB-5571-4391-89BE-10686F9C0B7F}" dt="2026-08-22T20:28:15.978" v="43" actId="478"/>
          <ac:picMkLst>
            <pc:docMk/>
            <pc:sldMk cId="1562856934" sldId="288"/>
            <ac:picMk id="22" creationId="{32A241BE-D04F-5EB9-B676-38A6CF0C3275}"/>
          </ac:picMkLst>
        </pc:picChg>
        <pc:picChg chg="add mod">
          <ac:chgData name="Andrés Pablo FANTIN" userId="764826b2-ac4e-4fd7-bda5-68d0e7ba4060" providerId="ADAL" clId="{955200AB-5571-4391-89BE-10686F9C0B7F}" dt="2026-08-22T20:29:19.109" v="49" actId="14100"/>
          <ac:picMkLst>
            <pc:docMk/>
            <pc:sldMk cId="1562856934" sldId="288"/>
            <ac:picMk id="23" creationId="{67D3F75B-5035-454F-293F-A59DBBB0FD7F}"/>
          </ac:picMkLst>
        </pc:picChg>
        <pc:picChg chg="add mod">
          <ac:chgData name="Andrés Pablo FANTIN" userId="764826b2-ac4e-4fd7-bda5-68d0e7ba4060" providerId="ADAL" clId="{955200AB-5571-4391-89BE-10686F9C0B7F}" dt="2026-08-22T20:30:38.284" v="54" actId="14100"/>
          <ac:picMkLst>
            <pc:docMk/>
            <pc:sldMk cId="1562856934" sldId="288"/>
            <ac:picMk id="24" creationId="{3CF7386B-2A66-E7E9-FB1E-613B92E8BC92}"/>
          </ac:picMkLst>
        </pc:picChg>
        <pc:picChg chg="add mod">
          <ac:chgData name="Andrés Pablo FANTIN" userId="764826b2-ac4e-4fd7-bda5-68d0e7ba4060" providerId="ADAL" clId="{955200AB-5571-4391-89BE-10686F9C0B7F}" dt="2026-08-22T20:32:09.935" v="67" actId="1076"/>
          <ac:picMkLst>
            <pc:docMk/>
            <pc:sldMk cId="1562856934" sldId="288"/>
            <ac:picMk id="25" creationId="{A787BA81-532A-E2E6-AAB1-4ED1FCE6DD07}"/>
          </ac:picMkLst>
        </pc:picChg>
      </pc:sldChg>
      <pc:sldChg chg="modSp mod">
        <pc:chgData name="Andrés Pablo FANTIN" userId="764826b2-ac4e-4fd7-bda5-68d0e7ba4060" providerId="ADAL" clId="{955200AB-5571-4391-89BE-10686F9C0B7F}" dt="2026-08-23T02:48:00.644" v="312" actId="27636"/>
        <pc:sldMkLst>
          <pc:docMk/>
          <pc:sldMk cId="968378455" sldId="291"/>
        </pc:sldMkLst>
        <pc:spChg chg="mod">
          <ac:chgData name="Andrés Pablo FANTIN" userId="764826b2-ac4e-4fd7-bda5-68d0e7ba4060" providerId="ADAL" clId="{955200AB-5571-4391-89BE-10686F9C0B7F}" dt="2026-08-23T02:48:00.644" v="312" actId="27636"/>
          <ac:spMkLst>
            <pc:docMk/>
            <pc:sldMk cId="968378455" sldId="291"/>
            <ac:spMk id="10" creationId="{BDFECAF7-7624-4B06-8A6D-78057E0F3E84}"/>
          </ac:spMkLst>
        </pc:spChg>
      </pc:sldChg>
      <pc:sldChg chg="modSp mod">
        <pc:chgData name="Andrés Pablo FANTIN" userId="764826b2-ac4e-4fd7-bda5-68d0e7ba4060" providerId="ADAL" clId="{955200AB-5571-4391-89BE-10686F9C0B7F}" dt="2026-08-23T19:30:34.962" v="621" actId="20577"/>
        <pc:sldMkLst>
          <pc:docMk/>
          <pc:sldMk cId="1266273655" sldId="292"/>
        </pc:sldMkLst>
        <pc:spChg chg="mod">
          <ac:chgData name="Andrés Pablo FANTIN" userId="764826b2-ac4e-4fd7-bda5-68d0e7ba4060" providerId="ADAL" clId="{955200AB-5571-4391-89BE-10686F9C0B7F}" dt="2026-08-23T02:48:00.773" v="316" actId="27636"/>
          <ac:spMkLst>
            <pc:docMk/>
            <pc:sldMk cId="1266273655" sldId="292"/>
            <ac:spMk id="10" creationId="{81671ABD-48EF-408D-8FF6-693F511B0897}"/>
          </ac:spMkLst>
        </pc:spChg>
        <pc:spChg chg="mod">
          <ac:chgData name="Andrés Pablo FANTIN" userId="764826b2-ac4e-4fd7-bda5-68d0e7ba4060" providerId="ADAL" clId="{955200AB-5571-4391-89BE-10686F9C0B7F}" dt="2026-08-23T02:48:00.766" v="313" actId="27636"/>
          <ac:spMkLst>
            <pc:docMk/>
            <pc:sldMk cId="1266273655" sldId="292"/>
            <ac:spMk id="16" creationId="{55DB74F9-1EEA-49D6-95B8-CF5F7BB3D0EA}"/>
          </ac:spMkLst>
        </pc:spChg>
        <pc:spChg chg="mod">
          <ac:chgData name="Andrés Pablo FANTIN" userId="764826b2-ac4e-4fd7-bda5-68d0e7ba4060" providerId="ADAL" clId="{955200AB-5571-4391-89BE-10686F9C0B7F}" dt="2026-08-23T19:30:34.962" v="621" actId="20577"/>
          <ac:spMkLst>
            <pc:docMk/>
            <pc:sldMk cId="1266273655" sldId="292"/>
            <ac:spMk id="18" creationId="{72EE3412-64C0-4F6E-819F-EE0037424C3B}"/>
          </ac:spMkLst>
        </pc:spChg>
        <pc:spChg chg="mod">
          <ac:chgData name="Andrés Pablo FANTIN" userId="764826b2-ac4e-4fd7-bda5-68d0e7ba4060" providerId="ADAL" clId="{955200AB-5571-4391-89BE-10686F9C0B7F}" dt="2026-08-23T02:48:00.773" v="315" actId="27636"/>
          <ac:spMkLst>
            <pc:docMk/>
            <pc:sldMk cId="1266273655" sldId="292"/>
            <ac:spMk id="22" creationId="{47998F5D-0E17-4C43-B9F3-00E773C50045}"/>
          </ac:spMkLst>
        </pc:spChg>
        <pc:spChg chg="mod">
          <ac:chgData name="Andrés Pablo FANTIN" userId="764826b2-ac4e-4fd7-bda5-68d0e7ba4060" providerId="ADAL" clId="{955200AB-5571-4391-89BE-10686F9C0B7F}" dt="2026-08-23T02:48:00.766" v="314" actId="27636"/>
          <ac:spMkLst>
            <pc:docMk/>
            <pc:sldMk cId="1266273655" sldId="292"/>
            <ac:spMk id="34" creationId="{392406F1-46FB-40F5-BB2E-8EB04DEF4BB7}"/>
          </ac:spMkLst>
        </pc:spChg>
        <pc:spChg chg="mod">
          <ac:chgData name="Andrés Pablo FANTIN" userId="764826b2-ac4e-4fd7-bda5-68d0e7ba4060" providerId="ADAL" clId="{955200AB-5571-4391-89BE-10686F9C0B7F}" dt="2026-08-22T20:34:26.740" v="76" actId="1035"/>
          <ac:spMkLst>
            <pc:docMk/>
            <pc:sldMk cId="1266273655" sldId="292"/>
            <ac:spMk id="40" creationId="{AFECFC72-B476-4B85-B9F4-3537A57531E6}"/>
          </ac:spMkLst>
        </pc:spChg>
      </pc:sldChg>
      <pc:sldChg chg="modSp mod">
        <pc:chgData name="Andrés Pablo FANTIN" userId="764826b2-ac4e-4fd7-bda5-68d0e7ba4060" providerId="ADAL" clId="{955200AB-5571-4391-89BE-10686F9C0B7F}" dt="2026-08-23T19:31:58.822" v="653" actId="20577"/>
        <pc:sldMkLst>
          <pc:docMk/>
          <pc:sldMk cId="1789452892" sldId="293"/>
        </pc:sldMkLst>
        <pc:spChg chg="mod">
          <ac:chgData name="Andrés Pablo FANTIN" userId="764826b2-ac4e-4fd7-bda5-68d0e7ba4060" providerId="ADAL" clId="{955200AB-5571-4391-89BE-10686F9C0B7F}" dt="2026-08-23T19:31:58.822" v="653" actId="20577"/>
          <ac:spMkLst>
            <pc:docMk/>
            <pc:sldMk cId="1789452892" sldId="293"/>
            <ac:spMk id="12" creationId="{9DAA431F-DF2C-4FB4-849D-01A1994EEF5B}"/>
          </ac:spMkLst>
        </pc:spChg>
      </pc:sldChg>
      <pc:sldChg chg="modSp mod ord">
        <pc:chgData name="Andrés Pablo FANTIN" userId="764826b2-ac4e-4fd7-bda5-68d0e7ba4060" providerId="ADAL" clId="{955200AB-5571-4391-89BE-10686F9C0B7F}" dt="2026-08-23T19:34:08.923" v="671"/>
        <pc:sldMkLst>
          <pc:docMk/>
          <pc:sldMk cId="310099672" sldId="294"/>
        </pc:sldMkLst>
        <pc:spChg chg="mod">
          <ac:chgData name="Andrés Pablo FANTIN" userId="764826b2-ac4e-4fd7-bda5-68d0e7ba4060" providerId="ADAL" clId="{955200AB-5571-4391-89BE-10686F9C0B7F}" dt="2026-08-23T19:33:38.148" v="669" actId="1036"/>
          <ac:spMkLst>
            <pc:docMk/>
            <pc:sldMk cId="310099672" sldId="294"/>
            <ac:spMk id="13" creationId="{2F7230F0-F624-489A-AD82-F00C809B47BE}"/>
          </ac:spMkLst>
        </pc:spChg>
        <pc:spChg chg="mod">
          <ac:chgData name="Andrés Pablo FANTIN" userId="764826b2-ac4e-4fd7-bda5-68d0e7ba4060" providerId="ADAL" clId="{955200AB-5571-4391-89BE-10686F9C0B7F}" dt="2026-08-23T19:33:38.148" v="669" actId="1036"/>
          <ac:spMkLst>
            <pc:docMk/>
            <pc:sldMk cId="310099672" sldId="294"/>
            <ac:spMk id="14" creationId="{E2F5AB8B-6919-4F9C-8594-9C9A36907F9C}"/>
          </ac:spMkLst>
        </pc:spChg>
        <pc:spChg chg="mod">
          <ac:chgData name="Andrés Pablo FANTIN" userId="764826b2-ac4e-4fd7-bda5-68d0e7ba4060" providerId="ADAL" clId="{955200AB-5571-4391-89BE-10686F9C0B7F}" dt="2026-08-23T19:33:38.148" v="669" actId="1036"/>
          <ac:spMkLst>
            <pc:docMk/>
            <pc:sldMk cId="310099672" sldId="294"/>
            <ac:spMk id="15" creationId="{6BD72E30-B334-45B0-8C20-88A8C0BEB72D}"/>
          </ac:spMkLst>
        </pc:spChg>
      </pc:sldChg>
      <pc:sldChg chg="modSp mod">
        <pc:chgData name="Andrés Pablo FANTIN" userId="764826b2-ac4e-4fd7-bda5-68d0e7ba4060" providerId="ADAL" clId="{955200AB-5571-4391-89BE-10686F9C0B7F}" dt="2026-08-23T19:34:27.595" v="676" actId="20577"/>
        <pc:sldMkLst>
          <pc:docMk/>
          <pc:sldMk cId="1090044128" sldId="295"/>
        </pc:sldMkLst>
        <pc:spChg chg="mod">
          <ac:chgData name="Andrés Pablo FANTIN" userId="764826b2-ac4e-4fd7-bda5-68d0e7ba4060" providerId="ADAL" clId="{955200AB-5571-4391-89BE-10686F9C0B7F}" dt="2026-08-23T19:34:27.595" v="676" actId="20577"/>
          <ac:spMkLst>
            <pc:docMk/>
            <pc:sldMk cId="1090044128" sldId="295"/>
            <ac:spMk id="17" creationId="{72324224-901E-4896-89C9-B78797F27F97}"/>
          </ac:spMkLst>
        </pc:spChg>
      </pc:sldChg>
      <pc:sldChg chg="ord">
        <pc:chgData name="Andrés Pablo FANTIN" userId="764826b2-ac4e-4fd7-bda5-68d0e7ba4060" providerId="ADAL" clId="{955200AB-5571-4391-89BE-10686F9C0B7F}" dt="2026-08-23T19:35:41.657" v="678"/>
        <pc:sldMkLst>
          <pc:docMk/>
          <pc:sldMk cId="509268444" sldId="29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Apertura sugerida: presentar la pregunta central de la clase: ¿cómo pasar de un modelo lógico correcto a una implementación física que siga funcionando cuando crecen los datos y la concurrencia?</a:t>
            </a:r>
          </a:p>
          <a:p>
            <a:endParaRPr/>
          </a:p>
          <a:p>
            <a:r>
              <a:t>Anticipar que la respuesta no será “crear índices”, sino diseñar a partir de la carga, observar el plan y medir el resultado.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Qué enfatizar: el objetivo no es memorizar estructuras. La meta es poder conectar carga de trabajo → decisión física → evidencia en el plan → medición.</a:t>
            </a:r>
          </a:p>
          <a:p>
            <a:endParaRPr/>
          </a:p>
          <a:p>
            <a:r>
              <a:t>Pregunta al curso: “¿Qué evidencia necesitarían para defender que un índice realmente mejora el sistema?”</a:t>
            </a:r>
          </a:p>
          <a:p>
            <a:endParaRPr/>
          </a:p>
          <a:p>
            <a:r>
              <a:t>Transición: usar las respuestas para introducir la necesidad de medir antes y después.</a:t>
            </a:r>
          </a:p>
          <a:p>
            <a:endParaRPr/>
          </a:p>
          <a:p>
            <a:r>
              <a:t>[Sources]</a:t>
            </a:r>
          </a:p>
          <a:p>
            <a:r>
              <a:t>- U2-1-Guia_JTP_Detectives_Plan_MySQL_PostgreSQL.pdf</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Dinámica sugerida: dar uno o dos minutos para formular hipótesis sin resolver todavía el caso.</a:t>
            </a:r>
          </a:p>
          <a:p>
            <a:endParaRPr/>
          </a:p>
          <a:p>
            <a:r>
              <a:t>Recuperar cuatro variables en el pizarrón: volumen, patrón de acceso, frecuencia/criticidad y costo de escritura.</a:t>
            </a:r>
          </a:p>
          <a:p>
            <a:endParaRPr/>
          </a:p>
          <a:p>
            <a:r>
              <a:t>Cierre de la conversación: una consulta que hoy tarda poco puede estar haciendo demasiado trabajo y dejar de escalar.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Usar este mapa como contrato de recorrido. La primera mitad construye criterios de diseño; la segunda enseña a leer evidencia y termina en dos prácticas.</a:t>
            </a:r>
          </a:p>
          <a:p>
            <a:endParaRPr/>
          </a:p>
          <a:p>
            <a:r>
              <a:t>Aclarar la diferencia: la Actividad 1 prioriza diagnóstico y argumentación; la Actividad 2 agrega experimentación comparativa y medición reproducible.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Presentar esta diapositiva como mapa de decisiones, sin desarrollar todavía cada punto. Pregunta sugerida: ¿cuál de estas decisiones puede mejorar lecturas y al mismo tiempo encarecer escrituras? Reforzar que índices y particiones son dos herramientas dentro de un sistema más amplio.</a:t>
            </a:r>
          </a:p>
          <a:p>
            <a:endParaRPr/>
          </a:p>
          <a:p>
            <a:r>
              <a:t>[Sources]</a:t>
            </a:r>
          </a:p>
          <a:p>
            <a:r>
              <a:t>- https://www.postgresql.org/docs/current/storage.html</a:t>
            </a:r>
          </a:p>
          <a:p>
            <a:r>
              <a:t>- https://dev.mysql.com/doc/refman/9.7/en/innodb-index-types.html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Desarrollo sugerido: leer primero la consulta y preguntar qué trabajo debe realizar el motor, no cuánto tarda en una única ejecución.</a:t>
            </a:r>
          </a:p>
          <a:p>
            <a:endParaRPr/>
          </a:p>
          <a:p>
            <a:r>
              <a:t>Señalar que “funciona” describe corrección lógica; “escala” exige considerar filas examinadas, páginas leídas, ordenamientos, concurrencia y crecimiento.</a:t>
            </a:r>
          </a:p>
          <a:p>
            <a:endParaRPr/>
          </a:p>
          <a:p>
            <a:r>
              <a:t>Pregunta: “¿Qué dato falta antes de proponer un índice?” Esperar respuestas sobre distribución, frecuencia y escrituras.</a:t>
            </a:r>
          </a:p>
          <a:p>
            <a:endParaRPr/>
          </a:p>
          <a:p>
            <a:r>
              <a:t>[Sources]</a:t>
            </a:r>
          </a:p>
          <a:p>
            <a:r>
              <a:t>- U2-1-Guia_JTP_Detectives_Plan_MySQL_PostgreSQL.pdf</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Qué enfatizar: la unidad de diseño no es una consulta aislada, sino la carga de trabajo.</a:t>
            </a:r>
          </a:p>
          <a:p>
            <a:endParaRPr/>
          </a:p>
          <a:p>
            <a:r>
              <a:t>Ejemplo: una búsqueda por identificador en una pantalla interactiva y un reporte mensual sobre la misma tabla pueden justificar decisiones distintas.</a:t>
            </a:r>
          </a:p>
          <a:p>
            <a:endParaRPr/>
          </a:p>
          <a:p>
            <a:r>
              <a:t>Pregunta: “¿Qué ocurre si optimizamos solo el reporte y degradamos el alta transaccional?”</a:t>
            </a:r>
          </a:p>
          <a:p>
            <a:endParaRPr/>
          </a:p>
          <a:p>
            <a:r>
              <a:t>[Sources]</a:t>
            </a:r>
          </a:p>
          <a:p>
            <a:r>
              <a:t>- U2-1-Guia_JTP_Detectives_Plan_MySQL_PostgreSQL.pdf</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 diseñar solo para el tamaño actual. Pedir estimaciones de crecimiento, retención, estacionalidad y distribución.</a:t>
            </a:r>
          </a:p>
          <a:p>
            <a:endParaRPr/>
          </a:p>
          <a:p>
            <a:r>
              <a:t>Ejemplo: diez millones de filas uniformes no se comportan igual que diez millones concentradas en el último mes o en pocos clientes.</a:t>
            </a:r>
          </a:p>
          <a:p>
            <a:endParaRPr/>
          </a:p>
          <a:p>
            <a:r>
              <a:t>Conectar con particionamiento: el histórico y los datos “calientes” pueden requerir estrategias diferentes.</a:t>
            </a:r>
          </a:p>
          <a:p>
            <a:endParaRPr/>
          </a:p>
          <a:p>
            <a:r>
              <a:t>[Sources]</a:t>
            </a:r>
          </a:p>
          <a:p>
            <a:r>
              <a:t>- U2-1-Guia_JTP_Detectives_Plan_MySQL_PostgreSQL.pdf</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Distinguir frecuencia, criticidad y concurrencia. Una consulta nocturna lenta puede ser tolerable; una consulta moderada ejecutada miles de veces por hora puede dominar el costo total.</a:t>
            </a:r>
          </a:p>
          <a:p>
            <a:endParaRPr/>
          </a:p>
          <a:p>
            <a:r>
              <a:t>Pregunta: “¿Qué priorizarían: una mejora de 5 segundos una vez al día o de 50 ms en cada login?” La respuesta depende del volumen y del objetivo de servicio.</a:t>
            </a:r>
          </a:p>
          <a:p>
            <a:endParaRPr/>
          </a:p>
          <a:p>
            <a:r>
              <a:t>[Sources]</a:t>
            </a:r>
          </a:p>
          <a:p>
            <a:r>
              <a:t>- U2-1-Guia_JTP_Detectives_Plan_MySQL_PostgreSQL.pdf</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Usar esta diapositiva para instalar el intercambio central: mejorar lecturas casi siempre agrega espacio, mantenimiento y trabajo de escritura.</a:t>
            </a:r>
          </a:p>
          <a:p>
            <a:endParaRPr/>
          </a:p>
          <a:p>
            <a:r>
              <a:t>Ejemplo: cada INSERT debe actualizar la tabla y todos los índices afectados; un UPDATE de una columna indexada también modifica esa estructura.</a:t>
            </a:r>
          </a:p>
          <a:p>
            <a:endParaRPr/>
          </a:p>
          <a:p>
            <a:r>
              <a:t>Pregunta: “¿En qué carga conviene aceptar más costo de escritura?”</a:t>
            </a:r>
          </a:p>
          <a:p>
            <a:endParaRPr/>
          </a:p>
          <a:p>
            <a:r>
              <a:t>[Sources]</a:t>
            </a:r>
          </a:p>
          <a:p>
            <a:r>
              <a:t>- U2-1-Guia_JTP_Detectives_Plan_MySQL_PostgreSQL.pdf</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Completar oralmente una fila de la matriz: operación, filtros, joins, orden, frecuencia, filas esperadas y objetivo de tiempo.</a:t>
            </a:r>
          </a:p>
          <a:p>
            <a:endParaRPr/>
          </a:p>
          <a:p>
            <a:r>
              <a:t>Sugerencia docente: pedir que cada decisión de índice o partición pueda rastrearse hasta una fila de esta matriz.</a:t>
            </a:r>
          </a:p>
          <a:p>
            <a:endParaRPr/>
          </a:p>
          <a:p>
            <a:r>
              <a:t>Si falta frecuencia o distribución, marcarlo como dato a medir, no como supuesto silencioso.</a:t>
            </a:r>
          </a:p>
          <a:p>
            <a:endParaRPr/>
          </a:p>
          <a:p>
            <a:r>
              <a:t>[Sources]</a:t>
            </a:r>
          </a:p>
          <a:p>
            <a:r>
              <a:t>- U2-1-Guia_JTP_Detectives_Plan_MySQL_PostgreSQL.pdf</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Idea clave: el motor </a:t>
            </a:r>
            <a:r>
              <a:rPr dirty="0" err="1"/>
              <a:t>mueve</a:t>
            </a:r>
            <a:r>
              <a:rPr dirty="0"/>
              <a:t> y </a:t>
            </a:r>
            <a:r>
              <a:rPr dirty="0" err="1"/>
              <a:t>examina</a:t>
            </a:r>
            <a:r>
              <a:rPr dirty="0"/>
              <a:t> </a:t>
            </a:r>
            <a:r>
              <a:rPr dirty="0" err="1"/>
              <a:t>páginas</a:t>
            </a:r>
            <a:r>
              <a:rPr dirty="0"/>
              <a:t> o </a:t>
            </a:r>
            <a:r>
              <a:rPr dirty="0" err="1"/>
              <a:t>bloques</a:t>
            </a:r>
            <a:r>
              <a:rPr dirty="0"/>
              <a:t>; no </a:t>
            </a:r>
            <a:r>
              <a:rPr dirty="0" err="1"/>
              <a:t>recupera</a:t>
            </a:r>
            <a:r>
              <a:rPr dirty="0"/>
              <a:t> </a:t>
            </a:r>
            <a:r>
              <a:rPr dirty="0" err="1"/>
              <a:t>filas</a:t>
            </a:r>
            <a:r>
              <a:rPr dirty="0"/>
              <a:t> “gratis” de </a:t>
            </a:r>
            <a:r>
              <a:rPr dirty="0" err="1"/>
              <a:t>manera</a:t>
            </a:r>
            <a:r>
              <a:rPr dirty="0"/>
              <a:t> </a:t>
            </a:r>
            <a:r>
              <a:rPr dirty="0" err="1"/>
              <a:t>aislada</a:t>
            </a:r>
            <a:r>
              <a:rPr dirty="0"/>
              <a:t>.</a:t>
            </a:r>
          </a:p>
          <a:p>
            <a:endParaRPr dirty="0"/>
          </a:p>
          <a:p>
            <a:r>
              <a:rPr dirty="0" err="1"/>
              <a:t>Relacionar</a:t>
            </a:r>
            <a:r>
              <a:rPr dirty="0"/>
              <a:t> </a:t>
            </a:r>
            <a:r>
              <a:rPr dirty="0" err="1"/>
              <a:t>selectividad</a:t>
            </a:r>
            <a:r>
              <a:rPr dirty="0"/>
              <a:t> con </a:t>
            </a:r>
            <a:r>
              <a:rPr dirty="0" err="1"/>
              <a:t>páginas</a:t>
            </a:r>
            <a:r>
              <a:rPr dirty="0"/>
              <a:t>: </a:t>
            </a:r>
            <a:r>
              <a:rPr dirty="0" err="1"/>
              <a:t>devolver</a:t>
            </a:r>
            <a:r>
              <a:rPr dirty="0"/>
              <a:t> </a:t>
            </a:r>
            <a:r>
              <a:rPr dirty="0" err="1"/>
              <a:t>pocas</a:t>
            </a:r>
            <a:r>
              <a:rPr dirty="0"/>
              <a:t> </a:t>
            </a:r>
            <a:r>
              <a:rPr dirty="0" err="1"/>
              <a:t>filas</a:t>
            </a:r>
            <a:r>
              <a:rPr dirty="0"/>
              <a:t> </a:t>
            </a:r>
            <a:r>
              <a:rPr dirty="0" err="1"/>
              <a:t>dispersas</a:t>
            </a:r>
            <a:r>
              <a:rPr dirty="0"/>
              <a:t> </a:t>
            </a:r>
            <a:r>
              <a:rPr dirty="0" err="1"/>
              <a:t>puede</a:t>
            </a:r>
            <a:r>
              <a:rPr dirty="0"/>
              <a:t> </a:t>
            </a:r>
            <a:r>
              <a:rPr dirty="0" err="1"/>
              <a:t>requerir</a:t>
            </a:r>
            <a:r>
              <a:rPr dirty="0"/>
              <a:t> </a:t>
            </a:r>
            <a:r>
              <a:rPr dirty="0" err="1"/>
              <a:t>muchas</a:t>
            </a:r>
            <a:r>
              <a:rPr dirty="0"/>
              <a:t> </a:t>
            </a:r>
            <a:r>
              <a:rPr dirty="0" err="1"/>
              <a:t>lecturas</a:t>
            </a:r>
            <a:r>
              <a:rPr dirty="0"/>
              <a:t>; </a:t>
            </a:r>
            <a:r>
              <a:rPr dirty="0" err="1"/>
              <a:t>devolver</a:t>
            </a:r>
            <a:r>
              <a:rPr dirty="0"/>
              <a:t> </a:t>
            </a:r>
            <a:r>
              <a:rPr dirty="0" err="1"/>
              <a:t>muchas</a:t>
            </a:r>
            <a:r>
              <a:rPr dirty="0"/>
              <a:t> </a:t>
            </a:r>
            <a:r>
              <a:rPr dirty="0" err="1"/>
              <a:t>filas</a:t>
            </a:r>
            <a:r>
              <a:rPr dirty="0"/>
              <a:t> </a:t>
            </a:r>
            <a:r>
              <a:rPr dirty="0" err="1"/>
              <a:t>contiguas</a:t>
            </a:r>
            <a:r>
              <a:rPr dirty="0"/>
              <a:t> </a:t>
            </a:r>
            <a:r>
              <a:rPr dirty="0" err="1"/>
              <a:t>puede</a:t>
            </a:r>
            <a:r>
              <a:rPr dirty="0"/>
              <a:t> </a:t>
            </a:r>
            <a:r>
              <a:rPr dirty="0" err="1"/>
              <a:t>favorecer</a:t>
            </a:r>
            <a:r>
              <a:rPr dirty="0"/>
              <a:t> un </a:t>
            </a:r>
            <a:r>
              <a:rPr dirty="0" err="1"/>
              <a:t>recorrido</a:t>
            </a:r>
            <a:r>
              <a:rPr dirty="0"/>
              <a:t> </a:t>
            </a:r>
            <a:r>
              <a:rPr dirty="0" err="1"/>
              <a:t>secuencial</a:t>
            </a:r>
            <a:r>
              <a:rPr dirty="0"/>
              <a:t>.</a:t>
            </a:r>
          </a:p>
          <a:p>
            <a:endParaRPr dirty="0"/>
          </a:p>
          <a:p>
            <a:r>
              <a:rPr dirty="0" err="1"/>
              <a:t>Transición</a:t>
            </a:r>
            <a:r>
              <a:rPr dirty="0"/>
              <a:t>: </a:t>
            </a:r>
            <a:r>
              <a:rPr dirty="0" err="1"/>
              <a:t>esta</a:t>
            </a:r>
            <a:r>
              <a:rPr dirty="0"/>
              <a:t> </a:t>
            </a:r>
            <a:r>
              <a:rPr dirty="0" err="1"/>
              <a:t>realidad</a:t>
            </a:r>
            <a:r>
              <a:rPr dirty="0"/>
              <a:t> </a:t>
            </a:r>
            <a:r>
              <a:rPr dirty="0" err="1"/>
              <a:t>física</a:t>
            </a:r>
            <a:r>
              <a:rPr dirty="0"/>
              <a:t> </a:t>
            </a:r>
            <a:r>
              <a:rPr dirty="0" err="1"/>
              <a:t>explica</a:t>
            </a:r>
            <a:r>
              <a:rPr dirty="0"/>
              <a:t> </a:t>
            </a:r>
            <a:r>
              <a:rPr dirty="0" err="1"/>
              <a:t>por</a:t>
            </a:r>
            <a:r>
              <a:rPr dirty="0"/>
              <a:t> </a:t>
            </a:r>
            <a:r>
              <a:rPr dirty="0" err="1"/>
              <a:t>qué</a:t>
            </a:r>
            <a:r>
              <a:rPr dirty="0"/>
              <a:t> el </a:t>
            </a:r>
            <a:r>
              <a:rPr dirty="0" err="1"/>
              <a:t>almacenamiento</a:t>
            </a:r>
            <a:r>
              <a:rPr dirty="0"/>
              <a:t> y la </a:t>
            </a:r>
            <a:r>
              <a:rPr dirty="0" err="1"/>
              <a:t>organización</a:t>
            </a:r>
            <a:r>
              <a:rPr dirty="0"/>
              <a:t> </a:t>
            </a:r>
            <a:r>
              <a:rPr dirty="0" err="1"/>
              <a:t>importan</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Recorrer la cadena de izquierda a derecha. Una fila más ancha reduce cuántas filas entran en una página; eso puede aumentar páginas, presión de caché y E/S. Evitar reglas absolutas: elegir el tipo correcto por dominio y medir el efecto físico.</a:t>
            </a:r>
          </a:p>
          <a:p>
            <a:endParaRPr/>
          </a:p>
          <a:p>
            <a:r>
              <a:t>[Sources]</a:t>
            </a:r>
          </a:p>
          <a:p>
            <a:r>
              <a:t>- https://www.postgresql.org/docs/17/storage-page-layout.html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No </a:t>
            </a:r>
            <a:r>
              <a:rPr dirty="0" err="1"/>
              <a:t>detenerse</a:t>
            </a:r>
            <a:r>
              <a:rPr dirty="0"/>
              <a:t> </a:t>
            </a:r>
            <a:r>
              <a:rPr dirty="0" err="1"/>
              <a:t>en</a:t>
            </a:r>
            <a:r>
              <a:rPr dirty="0"/>
              <a:t> </a:t>
            </a:r>
            <a:r>
              <a:rPr dirty="0" err="1"/>
              <a:t>memorizar</a:t>
            </a:r>
            <a:r>
              <a:rPr dirty="0"/>
              <a:t> </a:t>
            </a:r>
            <a:r>
              <a:rPr dirty="0" err="1"/>
              <a:t>nombres</a:t>
            </a:r>
            <a:r>
              <a:rPr dirty="0"/>
              <a:t>. </a:t>
            </a:r>
            <a:r>
              <a:rPr dirty="0" err="1"/>
              <a:t>Explicar</a:t>
            </a:r>
            <a:r>
              <a:rPr dirty="0"/>
              <a:t> la </a:t>
            </a:r>
            <a:r>
              <a:rPr dirty="0" err="1"/>
              <a:t>jerarquía</a:t>
            </a:r>
            <a:r>
              <a:rPr dirty="0"/>
              <a:t> </a:t>
            </a:r>
            <a:r>
              <a:rPr dirty="0" err="1"/>
              <a:t>funcional</a:t>
            </a:r>
            <a:r>
              <a:rPr dirty="0"/>
              <a:t>: </a:t>
            </a:r>
            <a:r>
              <a:rPr dirty="0" err="1"/>
              <a:t>páginas</a:t>
            </a:r>
            <a:r>
              <a:rPr dirty="0"/>
              <a:t>/</a:t>
            </a:r>
            <a:r>
              <a:rPr dirty="0" err="1"/>
              <a:t>bloques</a:t>
            </a:r>
            <a:r>
              <a:rPr dirty="0"/>
              <a:t> </a:t>
            </a:r>
            <a:r>
              <a:rPr dirty="0" err="1"/>
              <a:t>como</a:t>
            </a:r>
            <a:r>
              <a:rPr dirty="0"/>
              <a:t> </a:t>
            </a:r>
            <a:r>
              <a:rPr dirty="0" err="1"/>
              <a:t>unidad</a:t>
            </a:r>
            <a:r>
              <a:rPr dirty="0"/>
              <a:t> de E/S, </a:t>
            </a:r>
            <a:r>
              <a:rPr dirty="0" err="1"/>
              <a:t>agrupaciones</a:t>
            </a:r>
            <a:r>
              <a:rPr dirty="0"/>
              <a:t> de </a:t>
            </a:r>
            <a:r>
              <a:rPr dirty="0" err="1"/>
              <a:t>asignación</a:t>
            </a:r>
            <a:r>
              <a:rPr dirty="0"/>
              <a:t> y </a:t>
            </a:r>
            <a:r>
              <a:rPr dirty="0" err="1"/>
              <a:t>archivos</a:t>
            </a:r>
            <a:r>
              <a:rPr dirty="0"/>
              <a:t>/</a:t>
            </a:r>
            <a:r>
              <a:rPr dirty="0" err="1"/>
              <a:t>espacios</a:t>
            </a:r>
            <a:r>
              <a:rPr dirty="0"/>
              <a:t> </a:t>
            </a:r>
            <a:r>
              <a:rPr dirty="0" err="1"/>
              <a:t>como</a:t>
            </a:r>
            <a:r>
              <a:rPr dirty="0"/>
              <a:t> </a:t>
            </a:r>
            <a:r>
              <a:rPr dirty="0" err="1"/>
              <a:t>contenedores</a:t>
            </a:r>
            <a:r>
              <a:rPr dirty="0"/>
              <a:t> </a:t>
            </a:r>
            <a:r>
              <a:rPr dirty="0" err="1"/>
              <a:t>administrables</a:t>
            </a:r>
            <a:r>
              <a:rPr dirty="0"/>
              <a:t>.</a:t>
            </a:r>
          </a:p>
          <a:p>
            <a:endParaRPr dirty="0"/>
          </a:p>
          <a:p>
            <a:r>
              <a:rPr dirty="0" err="1"/>
              <a:t>Advertencia</a:t>
            </a:r>
            <a:r>
              <a:rPr dirty="0"/>
              <a:t>: </a:t>
            </a:r>
            <a:r>
              <a:rPr dirty="0" err="1"/>
              <a:t>los</a:t>
            </a:r>
            <a:r>
              <a:rPr dirty="0"/>
              <a:t> </a:t>
            </a:r>
            <a:r>
              <a:rPr dirty="0" err="1"/>
              <a:t>términos</a:t>
            </a:r>
            <a:r>
              <a:rPr dirty="0"/>
              <a:t> y </a:t>
            </a:r>
            <a:r>
              <a:rPr dirty="0" err="1"/>
              <a:t>alcances</a:t>
            </a:r>
            <a:r>
              <a:rPr dirty="0"/>
              <a:t> </a:t>
            </a:r>
            <a:r>
              <a:rPr dirty="0" err="1"/>
              <a:t>cambian</a:t>
            </a:r>
            <a:r>
              <a:rPr dirty="0"/>
              <a:t> entre </a:t>
            </a:r>
            <a:r>
              <a:rPr dirty="0" err="1"/>
              <a:t>motores</a:t>
            </a:r>
            <a:r>
              <a:rPr dirty="0"/>
              <a:t>. </a:t>
            </a:r>
            <a:r>
              <a:rPr dirty="0" err="1"/>
              <a:t>Comparar</a:t>
            </a:r>
            <a:r>
              <a:rPr dirty="0"/>
              <a:t> </a:t>
            </a:r>
            <a:r>
              <a:rPr dirty="0" err="1"/>
              <a:t>funciones</a:t>
            </a:r>
            <a:r>
              <a:rPr dirty="0"/>
              <a:t> </a:t>
            </a:r>
            <a:r>
              <a:rPr dirty="0" err="1"/>
              <a:t>equivalentes</a:t>
            </a:r>
            <a:r>
              <a:rPr dirty="0"/>
              <a:t> sin </a:t>
            </a:r>
            <a:r>
              <a:rPr dirty="0" err="1"/>
              <a:t>afirmar</a:t>
            </a:r>
            <a:r>
              <a:rPr dirty="0"/>
              <a:t> </a:t>
            </a:r>
            <a:r>
              <a:rPr dirty="0" err="1"/>
              <a:t>que</a:t>
            </a:r>
            <a:r>
              <a:rPr dirty="0"/>
              <a:t> las </a:t>
            </a:r>
            <a:r>
              <a:rPr dirty="0" err="1"/>
              <a:t>implementaciones</a:t>
            </a:r>
            <a:r>
              <a:rPr dirty="0"/>
              <a:t> son </a:t>
            </a:r>
            <a:r>
              <a:rPr dirty="0" err="1"/>
              <a:t>idénticas</a:t>
            </a:r>
            <a:r>
              <a:rPr dirty="0"/>
              <a:t>.</a:t>
            </a:r>
          </a:p>
          <a:p>
            <a:endParaRPr lang="es-MX" dirty="0"/>
          </a:p>
          <a:p>
            <a:r>
              <a:rPr lang="es-MX" dirty="0"/>
              <a:t>Pregunta para la clase, ¿pueden buscar que tamaño tiene cada bloque mencionado arriba?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
Aclaración docente: tablespaces, filegroups y datafiles cumplen funciones comparables, pero no son equivalentes en implementación ni alcance.
[Sources]
- U2-1-Guia_JTP_Detectives_Plan_MySQL_PostgreSQL.pdf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dirty="0"/>
              <a:t>IOT = </a:t>
            </a:r>
            <a:r>
              <a:rPr lang="es-AR" dirty="0" err="1"/>
              <a:t>Index</a:t>
            </a:r>
            <a:r>
              <a:rPr lang="es-AR" dirty="0"/>
              <a:t> </a:t>
            </a:r>
            <a:r>
              <a:rPr lang="es-AR" dirty="0" err="1"/>
              <a:t>Organized</a:t>
            </a:r>
            <a:r>
              <a:rPr lang="es-AR" dirty="0"/>
              <a:t> Tables</a:t>
            </a:r>
            <a:endParaRPr dirty="0"/>
          </a:p>
          <a:p>
            <a:r>
              <a:rPr dirty="0"/>
              <a:t>
</a:t>
            </a:r>
            <a:r>
              <a:rPr dirty="0" err="1"/>
              <a:t>Aclaración</a:t>
            </a:r>
            <a:r>
              <a:rPr dirty="0"/>
              <a:t> </a:t>
            </a:r>
            <a:r>
              <a:rPr dirty="0" err="1"/>
              <a:t>docente</a:t>
            </a:r>
            <a:r>
              <a:rPr dirty="0"/>
              <a:t>: PostgreSQL </a:t>
            </a:r>
            <a:r>
              <a:rPr dirty="0" err="1"/>
              <a:t>usa</a:t>
            </a:r>
            <a:r>
              <a:rPr dirty="0"/>
              <a:t> </a:t>
            </a:r>
            <a:r>
              <a:rPr dirty="0" err="1"/>
              <a:t>normalmente</a:t>
            </a:r>
            <a:r>
              <a:rPr dirty="0"/>
              <a:t> </a:t>
            </a:r>
            <a:r>
              <a:rPr dirty="0" err="1"/>
              <a:t>una</a:t>
            </a:r>
            <a:r>
              <a:rPr dirty="0"/>
              <a:t> </a:t>
            </a:r>
            <a:r>
              <a:rPr dirty="0" err="1"/>
              <a:t>tabla</a:t>
            </a:r>
            <a:r>
              <a:rPr dirty="0"/>
              <a:t> heap con </a:t>
            </a:r>
            <a:r>
              <a:rPr dirty="0" err="1"/>
              <a:t>índices</a:t>
            </a:r>
            <a:r>
              <a:rPr dirty="0"/>
              <a:t> </a:t>
            </a:r>
            <a:r>
              <a:rPr dirty="0" err="1"/>
              <a:t>separados</a:t>
            </a:r>
            <a:r>
              <a:rPr dirty="0"/>
              <a:t>. </a:t>
            </a:r>
            <a:r>
              <a:rPr dirty="0" err="1"/>
              <a:t>InnoDB</a:t>
            </a:r>
            <a:r>
              <a:rPr dirty="0"/>
              <a:t> </a:t>
            </a:r>
            <a:r>
              <a:rPr dirty="0" err="1"/>
              <a:t>organiza</a:t>
            </a:r>
            <a:r>
              <a:rPr dirty="0"/>
              <a:t> la </a:t>
            </a:r>
            <a:r>
              <a:rPr dirty="0" err="1"/>
              <a:t>tabla</a:t>
            </a:r>
            <a:r>
              <a:rPr dirty="0"/>
              <a:t> </a:t>
            </a:r>
            <a:r>
              <a:rPr dirty="0" err="1"/>
              <a:t>alrededor</a:t>
            </a:r>
            <a:r>
              <a:rPr dirty="0"/>
              <a:t> de la clave </a:t>
            </a:r>
            <a:r>
              <a:rPr dirty="0" err="1"/>
              <a:t>primaria</a:t>
            </a:r>
            <a:r>
              <a:rPr dirty="0"/>
              <a:t>; </a:t>
            </a:r>
            <a:r>
              <a:rPr dirty="0" err="1"/>
              <a:t>por</a:t>
            </a:r>
            <a:r>
              <a:rPr dirty="0"/>
              <a:t> </a:t>
            </a:r>
            <a:r>
              <a:rPr dirty="0" err="1"/>
              <a:t>eso</a:t>
            </a:r>
            <a:r>
              <a:rPr dirty="0"/>
              <a:t> </a:t>
            </a:r>
            <a:r>
              <a:rPr dirty="0" err="1"/>
              <a:t>una</a:t>
            </a:r>
            <a:r>
              <a:rPr dirty="0"/>
              <a:t> PK </a:t>
            </a:r>
            <a:r>
              <a:rPr dirty="0" err="1"/>
              <a:t>ancha</a:t>
            </a:r>
            <a:r>
              <a:rPr dirty="0"/>
              <a:t> también </a:t>
            </a:r>
            <a:r>
              <a:rPr dirty="0" err="1"/>
              <a:t>ensancha</a:t>
            </a:r>
            <a:r>
              <a:rPr dirty="0"/>
              <a:t> </a:t>
            </a:r>
            <a:r>
              <a:rPr dirty="0" err="1"/>
              <a:t>los</a:t>
            </a:r>
            <a:r>
              <a:rPr dirty="0"/>
              <a:t> </a:t>
            </a:r>
            <a:r>
              <a:rPr dirty="0" err="1"/>
              <a:t>índices</a:t>
            </a:r>
            <a:r>
              <a:rPr dirty="0"/>
              <a:t> </a:t>
            </a:r>
            <a:r>
              <a:rPr dirty="0" err="1"/>
              <a:t>secundarios</a:t>
            </a:r>
            <a:r>
              <a:rPr dirty="0"/>
              <a: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Distinguir identidad lógica de consecuencia física. En InnoDB la clave primaria organiza los datos y sus columnas aparecen en cada índice secundario; por eso una PK larga tiene efecto multiplicador. Preguntar cómo cambiaría el costo con una clave aleatoria o compuesta.</a:t>
            </a:r>
          </a:p>
          <a:p>
            <a:endParaRPr/>
          </a:p>
          <a:p>
            <a:r>
              <a:t>[Sources]</a:t>
            </a:r>
          </a:p>
          <a:p>
            <a:r>
              <a:t>- https://dev.mysql.com/doc/refman/9.7/en/innodb-index-types.html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Objetivo docente: enseñar criterios transferibles entre motores. El problema lógico puede ser el mismo, pero cambian la organización física, las opciones y el vocabulario del plan.</a:t>
            </a:r>
          </a:p>
          <a:p>
            <a:endParaRPr/>
          </a:p>
          <a:p>
            <a:r>
              <a:t>Pedir dos niveles de respuesta: primero el principio general; después, cómo se materializa en MySQL o PostgreSQL.</a:t>
            </a:r>
          </a:p>
          <a:p>
            <a:endParaRPr/>
          </a:p>
          <a:p>
            <a:r>
              <a:t>Evitar comparar números de costo entre motores: son escalas internas diferentes.</a:t>
            </a:r>
          </a:p>
          <a:p>
            <a:endParaRPr/>
          </a:p>
          <a:p>
            <a:r>
              <a:t>[Sources]</a:t>
            </a:r>
          </a:p>
          <a:p>
            <a:r>
              <a:t>- U2-1-Guia_JTP_Detectives_Plan_MySQL_PostgreSQL.pdf</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Explicar</a:t>
            </a:r>
            <a:r>
              <a:rPr dirty="0"/>
              <a:t> </a:t>
            </a:r>
            <a:r>
              <a:rPr dirty="0" err="1"/>
              <a:t>tres</a:t>
            </a:r>
            <a:r>
              <a:rPr dirty="0"/>
              <a:t> formas de </a:t>
            </a:r>
            <a:r>
              <a:rPr dirty="0" err="1"/>
              <a:t>reducir</a:t>
            </a:r>
            <a:r>
              <a:rPr dirty="0"/>
              <a:t> </a:t>
            </a:r>
            <a:r>
              <a:rPr dirty="0" err="1"/>
              <a:t>trabajo</a:t>
            </a:r>
            <a:r>
              <a:rPr dirty="0"/>
              <a:t>: </a:t>
            </a:r>
            <a:r>
              <a:rPr dirty="0" err="1"/>
              <a:t>localizar</a:t>
            </a:r>
            <a:r>
              <a:rPr dirty="0"/>
              <a:t> claves, </a:t>
            </a:r>
            <a:r>
              <a:rPr dirty="0" err="1"/>
              <a:t>conservar</a:t>
            </a:r>
            <a:r>
              <a:rPr dirty="0"/>
              <a:t> un </a:t>
            </a:r>
            <a:r>
              <a:rPr dirty="0" err="1"/>
              <a:t>orden</a:t>
            </a:r>
            <a:r>
              <a:rPr dirty="0"/>
              <a:t> </a:t>
            </a:r>
            <a:r>
              <a:rPr dirty="0" err="1"/>
              <a:t>útil</a:t>
            </a:r>
            <a:r>
              <a:rPr dirty="0"/>
              <a:t> y </a:t>
            </a:r>
            <a:r>
              <a:rPr dirty="0" err="1"/>
              <a:t>cubrir</a:t>
            </a:r>
            <a:r>
              <a:rPr dirty="0"/>
              <a:t> columnas para </a:t>
            </a:r>
            <a:r>
              <a:rPr dirty="0" err="1"/>
              <a:t>evitar</a:t>
            </a:r>
            <a:r>
              <a:rPr dirty="0"/>
              <a:t> </a:t>
            </a:r>
            <a:r>
              <a:rPr dirty="0" err="1"/>
              <a:t>volver</a:t>
            </a:r>
            <a:r>
              <a:rPr dirty="0"/>
              <a:t> a la </a:t>
            </a:r>
            <a:r>
              <a:rPr dirty="0" err="1"/>
              <a:t>tabla</a:t>
            </a:r>
            <a:r>
              <a:rPr dirty="0"/>
              <a:t>.</a:t>
            </a:r>
          </a:p>
          <a:p>
            <a:endParaRPr dirty="0"/>
          </a:p>
          <a:p>
            <a:r>
              <a:rPr dirty="0" err="1"/>
              <a:t>Ejemplo</a:t>
            </a:r>
            <a:r>
              <a:rPr dirty="0"/>
              <a:t>: un </a:t>
            </a:r>
            <a:r>
              <a:rPr dirty="0" err="1"/>
              <a:t>índice</a:t>
            </a:r>
            <a:r>
              <a:rPr dirty="0"/>
              <a:t> </a:t>
            </a:r>
            <a:r>
              <a:rPr dirty="0" err="1"/>
              <a:t>compuesto</a:t>
            </a:r>
            <a:r>
              <a:rPr dirty="0"/>
              <a:t> </a:t>
            </a:r>
            <a:r>
              <a:rPr dirty="0" err="1"/>
              <a:t>puede</a:t>
            </a:r>
            <a:r>
              <a:rPr dirty="0"/>
              <a:t> </a:t>
            </a:r>
            <a:r>
              <a:rPr dirty="0" err="1"/>
              <a:t>filtrar</a:t>
            </a:r>
            <a:r>
              <a:rPr dirty="0"/>
              <a:t> </a:t>
            </a:r>
            <a:r>
              <a:rPr dirty="0" err="1"/>
              <a:t>por</a:t>
            </a:r>
            <a:r>
              <a:rPr dirty="0"/>
              <a:t> </a:t>
            </a:r>
            <a:r>
              <a:rPr dirty="0" err="1"/>
              <a:t>cliente</a:t>
            </a:r>
            <a:r>
              <a:rPr dirty="0"/>
              <a:t>, </a:t>
            </a:r>
            <a:r>
              <a:rPr dirty="0" err="1"/>
              <a:t>recorrer</a:t>
            </a:r>
            <a:r>
              <a:rPr dirty="0"/>
              <a:t> un </a:t>
            </a:r>
            <a:r>
              <a:rPr dirty="0" err="1"/>
              <a:t>rango</a:t>
            </a:r>
            <a:r>
              <a:rPr dirty="0"/>
              <a:t> de </a:t>
            </a:r>
            <a:r>
              <a:rPr dirty="0" err="1"/>
              <a:t>fechas</a:t>
            </a:r>
            <a:r>
              <a:rPr dirty="0"/>
              <a:t> y </a:t>
            </a:r>
            <a:r>
              <a:rPr dirty="0" err="1"/>
              <a:t>entregar</a:t>
            </a:r>
            <a:r>
              <a:rPr dirty="0"/>
              <a:t> </a:t>
            </a:r>
            <a:r>
              <a:rPr dirty="0" err="1"/>
              <a:t>filas</a:t>
            </a:r>
            <a:r>
              <a:rPr dirty="0"/>
              <a:t> </a:t>
            </a:r>
            <a:r>
              <a:rPr dirty="0" err="1"/>
              <a:t>ya</a:t>
            </a:r>
            <a:r>
              <a:rPr dirty="0"/>
              <a:t> </a:t>
            </a:r>
            <a:r>
              <a:rPr dirty="0" err="1"/>
              <a:t>ordenadas</a:t>
            </a:r>
            <a:r>
              <a:rPr dirty="0"/>
              <a:t>.</a:t>
            </a:r>
          </a:p>
          <a:p>
            <a:endParaRPr dirty="0"/>
          </a:p>
          <a:p>
            <a:r>
              <a:rPr dirty="0"/>
              <a:t>Regla: un </a:t>
            </a:r>
            <a:r>
              <a:rPr dirty="0" err="1"/>
              <a:t>índice</a:t>
            </a:r>
            <a:r>
              <a:rPr dirty="0"/>
              <a:t> es </a:t>
            </a:r>
            <a:r>
              <a:rPr dirty="0" err="1"/>
              <a:t>valioso</a:t>
            </a:r>
            <a:r>
              <a:rPr dirty="0"/>
              <a:t> </a:t>
            </a:r>
            <a:r>
              <a:rPr dirty="0" err="1"/>
              <a:t>si</a:t>
            </a:r>
            <a:r>
              <a:rPr dirty="0"/>
              <a:t> reduce el </a:t>
            </a:r>
            <a:r>
              <a:rPr dirty="0" err="1"/>
              <a:t>trabajo</a:t>
            </a:r>
            <a:r>
              <a:rPr dirty="0"/>
              <a:t> global de la consulta, no solo </a:t>
            </a:r>
            <a:r>
              <a:rPr dirty="0" err="1"/>
              <a:t>porque</a:t>
            </a:r>
            <a:r>
              <a:rPr dirty="0"/>
              <a:t> </a:t>
            </a:r>
            <a:r>
              <a:rPr dirty="0" err="1"/>
              <a:t>aparece</a:t>
            </a:r>
            <a:r>
              <a:rPr dirty="0"/>
              <a:t> </a:t>
            </a:r>
            <a:r>
              <a:rPr dirty="0" err="1"/>
              <a:t>como</a:t>
            </a:r>
            <a:r>
              <a:rPr dirty="0"/>
              <a:t> “</a:t>
            </a:r>
            <a:r>
              <a:rPr dirty="0" err="1"/>
              <a:t>usado</a:t>
            </a:r>
            <a:r>
              <a:rPr dirty="0"/>
              <a:t>”.</a:t>
            </a:r>
          </a:p>
          <a:p>
            <a:endParaRPr dirty="0"/>
          </a:p>
          <a:p>
            <a:r>
              <a:rPr dirty="0"/>
              <a:t>[Sources]</a:t>
            </a:r>
          </a:p>
          <a:p>
            <a:r>
              <a:rPr dirty="0"/>
              <a:t>- U2-1-Guia_JTP_Detectives_Plan_MySQL_PostgreSQL.pdf</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a:p>
            <a:r>
              <a:rPr dirty="0"/>
              <a:t>
Equivalencias </a:t>
            </a:r>
            <a:r>
              <a:rPr dirty="0" err="1"/>
              <a:t>útiles</a:t>
            </a:r>
            <a:r>
              <a:rPr dirty="0"/>
              <a:t>: PostgreSQL </a:t>
            </a:r>
            <a:r>
              <a:rPr dirty="0" err="1"/>
              <a:t>muestra</a:t>
            </a:r>
            <a:r>
              <a:rPr dirty="0"/>
              <a:t> Seq Scan, Index Scan, Index Only Scan o Bitmap; MySQL </a:t>
            </a:r>
            <a:r>
              <a:rPr dirty="0" err="1"/>
              <a:t>informa</a:t>
            </a:r>
            <a:r>
              <a:rPr dirty="0"/>
              <a:t> Table Scan, Index o Range. El </a:t>
            </a:r>
            <a:r>
              <a:rPr dirty="0" err="1"/>
              <a:t>nombre</a:t>
            </a:r>
            <a:r>
              <a:rPr dirty="0"/>
              <a:t> no </a:t>
            </a:r>
            <a:r>
              <a:rPr dirty="0" err="1"/>
              <a:t>determina</a:t>
            </a:r>
            <a:r>
              <a:rPr dirty="0"/>
              <a:t> </a:t>
            </a:r>
            <a:r>
              <a:rPr dirty="0" err="1"/>
              <a:t>por</a:t>
            </a:r>
            <a:r>
              <a:rPr dirty="0"/>
              <a:t> </a:t>
            </a:r>
            <a:r>
              <a:rPr dirty="0" err="1"/>
              <a:t>sí</a:t>
            </a:r>
            <a:r>
              <a:rPr dirty="0"/>
              <a:t> solo </a:t>
            </a:r>
            <a:r>
              <a:rPr dirty="0" err="1"/>
              <a:t>si</a:t>
            </a:r>
            <a:r>
              <a:rPr dirty="0"/>
              <a:t> el plan es </a:t>
            </a:r>
            <a:r>
              <a:rPr dirty="0" err="1"/>
              <a:t>eficiente</a:t>
            </a:r>
            <a:r>
              <a:rPr dirty="0"/>
              <a:t>.
[Sources]
- U2-1-Guia_JTP_Detectives_Plan_MySQL_PostgreSQL.pdf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B-tree es el punto de </a:t>
            </a:r>
            <a:r>
              <a:rPr dirty="0" err="1"/>
              <a:t>partida</a:t>
            </a:r>
            <a:r>
              <a:rPr dirty="0"/>
              <a:t> para </a:t>
            </a:r>
            <a:r>
              <a:rPr dirty="0" err="1"/>
              <a:t>igualdad</a:t>
            </a:r>
            <a:r>
              <a:rPr dirty="0"/>
              <a:t>, </a:t>
            </a:r>
            <a:r>
              <a:rPr dirty="0" err="1"/>
              <a:t>rangos</a:t>
            </a:r>
            <a:r>
              <a:rPr dirty="0"/>
              <a:t>, </a:t>
            </a:r>
            <a:r>
              <a:rPr dirty="0" err="1"/>
              <a:t>prefijos</a:t>
            </a:r>
            <a:r>
              <a:rPr dirty="0"/>
              <a:t> y </a:t>
            </a:r>
            <a:r>
              <a:rPr dirty="0" err="1"/>
              <a:t>muchos</a:t>
            </a:r>
            <a:r>
              <a:rPr dirty="0"/>
              <a:t> ORDER BY. Las </a:t>
            </a:r>
            <a:r>
              <a:rPr dirty="0" err="1"/>
              <a:t>alternativas</a:t>
            </a:r>
            <a:r>
              <a:rPr dirty="0"/>
              <a:t> </a:t>
            </a:r>
            <a:r>
              <a:rPr dirty="0" err="1"/>
              <a:t>especializadas</a:t>
            </a:r>
            <a:r>
              <a:rPr dirty="0"/>
              <a:t> solo </a:t>
            </a:r>
            <a:r>
              <a:rPr dirty="0" err="1"/>
              <a:t>tienen</a:t>
            </a:r>
            <a:r>
              <a:rPr dirty="0"/>
              <a:t> </a:t>
            </a:r>
            <a:r>
              <a:rPr dirty="0" err="1"/>
              <a:t>sentido</a:t>
            </a:r>
            <a:r>
              <a:rPr dirty="0"/>
              <a:t> </a:t>
            </a:r>
            <a:r>
              <a:rPr dirty="0" err="1"/>
              <a:t>si</a:t>
            </a:r>
            <a:r>
              <a:rPr dirty="0"/>
              <a:t> </a:t>
            </a:r>
            <a:r>
              <a:rPr dirty="0" err="1"/>
              <a:t>coinciden</a:t>
            </a:r>
            <a:r>
              <a:rPr dirty="0"/>
              <a:t> con </a:t>
            </a:r>
            <a:r>
              <a:rPr dirty="0" err="1"/>
              <a:t>los</a:t>
            </a:r>
            <a:r>
              <a:rPr dirty="0"/>
              <a:t> </a:t>
            </a:r>
            <a:r>
              <a:rPr dirty="0" err="1"/>
              <a:t>operadores</a:t>
            </a:r>
            <a:r>
              <a:rPr dirty="0"/>
              <a:t> y la carga real.</a:t>
            </a:r>
          </a:p>
          <a:p>
            <a:endParaRPr dirty="0"/>
          </a:p>
          <a:p>
            <a:r>
              <a:rPr dirty="0" err="1"/>
              <a:t>Ejemplo</a:t>
            </a:r>
            <a:r>
              <a:rPr dirty="0"/>
              <a:t>: no </a:t>
            </a:r>
            <a:r>
              <a:rPr dirty="0" err="1"/>
              <a:t>elegir</a:t>
            </a:r>
            <a:r>
              <a:rPr dirty="0"/>
              <a:t> </a:t>
            </a:r>
            <a:r>
              <a:rPr dirty="0" err="1"/>
              <a:t>una</a:t>
            </a:r>
            <a:r>
              <a:rPr dirty="0"/>
              <a:t> </a:t>
            </a:r>
            <a:r>
              <a:rPr dirty="0" err="1"/>
              <a:t>estructura</a:t>
            </a:r>
            <a:r>
              <a:rPr dirty="0"/>
              <a:t> </a:t>
            </a:r>
            <a:r>
              <a:rPr dirty="0" err="1"/>
              <a:t>por</a:t>
            </a:r>
            <a:r>
              <a:rPr dirty="0"/>
              <a:t> </a:t>
            </a:r>
            <a:r>
              <a:rPr dirty="0" err="1"/>
              <a:t>novedad</a:t>
            </a:r>
            <a:r>
              <a:rPr dirty="0"/>
              <a:t>; primero </a:t>
            </a:r>
            <a:r>
              <a:rPr dirty="0" err="1"/>
              <a:t>identificar</a:t>
            </a:r>
            <a:r>
              <a:rPr dirty="0"/>
              <a:t> el </a:t>
            </a:r>
            <a:r>
              <a:rPr dirty="0" err="1"/>
              <a:t>predicado</a:t>
            </a:r>
            <a:r>
              <a:rPr dirty="0"/>
              <a:t> y la forma de </a:t>
            </a:r>
            <a:r>
              <a:rPr dirty="0" err="1"/>
              <a:t>búsqueda</a:t>
            </a:r>
            <a:r>
              <a:rPr dirty="0"/>
              <a:t>.</a:t>
            </a:r>
          </a:p>
          <a:p>
            <a:endParaRPr dirty="0"/>
          </a:p>
          <a:p>
            <a:r>
              <a:rPr dirty="0" err="1"/>
              <a:t>Pregunta</a:t>
            </a:r>
            <a:r>
              <a:rPr dirty="0"/>
              <a:t>: “¿La consulta </a:t>
            </a:r>
            <a:r>
              <a:rPr dirty="0" err="1"/>
              <a:t>necesita</a:t>
            </a:r>
            <a:r>
              <a:rPr dirty="0"/>
              <a:t> </a:t>
            </a:r>
            <a:r>
              <a:rPr dirty="0" err="1"/>
              <a:t>igualdad</a:t>
            </a:r>
            <a:r>
              <a:rPr dirty="0"/>
              <a:t>, </a:t>
            </a:r>
            <a:r>
              <a:rPr dirty="0" err="1"/>
              <a:t>rango</a:t>
            </a:r>
            <a:r>
              <a:rPr dirty="0"/>
              <a:t>, </a:t>
            </a:r>
            <a:r>
              <a:rPr dirty="0" err="1"/>
              <a:t>orden</a:t>
            </a:r>
            <a:r>
              <a:rPr dirty="0"/>
              <a:t>, </a:t>
            </a:r>
            <a:r>
              <a:rPr dirty="0" err="1"/>
              <a:t>texto</a:t>
            </a:r>
            <a:r>
              <a:rPr dirty="0"/>
              <a:t> o </a:t>
            </a:r>
            <a:r>
              <a:rPr dirty="0" err="1"/>
              <a:t>contención</a:t>
            </a:r>
            <a:r>
              <a:rPr dirty="0"/>
              <a:t>?”</a:t>
            </a:r>
          </a:p>
          <a:p>
            <a:endParaRPr dirty="0"/>
          </a:p>
          <a:p>
            <a:r>
              <a:rPr dirty="0"/>
              <a:t>[Sources]</a:t>
            </a:r>
          </a:p>
          <a:p>
            <a:r>
              <a:rPr dirty="0"/>
              <a:t>- U2-1-Guia_JTP_Detectives_Plan_MySQL_PostgreSQL.pdf</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Usar el principio del prefijo izquierdo. En (cliente_id, fecha), la igualdad por cliente seguida de rango u orden por fecha suele ser natural; buscar solo por fecha puede no aprovecharlo de la misma manera.</a:t>
            </a:r>
          </a:p>
          <a:p>
            <a:endParaRPr/>
          </a:p>
          <a:p>
            <a:r>
              <a:t>El orden de columnas debe seguir filtros, distribución y ordenamientos reales, no una regla mecánica.</a:t>
            </a:r>
          </a:p>
          <a:p>
            <a:endParaRPr/>
          </a:p>
          <a:p>
            <a:r>
              <a:t>Pregunta: “¿Qué cambia si fecha es la primera columna?”</a:t>
            </a:r>
          </a:p>
          <a:p>
            <a:endParaRPr/>
          </a:p>
          <a:p>
            <a:r>
              <a:t>[Sources]</a:t>
            </a:r>
          </a:p>
          <a:p>
            <a:r>
              <a:t>- U2-1-Guia_JTP_Detectives_Plan_MySQL_PostgreSQL.pdf</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selectividad pertenece al valor y a su distribución, no solo al nombre de la columna.</a:t>
            </a:r>
          </a:p>
          <a:p>
            <a:endParaRPr/>
          </a:p>
          <a:p>
            <a:r>
              <a:t>Ejemplo: un estado poco frecuente puede ser selectivo, mientras que el estado dominante devuelve gran parte de la tabla. La misma consulta parametrizada puede justificar planes diferentes.</a:t>
            </a:r>
          </a:p>
          <a:p>
            <a:endParaRPr/>
          </a:p>
          <a:p>
            <a:r>
              <a:t>Conectar con estadísticas: si la distribución real no está representada, la estimación de cardinalidad puede fallar.</a:t>
            </a:r>
          </a:p>
          <a:p>
            <a:endParaRPr/>
          </a:p>
          <a:p>
            <a:r>
              <a:t>[Sources]</a:t>
            </a:r>
          </a:p>
          <a:p>
            <a:r>
              <a:t>- U2-1-Guia_JTP_Detectives_Plan_MySQL_PostgreSQL.pdf</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Explicar que las estadísticas de una sola columna pueden ser insuficientes cuando dos atributos están relacionados. Mostrar como ejemplo ciudad/provincia. CREATE STATISTICS no sustituye ANALYZE: define qué relación capturar y ANALYZE recolecta los datos.</a:t>
            </a:r>
          </a:p>
          <a:p>
            <a:endParaRPr/>
          </a:p>
          <a:p>
            <a:r>
              <a:t>[Sources]</a:t>
            </a:r>
          </a:p>
          <a:p>
            <a:r>
              <a:t>- https://www.postgresql.org/docs/current/sql-createstatistics.html</a:t>
            </a:r>
          </a:p>
          <a:p>
            <a:r>
              <a:t>- https://www.postgresql.org/docs/current/routine-vacuuming.html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 </a:t>
            </a:r>
            <a:r>
              <a:rPr b="1"/>
              <a:t>índice de cobertura</a:t>
            </a:r>
            <a:r>
              <a:t> es un índice que contiene todas las columnas necesarias para resolver una consulta, de modo que el motor puede responder leyendo solamente el índice, sin volver a buscar datos en la tabla. Un índice de cobertura puede evitar accesos a la tabla, pero crece en ancho, espacio y costo de actualización.</a:t>
            </a:r>
          </a:p>
          <a:p>
            <a:endParaRPr/>
          </a:p>
          <a:p>
            <a:r>
              <a:t>En MySQL puede aparecer “Using index”; en PostgreSQL, un Index Only Scan todavía depende del mapa de visibilidad y puede mostrar Heap Fetches.</a:t>
            </a:r>
          </a:p>
          <a:p>
            <a:endParaRPr/>
          </a:p>
          <a:p>
            <a:r>
              <a:t>Consejo: incluir solo columnas justificadas; no convertir el índice en una copia de la tabla.</a:t>
            </a:r>
          </a:p>
          <a:p>
            <a:endParaRPr/>
          </a:p>
          <a:p>
            <a:r>
              <a:t>[Sources]</a:t>
            </a:r>
          </a:p>
          <a:p>
            <a:r>
              <a:t>- U2-1-Guia_JTP_Detectives_Plan_MySQL_PostgreSQL.pdf</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Hacer visible el costo total: almacenamiento y caché, INSERT, DELETE, cambios sobre columnas indexadas, reconstrucciones y análisis.</a:t>
            </a:r>
          </a:p>
          <a:p>
            <a:endParaRPr/>
          </a:p>
          <a:p>
            <a:r>
              <a:t>Pregunta: “Si tuvieran que eliminar un índice, ¿qué evidencia buscarían?” Esperar uso real, solapamiento, beneficio de lectura y costo de mantenimiento.</a:t>
            </a:r>
          </a:p>
          <a:p>
            <a:endParaRPr/>
          </a:p>
          <a:p>
            <a:r>
              <a:t>Transición: particionar también tiene beneficios y límites, pero resuelve otro tipo de problema.</a:t>
            </a:r>
          </a:p>
          <a:p>
            <a:endParaRPr/>
          </a:p>
          <a:p>
            <a:r>
              <a:t>[Sources]</a:t>
            </a:r>
          </a:p>
          <a:p>
            <a:r>
              <a:t>- U2-1-Guia_JTP_Detectives_Plan_MySQL_PostgreSQL.pdf</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Diferenciar</a:t>
            </a:r>
            <a:r>
              <a:rPr dirty="0"/>
              <a:t> </a:t>
            </a:r>
            <a:r>
              <a:rPr dirty="0" err="1"/>
              <a:t>una</a:t>
            </a:r>
            <a:r>
              <a:rPr dirty="0"/>
              <a:t> </a:t>
            </a:r>
            <a:r>
              <a:rPr dirty="0" err="1"/>
              <a:t>medición</a:t>
            </a:r>
            <a:r>
              <a:rPr dirty="0"/>
              <a:t> </a:t>
            </a:r>
            <a:r>
              <a:rPr dirty="0" err="1"/>
              <a:t>aislada</a:t>
            </a:r>
            <a:r>
              <a:rPr dirty="0"/>
              <a:t> de </a:t>
            </a:r>
            <a:r>
              <a:rPr dirty="0" err="1"/>
              <a:t>una</a:t>
            </a:r>
            <a:r>
              <a:rPr dirty="0"/>
              <a:t> </a:t>
            </a:r>
            <a:r>
              <a:rPr dirty="0" err="1"/>
              <a:t>prueba</a:t>
            </a:r>
            <a:r>
              <a:rPr dirty="0"/>
              <a:t> bajo </a:t>
            </a:r>
            <a:r>
              <a:rPr dirty="0" err="1"/>
              <a:t>concurrencia</a:t>
            </a:r>
            <a:r>
              <a:rPr dirty="0"/>
              <a:t>.</a:t>
            </a:r>
            <a:r>
              <a:rPr lang="es-MX" dirty="0"/>
              <a:t> El control de concurrencia </a:t>
            </a:r>
            <a:r>
              <a:rPr dirty="0"/>
              <a:t>reduce </a:t>
            </a:r>
            <a:r>
              <a:rPr dirty="0" err="1"/>
              <a:t>conflictos</a:t>
            </a:r>
            <a:r>
              <a:rPr dirty="0"/>
              <a:t> entre </a:t>
            </a:r>
            <a:r>
              <a:rPr dirty="0" err="1"/>
              <a:t>lectura</a:t>
            </a:r>
            <a:r>
              <a:rPr dirty="0"/>
              <a:t> y </a:t>
            </a:r>
            <a:r>
              <a:rPr dirty="0" err="1"/>
              <a:t>escritura</a:t>
            </a:r>
            <a:r>
              <a:rPr dirty="0"/>
              <a:t>, </a:t>
            </a:r>
            <a:r>
              <a:rPr dirty="0" err="1"/>
              <a:t>pero</a:t>
            </a:r>
            <a:r>
              <a:rPr dirty="0"/>
              <a:t> no </a:t>
            </a:r>
            <a:r>
              <a:rPr dirty="0" err="1"/>
              <a:t>elimina</a:t>
            </a:r>
            <a:r>
              <a:rPr dirty="0"/>
              <a:t> </a:t>
            </a:r>
            <a:r>
              <a:rPr dirty="0" err="1"/>
              <a:t>contención</a:t>
            </a:r>
            <a:r>
              <a:rPr dirty="0"/>
              <a:t>, </a:t>
            </a:r>
            <a:r>
              <a:rPr dirty="0" err="1"/>
              <a:t>trabajo</a:t>
            </a:r>
            <a:r>
              <a:rPr dirty="0"/>
              <a:t> de </a:t>
            </a:r>
            <a:r>
              <a:rPr dirty="0" err="1"/>
              <a:t>registro</a:t>
            </a:r>
            <a:r>
              <a:rPr dirty="0"/>
              <a:t> </a:t>
            </a:r>
            <a:r>
              <a:rPr dirty="0" err="1"/>
              <a:t>ni</a:t>
            </a:r>
            <a:r>
              <a:rPr dirty="0"/>
              <a:t> puntos calientes. </a:t>
            </a:r>
            <a:r>
              <a:rPr dirty="0" err="1"/>
              <a:t>Pedir</a:t>
            </a:r>
            <a:r>
              <a:rPr dirty="0"/>
              <a:t> </a:t>
            </a:r>
            <a:r>
              <a:rPr dirty="0" err="1"/>
              <a:t>que</a:t>
            </a:r>
            <a:r>
              <a:rPr dirty="0"/>
              <a:t> </a:t>
            </a:r>
            <a:r>
              <a:rPr dirty="0" err="1"/>
              <a:t>identifiquen</a:t>
            </a:r>
            <a:r>
              <a:rPr dirty="0"/>
              <a:t> </a:t>
            </a:r>
            <a:r>
              <a:rPr dirty="0" err="1"/>
              <a:t>qué</a:t>
            </a:r>
            <a:r>
              <a:rPr dirty="0"/>
              <a:t> </a:t>
            </a:r>
            <a:r>
              <a:rPr dirty="0" err="1"/>
              <a:t>métrica</a:t>
            </a:r>
            <a:r>
              <a:rPr dirty="0"/>
              <a:t> </a:t>
            </a:r>
            <a:r>
              <a:rPr dirty="0" err="1"/>
              <a:t>observarían</a:t>
            </a:r>
            <a:r>
              <a:rPr dirty="0"/>
              <a:t> </a:t>
            </a:r>
            <a:r>
              <a:rPr dirty="0" err="1"/>
              <a:t>además</a:t>
            </a:r>
            <a:r>
              <a:rPr dirty="0"/>
              <a:t> del </a:t>
            </a:r>
            <a:r>
              <a:rPr dirty="0" err="1"/>
              <a:t>tiempo</a:t>
            </a:r>
            <a:r>
              <a:rPr dirty="0"/>
              <a:t> individual.</a:t>
            </a:r>
          </a:p>
          <a:p>
            <a:endParaRPr dirty="0"/>
          </a:p>
          <a:p>
            <a:r>
              <a:rPr dirty="0"/>
              <a:t>[Sources]</a:t>
            </a:r>
          </a:p>
          <a:p>
            <a:r>
              <a:rPr dirty="0"/>
              <a:t>- https://www.postgresql.org/docs/17/mvcc-intro.html</a:t>
            </a:r>
          </a:p>
          <a:p>
            <a:r>
              <a:rPr dirty="0"/>
              <a:t>- https://www.postgresql.org/docs/current/wal-configuration.html</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Partition pruning reduce las particiones visitadas. Un índice todavía puede ser necesario para localizar pocas filas dentro de las particiones conservadas; retirar una partición completa resuelve además un problema de ciclo de vida.
[Sources]
- Guia_JTP_Actividad_2_Practica_Motores_2026.pdf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 el escenario PostgreSQL, comparar rangos acotados y rangos que alcanzan casi todo el histórico. La regla de partición debe servir tanto a las consultas como a la retención.
[Sources]
- Guia_JTP_Actividad_2_Practica_Motores_2026.pdf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Desnormalizar solo después de identificar un costo medido y repetitivo.</a:t>
            </a:r>
          </a:p>
          <a:p>
            <a:endParaRPr/>
          </a:p>
          <a:p>
            <a:r>
              <a:t>Antes de hacerlo, pedir cuatro respuestas: cuál es la fuente de verdad, cómo se sincroniza la copia, qué ocurre ante fallos y cómo se reconstruye.</a:t>
            </a:r>
          </a:p>
          <a:p>
            <a:endParaRPr/>
          </a:p>
          <a:p>
            <a:r>
              <a:t>Ejemplo: totales precalculados o tablas resumen pueden acelerar lectura, pero introducen consistencia y operación adicional.</a:t>
            </a:r>
          </a:p>
          <a:p>
            <a:endParaRPr/>
          </a:p>
          <a:p>
            <a:r>
              <a:t>[Sources]</a:t>
            </a:r>
          </a:p>
          <a:p>
            <a:r>
              <a:t>- U2-1-Guia_JTP_Detectives_Plan_MySQL_PostgreSQL.pdf</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Materializar significa persistir un resultado para no recalcularlo en cada lectura. La contrapartida es la posible desactualización. Antes de adoptar la técnica, definir fuente de verdad, frecuencia de actualización, bloqueo durante refresh y mecanismo de reconstrucción.</a:t>
            </a:r>
          </a:p>
          <a:p>
            <a:endParaRPr/>
          </a:p>
          <a:p>
            <a:r>
              <a:t>[Sources]</a:t>
            </a:r>
          </a:p>
          <a:p>
            <a:r>
              <a:t>- https://www.postgresql.org/docs/17/rules-materializedviews.html</a:t>
            </a:r>
          </a:p>
          <a:p>
            <a:r>
              <a:t>- https://www.postgresql.org/docs/current/sql-refreshmaterializedview.html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 optimizador compara alternativas usando estimaciones. Las estadísticas alimentan cardinalidades; una estimación errónea puede cambiar el orden de joins, el método de acceso y la memoria esperada.</a:t>
            </a:r>
          </a:p>
          <a:p>
            <a:endParaRPr/>
          </a:p>
          <a:p>
            <a:r>
              <a:t>Frase guía: el plan estimado es una predicción; la ejecución real aporta evidencia.</a:t>
            </a:r>
          </a:p>
          <a:p>
            <a:endParaRPr/>
          </a:p>
          <a:p>
            <a:r>
              <a:t>Pregunta: “¿Dónde se amplifica un error cuando un nodo se ejecuta muchas veces?”</a:t>
            </a:r>
          </a:p>
          <a:p>
            <a:endParaRPr/>
          </a:p>
          <a:p>
            <a:r>
              <a:t>[Sources]</a:t>
            </a:r>
          </a:p>
          <a:p>
            <a:r>
              <a:t>- U2-1-Guia_JTP_Detectives_Plan_MySQL_PostgreSQL.pdf</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Método</a:t>
            </a:r>
            <a:r>
              <a:rPr dirty="0"/>
              <a:t> </a:t>
            </a:r>
            <a:r>
              <a:rPr dirty="0" err="1"/>
              <a:t>sugerido</a:t>
            </a:r>
            <a:r>
              <a:rPr dirty="0"/>
              <a:t> para leer un plan: </a:t>
            </a:r>
            <a:r>
              <a:rPr dirty="0" err="1"/>
              <a:t>localizar</a:t>
            </a:r>
            <a:r>
              <a:rPr dirty="0"/>
              <a:t> primero </a:t>
            </a:r>
            <a:r>
              <a:rPr dirty="0" err="1"/>
              <a:t>dónde</a:t>
            </a:r>
            <a:r>
              <a:rPr dirty="0"/>
              <a:t> se </a:t>
            </a:r>
            <a:r>
              <a:rPr dirty="0" err="1"/>
              <a:t>concentra</a:t>
            </a:r>
            <a:r>
              <a:rPr dirty="0"/>
              <a:t> el </a:t>
            </a:r>
            <a:r>
              <a:rPr dirty="0" err="1"/>
              <a:t>trabajo</a:t>
            </a:r>
            <a:r>
              <a:rPr dirty="0"/>
              <a:t> real y luego </a:t>
            </a:r>
            <a:r>
              <a:rPr dirty="0" err="1"/>
              <a:t>reconstruir</a:t>
            </a:r>
            <a:r>
              <a:rPr dirty="0"/>
              <a:t> </a:t>
            </a:r>
            <a:r>
              <a:rPr dirty="0" err="1"/>
              <a:t>por</a:t>
            </a:r>
            <a:r>
              <a:rPr dirty="0"/>
              <a:t> </a:t>
            </a:r>
            <a:r>
              <a:rPr dirty="0" err="1"/>
              <a:t>qué</a:t>
            </a:r>
            <a:r>
              <a:rPr dirty="0"/>
              <a:t> </a:t>
            </a:r>
            <a:r>
              <a:rPr dirty="0" err="1"/>
              <a:t>ocurrió</a:t>
            </a:r>
            <a:r>
              <a:rPr dirty="0"/>
              <a:t>.</a:t>
            </a:r>
          </a:p>
          <a:p>
            <a:endParaRPr dirty="0"/>
          </a:p>
          <a:p>
            <a:r>
              <a:rPr dirty="0" err="1"/>
              <a:t>Comparar</a:t>
            </a:r>
            <a:r>
              <a:rPr dirty="0"/>
              <a:t> </a:t>
            </a:r>
            <a:r>
              <a:rPr dirty="0" err="1"/>
              <a:t>estimadas</a:t>
            </a:r>
            <a:r>
              <a:rPr dirty="0"/>
              <a:t> vs. reales, </a:t>
            </a:r>
            <a:r>
              <a:rPr dirty="0" err="1"/>
              <a:t>filas</a:t>
            </a:r>
            <a:r>
              <a:rPr dirty="0"/>
              <a:t> </a:t>
            </a:r>
            <a:r>
              <a:rPr dirty="0" err="1"/>
              <a:t>procesadas</a:t>
            </a:r>
            <a:r>
              <a:rPr dirty="0"/>
              <a:t> vs. </a:t>
            </a:r>
            <a:r>
              <a:rPr dirty="0" err="1"/>
              <a:t>entregadas</a:t>
            </a:r>
            <a:r>
              <a:rPr dirty="0"/>
              <a:t>, loops, scans, joins, sorts, buffers y </a:t>
            </a:r>
            <a:r>
              <a:rPr dirty="0" err="1"/>
              <a:t>temporales</a:t>
            </a:r>
            <a:r>
              <a:rPr dirty="0"/>
              <a:t>.</a:t>
            </a:r>
          </a:p>
          <a:p>
            <a:endParaRPr dirty="0"/>
          </a:p>
          <a:p>
            <a:r>
              <a:rPr dirty="0" err="1"/>
              <a:t>Evitar</a:t>
            </a:r>
            <a:r>
              <a:rPr dirty="0"/>
              <a:t> </a:t>
            </a:r>
            <a:r>
              <a:rPr dirty="0" err="1"/>
              <a:t>una</a:t>
            </a:r>
            <a:r>
              <a:rPr dirty="0"/>
              <a:t> </a:t>
            </a:r>
            <a:r>
              <a:rPr dirty="0" err="1"/>
              <a:t>conclusión</a:t>
            </a:r>
            <a:r>
              <a:rPr dirty="0"/>
              <a:t> </a:t>
            </a:r>
            <a:r>
              <a:rPr dirty="0" err="1"/>
              <a:t>automática</a:t>
            </a:r>
            <a:r>
              <a:rPr dirty="0"/>
              <a:t> </a:t>
            </a:r>
            <a:r>
              <a:rPr dirty="0" err="1"/>
              <a:t>por</a:t>
            </a:r>
            <a:r>
              <a:rPr dirty="0"/>
              <a:t> la </a:t>
            </a:r>
            <a:r>
              <a:rPr dirty="0" err="1"/>
              <a:t>etiqueta</a:t>
            </a:r>
            <a:r>
              <a:rPr dirty="0"/>
              <a:t> del </a:t>
            </a:r>
            <a:r>
              <a:rPr dirty="0" err="1"/>
              <a:t>nodo</a:t>
            </a:r>
            <a:r>
              <a:rPr dirty="0"/>
              <a:t>: un scan </a:t>
            </a:r>
            <a:r>
              <a:rPr dirty="0" err="1"/>
              <a:t>puede</a:t>
            </a:r>
            <a:r>
              <a:rPr dirty="0"/>
              <a:t> ser </a:t>
            </a:r>
            <a:r>
              <a:rPr dirty="0" err="1"/>
              <a:t>correcto</a:t>
            </a:r>
            <a:r>
              <a:rPr dirty="0"/>
              <a:t> </a:t>
            </a:r>
            <a:r>
              <a:rPr dirty="0" err="1"/>
              <a:t>si</a:t>
            </a:r>
            <a:r>
              <a:rPr dirty="0"/>
              <a:t> se </a:t>
            </a:r>
            <a:r>
              <a:rPr dirty="0" err="1"/>
              <a:t>necesita</a:t>
            </a:r>
            <a:r>
              <a:rPr dirty="0"/>
              <a:t> gran </a:t>
            </a:r>
            <a:r>
              <a:rPr dirty="0" err="1"/>
              <a:t>parte</a:t>
            </a:r>
            <a:r>
              <a:rPr dirty="0"/>
              <a:t> de la </a:t>
            </a:r>
            <a:r>
              <a:rPr dirty="0" err="1"/>
              <a:t>tabla</a:t>
            </a:r>
            <a:r>
              <a:rPr dirty="0"/>
              <a:t>.</a:t>
            </a:r>
          </a:p>
          <a:p>
            <a:endParaRPr dirty="0"/>
          </a:p>
          <a:p>
            <a:r>
              <a:rPr dirty="0"/>
              <a:t>[Sources]</a:t>
            </a:r>
          </a:p>
          <a:p>
            <a:r>
              <a:rPr dirty="0"/>
              <a:t>- U2-1-Guia_JTP_Detectives_Plan_MySQL_PostgreSQL.pdf</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
Pedir siempre cantidades concretas: estimadas/reales, procesadas/entregadas, loops, buffers o temporales. En MySQL distinguir posible acceso de acceso usado; en PostgreSQL diferenciar condición de índice y filtro posterior.
[Sources]
- U2-1-Guia_JTP_Detectives_Plan_MySQL_PostgreSQL.pdf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
Tres familias de diagnóstico de la Actividad 1 no empiezan por crear un índice: estadísticas desactualizadas, funciones sobre columnas indexadas y ordenamientos que derraman a disco.
[Sources]
- U2-1-Guia_JTP_Detectives_Plan_MySQL_PostgreSQL.pdf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 mantenimiento forma parte del diseño. VACUUM permite reutilizar espacio de versiones muertas y ANALYZE actualiza información para el optimizador. Preguntar qué evidencia indicaría bloat, estadísticas viejas o un índice que ya no justifica su costo.</a:t>
            </a:r>
          </a:p>
          <a:p>
            <a:endParaRPr/>
          </a:p>
          <a:p>
            <a:r>
              <a:t>[Sources]</a:t>
            </a:r>
          </a:p>
          <a:p>
            <a:r>
              <a:t>- https://www.postgresql.org/docs/current/routine-vacuuming.html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Usar la diapositiva como checklist antes de las actividades. Los grupos deben partir de una señal concreta y recién después elegir la intervención. Una mejora que no corrige la causa o no puede verificarse no está suficientemente defendida.</a:t>
            </a:r>
          </a:p>
          <a:p>
            <a:endParaRPr/>
          </a:p>
          <a:p>
            <a:r>
              <a:t>[Sources]</a:t>
            </a:r>
          </a:p>
          <a:p>
            <a:r>
              <a:t>- https://www.postgresql.org/docs/current/routine-vacuuming.html</a:t>
            </a:r>
          </a:p>
          <a:p>
            <a:r>
              <a:t>- https://www.postgresql.org/docs/current/sql-createstatistics.html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
Cierre sugerido: una mejora local puede empeorar el diseño global porque índices, particiones y estadísticas afectan lectura, escritura, almacenamiento, mantenimiento y ciclo de vida.
[Sources]
- Guia_JTP_Actividad_2_Practica_Motores_2026.pdf
[/Sources]</a:t>
            </a:r>
          </a:p>
          <a:p>
            <a:r>
              <a:t>
Cierre docente: recuperar que los índices y particiones son solo dos palancas. Tipos, claves, materialización, concurrencia y mantenimiento también deben justificarse con la carga y verificarse con evidencia.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
La entrega es grupal. Se evalúa diagnóstico con al menos dos evidencias, mejora prioritaria, forma de verificarla y costo o límite. La mejora puede ser SQL, estadísticas, memoria o diseño físico.
[Sources]
- U2-1-Guia_JTP_Detectives_Plan_MySQL_PostgreSQL.pdf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
MySQL centra la batalla en beneficio de lectura frente a costo de 10.000 INSERT. PostgreSQL compara heap/particionado, pruning, índice complementario y retiro de períodos. Una hipótesis refutada también es un resultado válido.
[Sources]
- Guia_JTP_Actividad_2_Practica_Motores_2026.pdf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
Solicitar la hipótesis antes de habilitar el DDL. Mantener parámetros, ejecutar tres veces, usar mediana, conservar planes y no limpiar cachés. Comparar más de un indicador.
[Sources]
- Guia_JTP_Actividad_2_Practica_Motores_2026.pdf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a:buNone/>
        <a:defRPr sz="4400">
          <a:solidFill>
            <a:schemeClr val="tx1"/>
          </a:solidFill>
          <a:latin typeface="+mj-lt"/>
          <a:ea typeface="+mj-lt"/>
          <a:cs typeface="+mj-lt"/>
        </a:defRPr>
      </a:lvl1pPr>
    </p:titleStyle>
    <p:bodyStyle>
      <a:lvl1pPr marL="342900" indent="-342900" algn="l">
        <a:buChar char="•"/>
        <a:defRPr sz="3200">
          <a:solidFill>
            <a:schemeClr val="tx1"/>
          </a:solidFill>
          <a:latin typeface="+mn-lt"/>
          <a:ea typeface="+mn-lt"/>
          <a:cs typeface="+mn-lt"/>
        </a:defRPr>
      </a:lvl1pPr>
      <a:lvl2pPr marL="742950" indent="-285750" algn="l">
        <a:buChar char="–"/>
        <a:defRPr sz="2800">
          <a:solidFill>
            <a:schemeClr val="tx1"/>
          </a:solidFill>
          <a:latin typeface="+mn-lt"/>
          <a:ea typeface="+mn-lt"/>
          <a:cs typeface="+mn-lt"/>
        </a:defRPr>
      </a:lvl2pPr>
      <a:lvl3pPr marL="1143000" indent="-228600" algn="l">
        <a:buChar char="•"/>
        <a:defRPr sz="2400">
          <a:solidFill>
            <a:schemeClr val="tx1"/>
          </a:solidFill>
          <a:latin typeface="+mn-lt"/>
          <a:ea typeface="+mn-lt"/>
          <a:cs typeface="+mn-lt"/>
        </a:defRPr>
      </a:lvl3pPr>
      <a:lvl4pPr marL="1600200" indent="-228600" algn="l">
        <a:buChar char="–"/>
        <a:defRPr sz="2000">
          <a:solidFill>
            <a:schemeClr val="tx1"/>
          </a:solidFill>
          <a:latin typeface="+mn-lt"/>
          <a:ea typeface="+mn-lt"/>
          <a:cs typeface="+mn-lt"/>
        </a:defRPr>
      </a:lvl4pPr>
      <a:lvl5pPr marL="2057400" indent="-228600" algn="l">
        <a:buChar char="»"/>
        <a:defRPr sz="2000">
          <a:solidFill>
            <a:schemeClr val="tx1"/>
          </a:solidFill>
          <a:latin typeface="+mn-lt"/>
          <a:ea typeface="+mn-lt"/>
          <a:cs typeface="+mn-lt"/>
        </a:defRPr>
      </a:lvl5pPr>
      <a:lvl6pPr marL="2514600" indent="-228600" algn="l">
        <a:buChar char="•"/>
        <a:defRPr sz="2000">
          <a:solidFill>
            <a:schemeClr val="tx1"/>
          </a:solidFill>
          <a:latin typeface="+mn-lt"/>
          <a:ea typeface="+mn-lt"/>
          <a:cs typeface="+mn-lt"/>
        </a:defRPr>
      </a:lvl6pPr>
      <a:lvl7pPr marL="2971800" indent="-228600" algn="l">
        <a:buChar char="•"/>
        <a:defRPr sz="2000">
          <a:solidFill>
            <a:schemeClr val="tx1"/>
          </a:solidFill>
          <a:latin typeface="+mn-lt"/>
          <a:ea typeface="+mn-lt"/>
          <a:cs typeface="+mn-lt"/>
        </a:defRPr>
      </a:lvl7pPr>
      <a:lvl8pPr marL="3429000" indent="-228600" algn="l">
        <a:buChar char="•"/>
        <a:defRPr sz="2000">
          <a:solidFill>
            <a:schemeClr val="tx1"/>
          </a:solidFill>
          <a:latin typeface="+mn-lt"/>
          <a:ea typeface="+mn-lt"/>
          <a:cs typeface="+mn-lt"/>
        </a:defRPr>
      </a:lvl8pPr>
      <a:lvl9pPr marL="3886200" indent="-228600" algn="l">
        <a:buChar char="•"/>
        <a:defRPr sz="20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AD22124-C7DC-4DB9-B30C-8043CE727E60}"/>
              </a:ext>
            </a:extLst>
          </p:cNvPr>
          <p:cNvSpPr>
            <a:spLocks noGrp="1"/>
          </p:cNvSpPr>
          <p:nvPr/>
        </p:nvSpPr>
        <p:spPr>
          <a:xfrm>
            <a:off x="0" y="0"/>
            <a:ext cx="12191695" cy="6858000"/>
          </a:xfrm>
          <a:prstGeom prst="rect">
            <a:avLst/>
          </a:prstGeom>
          <a:solidFill>
            <a:srgbClr val="F7FAFD"/>
          </a:solidFill>
          <a:ln w="12700">
            <a:solidFill>
              <a:srgbClr val="F7FAFD"/>
            </a:solidFill>
            <a:prstDash val="solid"/>
          </a:ln>
        </p:spPr>
        <p:txBody>
          <a:bodyPr/>
          <a:lstStyle/>
          <a:p>
            <a:endParaRPr/>
          </a:p>
        </p:txBody>
      </p:sp>
      <p:sp>
        <p:nvSpPr>
          <p:cNvPr id="3" name="Shape 1">
            <a:extLst>
              <a:ext uri="{FF2B5EF4-FFF2-40B4-BE49-F238E27FC236}">
                <a16:creationId xmlns:a16="http://schemas.microsoft.com/office/drawing/2014/main" id="{33D0BBBE-F3CE-4C85-81EC-3D5F439303A9}"/>
              </a:ext>
            </a:extLst>
          </p:cNvPr>
          <p:cNvSpPr>
            <a:spLocks noGrp="1"/>
          </p:cNvSpPr>
          <p:nvPr/>
        </p:nvSpPr>
        <p:spPr>
          <a:xfrm>
            <a:off x="0" y="6263640"/>
            <a:ext cx="12191695" cy="594360"/>
          </a:xfrm>
          <a:prstGeom prst="rect">
            <a:avLst/>
          </a:prstGeom>
          <a:solidFill>
            <a:srgbClr val="DDF5FB"/>
          </a:solidFill>
          <a:ln w="12700">
            <a:solidFill>
              <a:srgbClr val="DDF5FB"/>
            </a:solidFill>
            <a:prstDash val="solid"/>
          </a:ln>
        </p:spPr>
        <p:txBody>
          <a:bodyPr/>
          <a:lstStyle/>
          <a:p>
            <a:endParaRPr/>
          </a:p>
        </p:txBody>
      </p:sp>
      <p:sp>
        <p:nvSpPr>
          <p:cNvPr id="4" name="Shape 2">
            <a:extLst>
              <a:ext uri="{FF2B5EF4-FFF2-40B4-BE49-F238E27FC236}">
                <a16:creationId xmlns:a16="http://schemas.microsoft.com/office/drawing/2014/main" id="{E58E01CD-289D-4191-A709-A326EE042FD5}"/>
              </a:ext>
            </a:extLst>
          </p:cNvPr>
          <p:cNvSpPr>
            <a:spLocks noGrp="1"/>
          </p:cNvSpPr>
          <p:nvPr/>
        </p:nvSpPr>
        <p:spPr>
          <a:xfrm>
            <a:off x="7040880" y="-411480"/>
            <a:ext cx="4389120" cy="2926080"/>
          </a:xfrm>
          <a:prstGeom prst="arc">
            <a:avLst/>
          </a:prstGeom>
          <a:noFill/>
          <a:ln w="25400">
            <a:solidFill>
              <a:srgbClr val="BDECF5">
                <a:alpha val="65000"/>
              </a:srgbClr>
            </a:solidFill>
            <a:prstDash val="solid"/>
          </a:ln>
        </p:spPr>
        <p:txBody>
          <a:bodyPr/>
          <a:lstStyle/>
          <a:p>
            <a:endParaRPr/>
          </a:p>
        </p:txBody>
      </p:sp>
      <p:sp>
        <p:nvSpPr>
          <p:cNvPr id="5" name="Text 3">
            <a:extLst>
              <a:ext uri="{FF2B5EF4-FFF2-40B4-BE49-F238E27FC236}">
                <a16:creationId xmlns:a16="http://schemas.microsoft.com/office/drawing/2014/main" id="{3AE6F1A9-6F89-4C11-B81F-4163B1C6D063}"/>
              </a:ext>
            </a:extLst>
          </p:cNvPr>
          <p:cNvSpPr>
            <a:spLocks noGrp="1"/>
          </p:cNvSpPr>
          <p:nvPr/>
        </p:nvSpPr>
        <p:spPr>
          <a:xfrm>
            <a:off x="685800" y="411480"/>
            <a:ext cx="822960" cy="320040"/>
          </a:xfrm>
          <a:prstGeom prst="rect">
            <a:avLst/>
          </a:prstGeom>
          <a:noFill/>
        </p:spPr>
        <p:txBody>
          <a:bodyPr wrap="square" lIns="0" tIns="0" rIns="0" bIns="0" anchor="ctr"/>
          <a:lstStyle/>
          <a:p>
            <a:pPr marL="0" indent="0">
              <a:buNone/>
            </a:pPr>
            <a:r>
              <a:rPr sz="2000" b="1">
                <a:solidFill>
                  <a:srgbClr val="07245A"/>
                </a:solidFill>
              </a:rPr>
              <a:t>UTN</a:t>
            </a:r>
          </a:p>
        </p:txBody>
      </p:sp>
      <p:sp>
        <p:nvSpPr>
          <p:cNvPr id="6" name="Text 4">
            <a:extLst>
              <a:ext uri="{FF2B5EF4-FFF2-40B4-BE49-F238E27FC236}">
                <a16:creationId xmlns:a16="http://schemas.microsoft.com/office/drawing/2014/main" id="{A7FA06D6-1EDD-42ED-B0D1-6317AE9DD0D7}"/>
              </a:ext>
            </a:extLst>
          </p:cNvPr>
          <p:cNvSpPr>
            <a:spLocks noGrp="1"/>
          </p:cNvSpPr>
          <p:nvPr/>
        </p:nvSpPr>
        <p:spPr>
          <a:xfrm>
            <a:off x="685800" y="713232"/>
            <a:ext cx="822960" cy="228600"/>
          </a:xfrm>
          <a:prstGeom prst="rect">
            <a:avLst/>
          </a:prstGeom>
          <a:noFill/>
        </p:spPr>
        <p:txBody>
          <a:bodyPr wrap="square" lIns="0" tIns="0" rIns="0" bIns="0" anchor="ctr"/>
          <a:lstStyle/>
          <a:p>
            <a:pPr marL="0" indent="0">
              <a:buNone/>
            </a:pPr>
            <a:r>
              <a:rPr sz="1150" b="1">
                <a:solidFill>
                  <a:srgbClr val="17B7D7"/>
                </a:solidFill>
              </a:rPr>
              <a:t>FRRe</a:t>
            </a:r>
          </a:p>
        </p:txBody>
      </p:sp>
      <p:sp>
        <p:nvSpPr>
          <p:cNvPr id="7" name="Text 5">
            <a:extLst>
              <a:ext uri="{FF2B5EF4-FFF2-40B4-BE49-F238E27FC236}">
                <a16:creationId xmlns:a16="http://schemas.microsoft.com/office/drawing/2014/main" id="{FD0C5CFA-79A7-41E5-8A1C-EFDD753890F5}"/>
              </a:ext>
            </a:extLst>
          </p:cNvPr>
          <p:cNvSpPr>
            <a:spLocks noGrp="1"/>
          </p:cNvSpPr>
          <p:nvPr/>
        </p:nvSpPr>
        <p:spPr>
          <a:xfrm>
            <a:off x="685800" y="1280160"/>
            <a:ext cx="5760720" cy="2286000"/>
          </a:xfrm>
          <a:prstGeom prst="rect">
            <a:avLst/>
          </a:prstGeom>
          <a:noFill/>
        </p:spPr>
        <p:txBody>
          <a:bodyPr wrap="square" lIns="0" tIns="0" rIns="0" bIns="0" anchor="ctr">
            <a:normAutofit/>
          </a:bodyPr>
          <a:lstStyle/>
          <a:p>
            <a:pPr marL="0" indent="0">
              <a:buNone/>
            </a:pPr>
            <a:r>
              <a:rPr sz="4600" b="1">
                <a:solidFill>
                  <a:srgbClr val="07245A"/>
                </a:solidFill>
              </a:rPr>
              <a:t>Sistemas de</a:t>
            </a:r>
          </a:p>
          <a:p>
            <a:pPr marL="0" indent="0">
              <a:buNone/>
            </a:pPr>
            <a:r>
              <a:rPr sz="4600" b="1">
                <a:solidFill>
                  <a:srgbClr val="07245A"/>
                </a:solidFill>
              </a:rPr>
              <a:t>Gestión de</a:t>
            </a:r>
          </a:p>
          <a:p>
            <a:pPr marL="0" indent="0">
              <a:buNone/>
            </a:pPr>
            <a:r>
              <a:rPr sz="4600" b="1">
                <a:solidFill>
                  <a:srgbClr val="07245A"/>
                </a:solidFill>
              </a:rPr>
              <a:t>Bases de Datos</a:t>
            </a:r>
          </a:p>
        </p:txBody>
      </p:sp>
      <p:sp>
        <p:nvSpPr>
          <p:cNvPr id="8" name="Text 6">
            <a:extLst>
              <a:ext uri="{FF2B5EF4-FFF2-40B4-BE49-F238E27FC236}">
                <a16:creationId xmlns:a16="http://schemas.microsoft.com/office/drawing/2014/main" id="{CFF6F4C8-955B-429E-8F8C-B525696C7983}"/>
              </a:ext>
            </a:extLst>
          </p:cNvPr>
          <p:cNvSpPr>
            <a:spLocks noGrp="1"/>
          </p:cNvSpPr>
          <p:nvPr/>
        </p:nvSpPr>
        <p:spPr>
          <a:xfrm>
            <a:off x="713232" y="3703320"/>
            <a:ext cx="5669280" cy="320040"/>
          </a:xfrm>
          <a:prstGeom prst="rect">
            <a:avLst/>
          </a:prstGeom>
          <a:noFill/>
        </p:spPr>
        <p:txBody>
          <a:bodyPr wrap="square" lIns="0" tIns="0" rIns="0" bIns="0" anchor="ctr"/>
          <a:lstStyle/>
          <a:p>
            <a:pPr marL="0" indent="0">
              <a:buNone/>
            </a:pPr>
            <a:r>
              <a:rPr sz="1800" b="1">
                <a:solidFill>
                  <a:srgbClr val="0B5CAD"/>
                </a:solidFill>
              </a:rPr>
              <a:t>Unidad 2 · Diseño físico y rendimiento</a:t>
            </a:r>
          </a:p>
        </p:txBody>
      </p:sp>
      <p:sp>
        <p:nvSpPr>
          <p:cNvPr id="9" name="Shape 7">
            <a:extLst>
              <a:ext uri="{FF2B5EF4-FFF2-40B4-BE49-F238E27FC236}">
                <a16:creationId xmlns:a16="http://schemas.microsoft.com/office/drawing/2014/main" id="{EE03BFBC-2DCC-4C98-B339-4CF9C7164BFF}"/>
              </a:ext>
            </a:extLst>
          </p:cNvPr>
          <p:cNvSpPr>
            <a:spLocks noGrp="1"/>
          </p:cNvSpPr>
          <p:nvPr/>
        </p:nvSpPr>
        <p:spPr>
          <a:xfrm>
            <a:off x="731520" y="4133088"/>
            <a:ext cx="685800" cy="0"/>
          </a:xfrm>
          <a:prstGeom prst="line">
            <a:avLst/>
          </a:prstGeom>
          <a:noFill/>
          <a:ln w="31750">
            <a:solidFill>
              <a:srgbClr val="17B7D7"/>
            </a:solidFill>
            <a:prstDash val="solid"/>
          </a:ln>
        </p:spPr>
        <p:txBody>
          <a:bodyPr/>
          <a:lstStyle/>
          <a:p>
            <a:endParaRPr/>
          </a:p>
        </p:txBody>
      </p:sp>
      <p:sp>
        <p:nvSpPr>
          <p:cNvPr id="10" name="Text 8">
            <a:extLst>
              <a:ext uri="{FF2B5EF4-FFF2-40B4-BE49-F238E27FC236}">
                <a16:creationId xmlns:a16="http://schemas.microsoft.com/office/drawing/2014/main" id="{31D9D6D7-3ECE-4145-A7CF-795F7DDFD841}"/>
              </a:ext>
            </a:extLst>
          </p:cNvPr>
          <p:cNvSpPr>
            <a:spLocks noGrp="1"/>
          </p:cNvSpPr>
          <p:nvPr/>
        </p:nvSpPr>
        <p:spPr>
          <a:xfrm>
            <a:off x="713232" y="4370832"/>
            <a:ext cx="5669280" cy="566928"/>
          </a:xfrm>
          <a:prstGeom prst="rect">
            <a:avLst/>
          </a:prstGeom>
          <a:noFill/>
        </p:spPr>
        <p:txBody>
          <a:bodyPr wrap="square" lIns="0" tIns="0" rIns="0" bIns="0" anchor="ctr">
            <a:normAutofit fontScale="92500"/>
          </a:bodyPr>
          <a:lstStyle/>
          <a:p>
            <a:pPr marL="0" indent="0">
              <a:buNone/>
            </a:pPr>
            <a:r>
              <a:rPr sz="1700">
                <a:solidFill>
                  <a:srgbClr val="17212B"/>
                </a:solidFill>
              </a:rPr>
              <a:t>De la carga de trabajo a una implementación física verificable</a:t>
            </a:r>
          </a:p>
          <a:p>
            <a:pPr marL="0" indent="0">
              <a:buNone/>
            </a:pPr>
            <a:r>
              <a:rPr sz="1700">
                <a:solidFill>
                  <a:srgbClr val="17212B"/>
                </a:solidFill>
              </a:rPr>
              <a:t>Enfoque multiplataforma · 2026</a:t>
            </a:r>
          </a:p>
        </p:txBody>
      </p:sp>
      <p:sp>
        <p:nvSpPr>
          <p:cNvPr id="11" name="Shape 9">
            <a:extLst>
              <a:ext uri="{FF2B5EF4-FFF2-40B4-BE49-F238E27FC236}">
                <a16:creationId xmlns:a16="http://schemas.microsoft.com/office/drawing/2014/main" id="{BFC91125-4D78-4011-9DBB-0BE998330E07}"/>
              </a:ext>
            </a:extLst>
          </p:cNvPr>
          <p:cNvSpPr>
            <a:spLocks noGrp="1"/>
          </p:cNvSpPr>
          <p:nvPr/>
        </p:nvSpPr>
        <p:spPr>
          <a:xfrm>
            <a:off x="7406640" y="1508760"/>
            <a:ext cx="1913382" cy="1062990"/>
          </a:xfrm>
          <a:prstGeom prst="can">
            <a:avLst/>
          </a:prstGeom>
          <a:solidFill>
            <a:srgbClr val="F6FBFF"/>
          </a:solidFill>
          <a:ln w="15240">
            <a:solidFill>
              <a:srgbClr val="0B5CAD"/>
            </a:solidFill>
            <a:prstDash val="solid"/>
          </a:ln>
        </p:spPr>
        <p:txBody>
          <a:bodyPr/>
          <a:lstStyle/>
          <a:p>
            <a:endParaRPr/>
          </a:p>
        </p:txBody>
      </p:sp>
      <p:sp>
        <p:nvSpPr>
          <p:cNvPr id="12" name="Shape 10">
            <a:extLst>
              <a:ext uri="{FF2B5EF4-FFF2-40B4-BE49-F238E27FC236}">
                <a16:creationId xmlns:a16="http://schemas.microsoft.com/office/drawing/2014/main" id="{C1419002-C987-4D51-9B70-FB702B69269F}"/>
              </a:ext>
            </a:extLst>
          </p:cNvPr>
          <p:cNvSpPr>
            <a:spLocks noGrp="1"/>
          </p:cNvSpPr>
          <p:nvPr/>
        </p:nvSpPr>
        <p:spPr>
          <a:xfrm>
            <a:off x="7406640" y="1962302"/>
            <a:ext cx="1913382" cy="1913382"/>
          </a:xfrm>
          <a:prstGeom prst="rect">
            <a:avLst/>
          </a:prstGeom>
          <a:solidFill>
            <a:srgbClr val="D7ECFB"/>
          </a:solidFill>
          <a:ln w="15240">
            <a:solidFill>
              <a:srgbClr val="0B5CAD"/>
            </a:solidFill>
            <a:prstDash val="solid"/>
          </a:ln>
        </p:spPr>
        <p:txBody>
          <a:bodyPr/>
          <a:lstStyle/>
          <a:p>
            <a:endParaRPr/>
          </a:p>
        </p:txBody>
      </p:sp>
      <p:sp>
        <p:nvSpPr>
          <p:cNvPr id="13" name="Shape 11">
            <a:extLst>
              <a:ext uri="{FF2B5EF4-FFF2-40B4-BE49-F238E27FC236}">
                <a16:creationId xmlns:a16="http://schemas.microsoft.com/office/drawing/2014/main" id="{2E60D02B-A0FD-4FF2-9A50-180C84C55CCC}"/>
              </a:ext>
            </a:extLst>
          </p:cNvPr>
          <p:cNvSpPr>
            <a:spLocks noGrp="1"/>
          </p:cNvSpPr>
          <p:nvPr/>
        </p:nvSpPr>
        <p:spPr>
          <a:xfrm>
            <a:off x="7406640" y="2926080"/>
            <a:ext cx="1913382" cy="1062990"/>
          </a:xfrm>
          <a:prstGeom prst="can">
            <a:avLst/>
          </a:prstGeom>
          <a:solidFill>
            <a:srgbClr val="C9E5F7"/>
          </a:solidFill>
          <a:ln w="15240">
            <a:solidFill>
              <a:srgbClr val="0B5CAD"/>
            </a:solidFill>
            <a:prstDash val="solid"/>
          </a:ln>
        </p:spPr>
        <p:txBody>
          <a:bodyPr/>
          <a:lstStyle/>
          <a:p>
            <a:endParaRPr/>
          </a:p>
        </p:txBody>
      </p:sp>
      <p:sp>
        <p:nvSpPr>
          <p:cNvPr id="14" name="Shape 12">
            <a:extLst>
              <a:ext uri="{FF2B5EF4-FFF2-40B4-BE49-F238E27FC236}">
                <a16:creationId xmlns:a16="http://schemas.microsoft.com/office/drawing/2014/main" id="{21E51E74-08B6-4854-8583-21033B558D72}"/>
              </a:ext>
            </a:extLst>
          </p:cNvPr>
          <p:cNvSpPr>
            <a:spLocks noGrp="1"/>
          </p:cNvSpPr>
          <p:nvPr/>
        </p:nvSpPr>
        <p:spPr>
          <a:xfrm>
            <a:off x="7548372" y="2571750"/>
            <a:ext cx="1629918" cy="0"/>
          </a:xfrm>
          <a:prstGeom prst="line">
            <a:avLst/>
          </a:prstGeom>
          <a:noFill/>
          <a:ln w="22860">
            <a:solidFill>
              <a:srgbClr val="17B7D7"/>
            </a:solidFill>
            <a:prstDash val="solid"/>
          </a:ln>
        </p:spPr>
        <p:txBody>
          <a:bodyPr/>
          <a:lstStyle/>
          <a:p>
            <a:endParaRPr/>
          </a:p>
        </p:txBody>
      </p:sp>
      <p:sp>
        <p:nvSpPr>
          <p:cNvPr id="15" name="Shape 13">
            <a:extLst>
              <a:ext uri="{FF2B5EF4-FFF2-40B4-BE49-F238E27FC236}">
                <a16:creationId xmlns:a16="http://schemas.microsoft.com/office/drawing/2014/main" id="{70821C08-D759-43E1-A765-FEDBF2AD5C81}"/>
              </a:ext>
            </a:extLst>
          </p:cNvPr>
          <p:cNvSpPr>
            <a:spLocks noGrp="1"/>
          </p:cNvSpPr>
          <p:nvPr/>
        </p:nvSpPr>
        <p:spPr>
          <a:xfrm>
            <a:off x="7548372" y="3138678"/>
            <a:ext cx="1629918" cy="0"/>
          </a:xfrm>
          <a:prstGeom prst="line">
            <a:avLst/>
          </a:prstGeom>
          <a:noFill/>
          <a:ln w="22860">
            <a:solidFill>
              <a:srgbClr val="17B7D7"/>
            </a:solidFill>
            <a:prstDash val="solid"/>
          </a:ln>
        </p:spPr>
        <p:txBody>
          <a:bodyPr/>
          <a:lstStyle/>
          <a:p>
            <a:endParaRPr/>
          </a:p>
        </p:txBody>
      </p:sp>
      <p:sp>
        <p:nvSpPr>
          <p:cNvPr id="16" name="Shape 14">
            <a:extLst>
              <a:ext uri="{FF2B5EF4-FFF2-40B4-BE49-F238E27FC236}">
                <a16:creationId xmlns:a16="http://schemas.microsoft.com/office/drawing/2014/main" id="{A5F849B1-40A5-487D-B89C-7E00DA188F90}"/>
              </a:ext>
            </a:extLst>
          </p:cNvPr>
          <p:cNvSpPr>
            <a:spLocks noGrp="1"/>
          </p:cNvSpPr>
          <p:nvPr/>
        </p:nvSpPr>
        <p:spPr>
          <a:xfrm>
            <a:off x="6102706" y="1622146"/>
            <a:ext cx="493776" cy="493776"/>
          </a:xfrm>
          <a:prstGeom prst="ellipse">
            <a:avLst/>
          </a:prstGeom>
          <a:solidFill>
            <a:srgbClr val="EAF8FC"/>
          </a:solidFill>
          <a:ln w="10160">
            <a:solidFill>
              <a:srgbClr val="BFE9F4"/>
            </a:solidFill>
            <a:prstDash val="solid"/>
          </a:ln>
        </p:spPr>
        <p:txBody>
          <a:bodyPr/>
          <a:lstStyle/>
          <a:p>
            <a:endParaRPr/>
          </a:p>
        </p:txBody>
      </p:sp>
      <p:sp>
        <p:nvSpPr>
          <p:cNvPr id="17" name="Text 15">
            <a:extLst>
              <a:ext uri="{FF2B5EF4-FFF2-40B4-BE49-F238E27FC236}">
                <a16:creationId xmlns:a16="http://schemas.microsoft.com/office/drawing/2014/main" id="{1D7C7F83-D52D-434A-8110-94001F4A5321}"/>
              </a:ext>
            </a:extLst>
          </p:cNvPr>
          <p:cNvSpPr>
            <a:spLocks noGrp="1"/>
          </p:cNvSpPr>
          <p:nvPr/>
        </p:nvSpPr>
        <p:spPr>
          <a:xfrm>
            <a:off x="6102706" y="1695298"/>
            <a:ext cx="493776" cy="274320"/>
          </a:xfrm>
          <a:prstGeom prst="rect">
            <a:avLst/>
          </a:prstGeom>
          <a:noFill/>
        </p:spPr>
        <p:txBody>
          <a:bodyPr wrap="square" lIns="0" tIns="0" rIns="0" bIns="0" anchor="ctr"/>
          <a:lstStyle/>
          <a:p>
            <a:pPr marL="0" indent="0" algn="ctr">
              <a:buNone/>
            </a:pPr>
            <a:r>
              <a:rPr sz="1650">
                <a:solidFill>
                  <a:srgbClr val="0B5CAD"/>
                </a:solidFill>
              </a:rPr>
              <a:t>DDL</a:t>
            </a:r>
          </a:p>
        </p:txBody>
      </p:sp>
      <p:sp>
        <p:nvSpPr>
          <p:cNvPr id="18" name="Text 16">
            <a:extLst>
              <a:ext uri="{FF2B5EF4-FFF2-40B4-BE49-F238E27FC236}">
                <a16:creationId xmlns:a16="http://schemas.microsoft.com/office/drawing/2014/main" id="{9210FE40-DEE2-419D-9A5A-1C6F581787B7}"/>
              </a:ext>
            </a:extLst>
          </p:cNvPr>
          <p:cNvSpPr>
            <a:spLocks noGrp="1"/>
          </p:cNvSpPr>
          <p:nvPr/>
        </p:nvSpPr>
        <p:spPr>
          <a:xfrm>
            <a:off x="5874106" y="2189074"/>
            <a:ext cx="960120" cy="256032"/>
          </a:xfrm>
          <a:prstGeom prst="rect">
            <a:avLst/>
          </a:prstGeom>
          <a:noFill/>
        </p:spPr>
        <p:txBody>
          <a:bodyPr wrap="square" lIns="0" tIns="0" rIns="0" bIns="0" anchor="ctr">
            <a:normAutofit/>
          </a:bodyPr>
          <a:lstStyle/>
          <a:p>
            <a:pPr marL="0" indent="0" algn="ctr">
              <a:buNone/>
            </a:pPr>
            <a:r>
              <a:rPr sz="1000">
                <a:solidFill>
                  <a:srgbClr val="34495E"/>
                </a:solidFill>
              </a:rPr>
              <a:t>SQL</a:t>
            </a:r>
          </a:p>
        </p:txBody>
      </p:sp>
      <p:sp>
        <p:nvSpPr>
          <p:cNvPr id="19" name="Shape 17">
            <a:extLst>
              <a:ext uri="{FF2B5EF4-FFF2-40B4-BE49-F238E27FC236}">
                <a16:creationId xmlns:a16="http://schemas.microsoft.com/office/drawing/2014/main" id="{3C53DC68-076E-4FBF-9B6B-C4207C9EEF9E}"/>
              </a:ext>
            </a:extLst>
          </p:cNvPr>
          <p:cNvSpPr>
            <a:spLocks noGrp="1"/>
          </p:cNvSpPr>
          <p:nvPr/>
        </p:nvSpPr>
        <p:spPr>
          <a:xfrm>
            <a:off x="9745218" y="1593799"/>
            <a:ext cx="493776" cy="493776"/>
          </a:xfrm>
          <a:prstGeom prst="ellipse">
            <a:avLst/>
          </a:prstGeom>
          <a:solidFill>
            <a:srgbClr val="EAF8FC"/>
          </a:solidFill>
          <a:ln w="10160">
            <a:solidFill>
              <a:srgbClr val="BFE9F4"/>
            </a:solidFill>
            <a:prstDash val="solid"/>
          </a:ln>
        </p:spPr>
        <p:txBody>
          <a:bodyPr/>
          <a:lstStyle/>
          <a:p>
            <a:endParaRPr/>
          </a:p>
        </p:txBody>
      </p:sp>
      <p:sp>
        <p:nvSpPr>
          <p:cNvPr id="20" name="Text 18">
            <a:extLst>
              <a:ext uri="{FF2B5EF4-FFF2-40B4-BE49-F238E27FC236}">
                <a16:creationId xmlns:a16="http://schemas.microsoft.com/office/drawing/2014/main" id="{5621E952-A738-462F-963B-FE3BCE6865A5}"/>
              </a:ext>
            </a:extLst>
          </p:cNvPr>
          <p:cNvSpPr>
            <a:spLocks noGrp="1"/>
          </p:cNvSpPr>
          <p:nvPr/>
        </p:nvSpPr>
        <p:spPr>
          <a:xfrm>
            <a:off x="9745218" y="1666951"/>
            <a:ext cx="493776" cy="274320"/>
          </a:xfrm>
          <a:prstGeom prst="rect">
            <a:avLst/>
          </a:prstGeom>
          <a:noFill/>
        </p:spPr>
        <p:txBody>
          <a:bodyPr wrap="square" lIns="0" tIns="0" rIns="0" bIns="0" anchor="ctr"/>
          <a:lstStyle/>
          <a:p>
            <a:pPr marL="0" indent="0" algn="ctr">
              <a:buNone/>
            </a:pPr>
            <a:r>
              <a:rPr sz="1650">
                <a:solidFill>
                  <a:srgbClr val="0B5CAD"/>
                </a:solidFill>
              </a:rPr>
              <a:t>{}</a:t>
            </a:r>
          </a:p>
        </p:txBody>
      </p:sp>
      <p:sp>
        <p:nvSpPr>
          <p:cNvPr id="21" name="Text 19">
            <a:extLst>
              <a:ext uri="{FF2B5EF4-FFF2-40B4-BE49-F238E27FC236}">
                <a16:creationId xmlns:a16="http://schemas.microsoft.com/office/drawing/2014/main" id="{1C882107-1502-44EB-B822-7E305F47D3AC}"/>
              </a:ext>
            </a:extLst>
          </p:cNvPr>
          <p:cNvSpPr>
            <a:spLocks noGrp="1"/>
          </p:cNvSpPr>
          <p:nvPr/>
        </p:nvSpPr>
        <p:spPr>
          <a:xfrm>
            <a:off x="9516618" y="2160727"/>
            <a:ext cx="960120" cy="256032"/>
          </a:xfrm>
          <a:prstGeom prst="rect">
            <a:avLst/>
          </a:prstGeom>
          <a:noFill/>
        </p:spPr>
        <p:txBody>
          <a:bodyPr wrap="square" lIns="0" tIns="0" rIns="0" bIns="0" anchor="ctr">
            <a:normAutofit/>
          </a:bodyPr>
          <a:lstStyle/>
          <a:p>
            <a:pPr marL="0" indent="0" algn="ctr">
              <a:buNone/>
            </a:pPr>
            <a:r>
              <a:rPr sz="1000">
                <a:solidFill>
                  <a:srgbClr val="34495E"/>
                </a:solidFill>
              </a:rPr>
              <a:t>PLAN</a:t>
            </a:r>
          </a:p>
        </p:txBody>
      </p:sp>
      <p:sp>
        <p:nvSpPr>
          <p:cNvPr id="22" name="Shape 20">
            <a:extLst>
              <a:ext uri="{FF2B5EF4-FFF2-40B4-BE49-F238E27FC236}">
                <a16:creationId xmlns:a16="http://schemas.microsoft.com/office/drawing/2014/main" id="{754C767B-1EAC-4AD0-8955-C492B3F2286F}"/>
              </a:ext>
            </a:extLst>
          </p:cNvPr>
          <p:cNvSpPr>
            <a:spLocks noGrp="1"/>
          </p:cNvSpPr>
          <p:nvPr/>
        </p:nvSpPr>
        <p:spPr>
          <a:xfrm>
            <a:off x="9617659" y="3237890"/>
            <a:ext cx="493776" cy="493776"/>
          </a:xfrm>
          <a:prstGeom prst="ellipse">
            <a:avLst/>
          </a:prstGeom>
          <a:solidFill>
            <a:srgbClr val="EAF8FC"/>
          </a:solidFill>
          <a:ln w="10160">
            <a:solidFill>
              <a:srgbClr val="BFE9F4"/>
            </a:solidFill>
            <a:prstDash val="solid"/>
          </a:ln>
        </p:spPr>
        <p:txBody>
          <a:bodyPr/>
          <a:lstStyle/>
          <a:p>
            <a:endParaRPr/>
          </a:p>
        </p:txBody>
      </p:sp>
      <p:sp>
        <p:nvSpPr>
          <p:cNvPr id="23" name="Text 21">
            <a:extLst>
              <a:ext uri="{FF2B5EF4-FFF2-40B4-BE49-F238E27FC236}">
                <a16:creationId xmlns:a16="http://schemas.microsoft.com/office/drawing/2014/main" id="{17094EF6-064B-4D8C-9C4C-C5EA7CEA9239}"/>
              </a:ext>
            </a:extLst>
          </p:cNvPr>
          <p:cNvSpPr>
            <a:spLocks noGrp="1"/>
          </p:cNvSpPr>
          <p:nvPr/>
        </p:nvSpPr>
        <p:spPr>
          <a:xfrm>
            <a:off x="9617659" y="3311042"/>
            <a:ext cx="493776" cy="274320"/>
          </a:xfrm>
          <a:prstGeom prst="rect">
            <a:avLst/>
          </a:prstGeom>
          <a:noFill/>
        </p:spPr>
        <p:txBody>
          <a:bodyPr wrap="square" lIns="0" tIns="0" rIns="0" bIns="0" anchor="ctr"/>
          <a:lstStyle/>
          <a:p>
            <a:pPr marL="0" indent="0" algn="ctr">
              <a:buNone/>
            </a:pPr>
            <a:r>
              <a:rPr sz="1650">
                <a:solidFill>
                  <a:srgbClr val="0B5CAD"/>
                </a:solidFill>
              </a:rPr>
              <a:t>☁</a:t>
            </a:r>
          </a:p>
        </p:txBody>
      </p:sp>
      <p:sp>
        <p:nvSpPr>
          <p:cNvPr id="24" name="Text 22">
            <a:extLst>
              <a:ext uri="{FF2B5EF4-FFF2-40B4-BE49-F238E27FC236}">
                <a16:creationId xmlns:a16="http://schemas.microsoft.com/office/drawing/2014/main" id="{8FA85F47-E677-4177-B807-AA157FC19E60}"/>
              </a:ext>
            </a:extLst>
          </p:cNvPr>
          <p:cNvSpPr>
            <a:spLocks noGrp="1"/>
          </p:cNvSpPr>
          <p:nvPr/>
        </p:nvSpPr>
        <p:spPr>
          <a:xfrm>
            <a:off x="9389059" y="3804818"/>
            <a:ext cx="960120" cy="256032"/>
          </a:xfrm>
          <a:prstGeom prst="rect">
            <a:avLst/>
          </a:prstGeom>
          <a:noFill/>
        </p:spPr>
        <p:txBody>
          <a:bodyPr wrap="square" lIns="0" tIns="0" rIns="0" bIns="0" anchor="ctr">
            <a:normAutofit/>
          </a:bodyPr>
          <a:lstStyle/>
          <a:p>
            <a:pPr marL="0" indent="0" algn="ctr">
              <a:buNone/>
            </a:pPr>
            <a:r>
              <a:rPr sz="1000">
                <a:solidFill>
                  <a:srgbClr val="34495E"/>
                </a:solidFill>
              </a:rPr>
              <a:t>Partición</a:t>
            </a:r>
          </a:p>
        </p:txBody>
      </p:sp>
      <p:sp>
        <p:nvSpPr>
          <p:cNvPr id="25" name="Shape 23">
            <a:extLst>
              <a:ext uri="{FF2B5EF4-FFF2-40B4-BE49-F238E27FC236}">
                <a16:creationId xmlns:a16="http://schemas.microsoft.com/office/drawing/2014/main" id="{3EE4DFF7-9D50-47C7-81D0-38FA1A4833C7}"/>
              </a:ext>
            </a:extLst>
          </p:cNvPr>
          <p:cNvSpPr>
            <a:spLocks noGrp="1"/>
          </p:cNvSpPr>
          <p:nvPr/>
        </p:nvSpPr>
        <p:spPr>
          <a:xfrm>
            <a:off x="6159398" y="3280410"/>
            <a:ext cx="493776" cy="493776"/>
          </a:xfrm>
          <a:prstGeom prst="ellipse">
            <a:avLst/>
          </a:prstGeom>
          <a:solidFill>
            <a:srgbClr val="EAF8FC"/>
          </a:solidFill>
          <a:ln w="10160">
            <a:solidFill>
              <a:srgbClr val="BFE9F4"/>
            </a:solidFill>
            <a:prstDash val="solid"/>
          </a:ln>
        </p:spPr>
        <p:txBody>
          <a:bodyPr/>
          <a:lstStyle/>
          <a:p>
            <a:endParaRPr/>
          </a:p>
        </p:txBody>
      </p:sp>
      <p:sp>
        <p:nvSpPr>
          <p:cNvPr id="26" name="Text 24">
            <a:extLst>
              <a:ext uri="{FF2B5EF4-FFF2-40B4-BE49-F238E27FC236}">
                <a16:creationId xmlns:a16="http://schemas.microsoft.com/office/drawing/2014/main" id="{603A9FB6-F523-46A4-B24C-DB2CD84A2474}"/>
              </a:ext>
            </a:extLst>
          </p:cNvPr>
          <p:cNvSpPr>
            <a:spLocks noGrp="1"/>
          </p:cNvSpPr>
          <p:nvPr/>
        </p:nvSpPr>
        <p:spPr>
          <a:xfrm>
            <a:off x="6159398" y="3353562"/>
            <a:ext cx="493776" cy="274320"/>
          </a:xfrm>
          <a:prstGeom prst="rect">
            <a:avLst/>
          </a:prstGeom>
          <a:noFill/>
        </p:spPr>
        <p:txBody>
          <a:bodyPr wrap="square" lIns="0" tIns="0" rIns="0" bIns="0" anchor="ctr"/>
          <a:lstStyle/>
          <a:p>
            <a:pPr marL="0" indent="0" algn="ctr">
              <a:buNone/>
            </a:pPr>
            <a:r>
              <a:rPr sz="1650">
                <a:solidFill>
                  <a:srgbClr val="0B5CAD"/>
                </a:solidFill>
              </a:rPr>
              <a:t>▦</a:t>
            </a:r>
          </a:p>
        </p:txBody>
      </p:sp>
      <p:sp>
        <p:nvSpPr>
          <p:cNvPr id="27" name="Text 25">
            <a:extLst>
              <a:ext uri="{FF2B5EF4-FFF2-40B4-BE49-F238E27FC236}">
                <a16:creationId xmlns:a16="http://schemas.microsoft.com/office/drawing/2014/main" id="{FF573A53-A7E8-4EBD-8335-E22119FC168A}"/>
              </a:ext>
            </a:extLst>
          </p:cNvPr>
          <p:cNvSpPr>
            <a:spLocks noGrp="1"/>
          </p:cNvSpPr>
          <p:nvPr/>
        </p:nvSpPr>
        <p:spPr>
          <a:xfrm>
            <a:off x="5930798" y="3847338"/>
            <a:ext cx="960120" cy="256032"/>
          </a:xfrm>
          <a:prstGeom prst="rect">
            <a:avLst/>
          </a:prstGeom>
          <a:noFill/>
        </p:spPr>
        <p:txBody>
          <a:bodyPr wrap="square" lIns="0" tIns="0" rIns="0" bIns="0" anchor="ctr">
            <a:normAutofit/>
          </a:bodyPr>
          <a:lstStyle/>
          <a:p>
            <a:pPr marL="0" indent="0" algn="ctr">
              <a:buNone/>
            </a:pPr>
            <a:r>
              <a:rPr sz="1000">
                <a:solidFill>
                  <a:srgbClr val="34495E"/>
                </a:solidFill>
              </a:rPr>
              <a:t>Índices</a:t>
            </a:r>
          </a:p>
        </p:txBody>
      </p:sp>
      <p:sp>
        <p:nvSpPr>
          <p:cNvPr id="28" name="Shape 26">
            <a:extLst>
              <a:ext uri="{FF2B5EF4-FFF2-40B4-BE49-F238E27FC236}">
                <a16:creationId xmlns:a16="http://schemas.microsoft.com/office/drawing/2014/main" id="{30B9D23E-84C1-4D88-89B6-5F644F3F4403}"/>
              </a:ext>
            </a:extLst>
          </p:cNvPr>
          <p:cNvSpPr>
            <a:spLocks noGrp="1"/>
          </p:cNvSpPr>
          <p:nvPr/>
        </p:nvSpPr>
        <p:spPr>
          <a:xfrm>
            <a:off x="6868058" y="2004822"/>
            <a:ext cx="779526" cy="212598"/>
          </a:xfrm>
          <a:prstGeom prst="line">
            <a:avLst/>
          </a:prstGeom>
          <a:noFill/>
          <a:ln w="12700">
            <a:solidFill>
              <a:srgbClr val="17B7D7"/>
            </a:solidFill>
            <a:prstDash val="solid"/>
          </a:ln>
        </p:spPr>
        <p:txBody>
          <a:bodyPr/>
          <a:lstStyle/>
          <a:p>
            <a:endParaRPr/>
          </a:p>
        </p:txBody>
      </p:sp>
      <p:sp>
        <p:nvSpPr>
          <p:cNvPr id="29" name="Shape 27">
            <a:extLst>
              <a:ext uri="{FF2B5EF4-FFF2-40B4-BE49-F238E27FC236}">
                <a16:creationId xmlns:a16="http://schemas.microsoft.com/office/drawing/2014/main" id="{63B7113A-CB4F-491B-A5B7-9F01F7B7637B}"/>
              </a:ext>
            </a:extLst>
          </p:cNvPr>
          <p:cNvSpPr>
            <a:spLocks noGrp="1"/>
          </p:cNvSpPr>
          <p:nvPr/>
        </p:nvSpPr>
        <p:spPr>
          <a:xfrm>
            <a:off x="9320022" y="2004822"/>
            <a:ext cx="779526" cy="0"/>
          </a:xfrm>
          <a:prstGeom prst="line">
            <a:avLst/>
          </a:prstGeom>
          <a:noFill/>
          <a:ln w="12700">
            <a:solidFill>
              <a:srgbClr val="17B7D7"/>
            </a:solidFill>
            <a:prstDash val="solid"/>
          </a:ln>
        </p:spPr>
        <p:txBody>
          <a:bodyPr/>
          <a:lstStyle/>
          <a:p>
            <a:endParaRPr/>
          </a:p>
        </p:txBody>
      </p:sp>
      <p:sp>
        <p:nvSpPr>
          <p:cNvPr id="30" name="Shape 28">
            <a:extLst>
              <a:ext uri="{FF2B5EF4-FFF2-40B4-BE49-F238E27FC236}">
                <a16:creationId xmlns:a16="http://schemas.microsoft.com/office/drawing/2014/main" id="{FC0EF05E-4E49-42F3-B13E-511D76A4612D}"/>
              </a:ext>
            </a:extLst>
          </p:cNvPr>
          <p:cNvSpPr>
            <a:spLocks noGrp="1"/>
          </p:cNvSpPr>
          <p:nvPr/>
        </p:nvSpPr>
        <p:spPr>
          <a:xfrm>
            <a:off x="9320022" y="3322930"/>
            <a:ext cx="637794" cy="311810"/>
          </a:xfrm>
          <a:prstGeom prst="line">
            <a:avLst/>
          </a:prstGeom>
          <a:noFill/>
          <a:ln w="12700">
            <a:solidFill>
              <a:srgbClr val="17B7D7"/>
            </a:solidFill>
            <a:prstDash val="solid"/>
          </a:ln>
        </p:spPr>
        <p:txBody>
          <a:bodyPr/>
          <a:lstStyle/>
          <a:p>
            <a:endParaRPr/>
          </a:p>
        </p:txBody>
      </p:sp>
      <p:sp>
        <p:nvSpPr>
          <p:cNvPr id="31" name="Shape 29">
            <a:extLst>
              <a:ext uri="{FF2B5EF4-FFF2-40B4-BE49-F238E27FC236}">
                <a16:creationId xmlns:a16="http://schemas.microsoft.com/office/drawing/2014/main" id="{3EB57605-70F6-4F14-BBDE-26D5375A6DCB}"/>
              </a:ext>
            </a:extLst>
          </p:cNvPr>
          <p:cNvSpPr>
            <a:spLocks noGrp="1"/>
          </p:cNvSpPr>
          <p:nvPr/>
        </p:nvSpPr>
        <p:spPr>
          <a:xfrm>
            <a:off x="6868058" y="3663086"/>
            <a:ext cx="737006" cy="0"/>
          </a:xfrm>
          <a:prstGeom prst="line">
            <a:avLst/>
          </a:prstGeom>
          <a:noFill/>
          <a:ln w="12700">
            <a:solidFill>
              <a:srgbClr val="17B7D7"/>
            </a:solidFill>
            <a:prstDash val="solid"/>
          </a:ln>
        </p:spPr>
        <p:txBody>
          <a:bodyPr/>
          <a:lstStyle/>
          <a:p>
            <a:endParaRPr/>
          </a:p>
        </p:txBody>
      </p:sp>
      <p:sp>
        <p:nvSpPr>
          <p:cNvPr id="32" name="Text 30">
            <a:extLst>
              <a:ext uri="{FF2B5EF4-FFF2-40B4-BE49-F238E27FC236}">
                <a16:creationId xmlns:a16="http://schemas.microsoft.com/office/drawing/2014/main" id="{08EB7EB0-F160-453B-A8C1-415842DEDD4F}"/>
              </a:ext>
            </a:extLst>
          </p:cNvPr>
          <p:cNvSpPr>
            <a:spLocks noGrp="1"/>
          </p:cNvSpPr>
          <p:nvPr/>
        </p:nvSpPr>
        <p:spPr>
          <a:xfrm>
            <a:off x="11201400" y="6355080"/>
            <a:ext cx="411480" cy="228600"/>
          </a:xfrm>
          <a:prstGeom prst="rect">
            <a:avLst/>
          </a:prstGeom>
          <a:noFill/>
        </p:spPr>
        <p:txBody>
          <a:bodyPr wrap="square" lIns="0" tIns="0" rIns="0" bIns="0" anchor="ctr"/>
          <a:lstStyle/>
          <a:p>
            <a:pPr marL="0" indent="0">
              <a:buNone/>
            </a:pPr>
            <a:r>
              <a:rPr sz="1150" b="1">
                <a:solidFill>
                  <a:srgbClr val="07245A"/>
                </a:solidFill>
              </a:rPr>
              <a:t>01</a:t>
            </a:r>
          </a:p>
        </p:txBody>
      </p:sp>
    </p:spTree>
    <p:extLst>
      <p:ext uri="{BB962C8B-B14F-4D97-AF65-F5344CB8AC3E}">
        <p14:creationId xmlns:p14="http://schemas.microsoft.com/office/powerpoint/2010/main" val="4567818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A243D5A-AA26-4179-939B-A1BA0197A4B7}"/>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95EDBAAB-28C6-4083-88AB-96CA6036629B}"/>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31BE16BB-275B-434B-BD4E-5CDC9BF39DD1}"/>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58316681-2413-4A5C-84DA-F38F2C4EF515}"/>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C47D8C44-97CE-493F-90E4-06A098F7DD1B}"/>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633FE067-17FF-423B-BACA-05E9A5F7D807}"/>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91D1EE80-CF7D-4815-B5C7-9EAC4D313859}"/>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0611F81D-8DC2-4050-B53F-6947E953C620}"/>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02</a:t>
            </a:r>
          </a:p>
        </p:txBody>
      </p:sp>
      <p:sp>
        <p:nvSpPr>
          <p:cNvPr id="10" name="Text 8">
            <a:extLst>
              <a:ext uri="{FF2B5EF4-FFF2-40B4-BE49-F238E27FC236}">
                <a16:creationId xmlns:a16="http://schemas.microsoft.com/office/drawing/2014/main" id="{645058C5-2232-49FC-980B-9732AE03461D}"/>
              </a:ext>
            </a:extLst>
          </p:cNvPr>
          <p:cNvSpPr>
            <a:spLocks noGrp="1"/>
          </p:cNvSpPr>
          <p:nvPr/>
        </p:nvSpPr>
        <p:spPr>
          <a:xfrm>
            <a:off x="658368" y="868680"/>
            <a:ext cx="10698480" cy="411480"/>
          </a:xfrm>
          <a:prstGeom prst="rect">
            <a:avLst/>
          </a:prstGeom>
          <a:noFill/>
        </p:spPr>
        <p:txBody>
          <a:bodyPr wrap="square" lIns="0" tIns="0" rIns="0" bIns="0" anchor="ctr">
            <a:normAutofit fontScale="88235" lnSpcReduction="20000"/>
          </a:bodyPr>
          <a:lstStyle/>
          <a:p>
            <a:pPr marL="0" indent="0">
              <a:buNone/>
            </a:pPr>
            <a:r>
              <a:rPr sz="3400" b="1">
                <a:solidFill>
                  <a:srgbClr val="07245A"/>
                </a:solidFill>
                <a:latin typeface="Aptos Display"/>
                <a:ea typeface="Aptos Display"/>
                <a:cs typeface="Aptos Display"/>
              </a:rPr>
              <a:t>Objetivo de la unidad</a:t>
            </a:r>
          </a:p>
        </p:txBody>
      </p:sp>
      <p:sp>
        <p:nvSpPr>
          <p:cNvPr id="11" name="Shape 9">
            <a:extLst>
              <a:ext uri="{FF2B5EF4-FFF2-40B4-BE49-F238E27FC236}">
                <a16:creationId xmlns:a16="http://schemas.microsoft.com/office/drawing/2014/main" id="{23FC03B3-D057-43A8-81B7-4AA1897B0E03}"/>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D083CFAC-EFC3-4C6D-BBD3-3C450C58E749}"/>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Qué debería poder decidir y justificar al finalizar la clase</a:t>
            </a:r>
          </a:p>
        </p:txBody>
      </p:sp>
      <p:sp>
        <p:nvSpPr>
          <p:cNvPr id="13" name="Shape 11">
            <a:extLst>
              <a:ext uri="{FF2B5EF4-FFF2-40B4-BE49-F238E27FC236}">
                <a16:creationId xmlns:a16="http://schemas.microsoft.com/office/drawing/2014/main" id="{4061650B-3ED1-4189-B36B-F8E2291BCEB1}"/>
              </a:ext>
            </a:extLst>
          </p:cNvPr>
          <p:cNvSpPr>
            <a:spLocks noGrp="1"/>
          </p:cNvSpPr>
          <p:nvPr/>
        </p:nvSpPr>
        <p:spPr>
          <a:xfrm>
            <a:off x="731520" y="1828800"/>
            <a:ext cx="5669280" cy="1874520"/>
          </a:xfrm>
          <a:prstGeom prst="roundRect">
            <a:avLst>
              <a:gd name="adj" fmla="val 2927"/>
            </a:avLst>
          </a:prstGeom>
          <a:solidFill>
            <a:srgbClr val="FFFFFF"/>
          </a:solidFill>
          <a:ln w="10160">
            <a:solidFill>
              <a:srgbClr val="D7E4EF"/>
            </a:solidFill>
            <a:prstDash val="solid"/>
          </a:ln>
        </p:spPr>
        <p:txBody>
          <a:bodyPr/>
          <a:lstStyle/>
          <a:p>
            <a:endParaRPr/>
          </a:p>
        </p:txBody>
      </p:sp>
      <p:sp>
        <p:nvSpPr>
          <p:cNvPr id="14" name="Text 12">
            <a:extLst>
              <a:ext uri="{FF2B5EF4-FFF2-40B4-BE49-F238E27FC236}">
                <a16:creationId xmlns:a16="http://schemas.microsoft.com/office/drawing/2014/main" id="{B6DBEDE9-53CB-44CF-BFDE-9549233BD958}"/>
              </a:ext>
            </a:extLst>
          </p:cNvPr>
          <p:cNvSpPr>
            <a:spLocks noGrp="1"/>
          </p:cNvSpPr>
          <p:nvPr/>
        </p:nvSpPr>
        <p:spPr>
          <a:xfrm>
            <a:off x="896112" y="1975104"/>
            <a:ext cx="5340096" cy="237744"/>
          </a:xfrm>
          <a:prstGeom prst="rect">
            <a:avLst/>
          </a:prstGeom>
          <a:noFill/>
        </p:spPr>
        <p:txBody>
          <a:bodyPr wrap="square" lIns="0" tIns="0" rIns="0" bIns="0" anchor="ctr">
            <a:normAutofit fontScale="97500" lnSpcReduction="10000"/>
          </a:bodyPr>
          <a:lstStyle/>
          <a:p>
            <a:pPr marL="0" indent="0">
              <a:buNone/>
            </a:pPr>
            <a:r>
              <a:rPr sz="1600" b="1">
                <a:solidFill>
                  <a:srgbClr val="07245A"/>
                </a:solidFill>
              </a:rPr>
              <a:t>Objetivo de aprendizaje</a:t>
            </a:r>
          </a:p>
        </p:txBody>
      </p:sp>
      <p:sp>
        <p:nvSpPr>
          <p:cNvPr id="15" name="Shape 13">
            <a:extLst>
              <a:ext uri="{FF2B5EF4-FFF2-40B4-BE49-F238E27FC236}">
                <a16:creationId xmlns:a16="http://schemas.microsoft.com/office/drawing/2014/main" id="{7FCD7CB3-3B59-4E59-9DBF-AB8A5C70C498}"/>
              </a:ext>
            </a:extLst>
          </p:cNvPr>
          <p:cNvSpPr>
            <a:spLocks noGrp="1"/>
          </p:cNvSpPr>
          <p:nvPr/>
        </p:nvSpPr>
        <p:spPr>
          <a:xfrm>
            <a:off x="896112" y="2267712"/>
            <a:ext cx="502920" cy="0"/>
          </a:xfrm>
          <a:prstGeom prst="line">
            <a:avLst/>
          </a:prstGeom>
          <a:noFill/>
          <a:ln w="22860">
            <a:solidFill>
              <a:srgbClr val="17B7D7"/>
            </a:solidFill>
            <a:prstDash val="solid"/>
          </a:ln>
        </p:spPr>
        <p:txBody>
          <a:bodyPr/>
          <a:lstStyle/>
          <a:p>
            <a:endParaRPr/>
          </a:p>
        </p:txBody>
      </p:sp>
      <p:sp>
        <p:nvSpPr>
          <p:cNvPr id="16" name="Text 14">
            <a:extLst>
              <a:ext uri="{FF2B5EF4-FFF2-40B4-BE49-F238E27FC236}">
                <a16:creationId xmlns:a16="http://schemas.microsoft.com/office/drawing/2014/main" id="{65D61816-367B-480A-A1B9-68D301038D86}"/>
              </a:ext>
            </a:extLst>
          </p:cNvPr>
          <p:cNvSpPr>
            <a:spLocks noGrp="1"/>
          </p:cNvSpPr>
          <p:nvPr/>
        </p:nvSpPr>
        <p:spPr>
          <a:xfrm>
            <a:off x="896112" y="2423160"/>
            <a:ext cx="5340096" cy="1188720"/>
          </a:xfrm>
          <a:prstGeom prst="rect">
            <a:avLst/>
          </a:prstGeom>
          <a:noFill/>
        </p:spPr>
        <p:txBody>
          <a:bodyPr wrap="square" lIns="254" tIns="254" rIns="254" bIns="254" anchor="ctr">
            <a:noAutofit/>
          </a:bodyPr>
          <a:lstStyle/>
          <a:p>
            <a:pPr marL="0" indent="0">
              <a:buNone/>
            </a:pPr>
            <a:r>
              <a:rPr sz="1800">
                <a:solidFill>
                  <a:srgbClr val="17212B"/>
                </a:solidFill>
              </a:rPr>
              <a:t>Transformar un esquema lógico en una implementación física coherente con la carga de trabajo, seleccionando almacenamiento, índices y particiones, e interpretando planes de ejecución para verificar el resultado.</a:t>
            </a:r>
          </a:p>
        </p:txBody>
      </p:sp>
      <p:sp>
        <p:nvSpPr>
          <p:cNvPr id="17" name="Shape 15">
            <a:extLst>
              <a:ext uri="{FF2B5EF4-FFF2-40B4-BE49-F238E27FC236}">
                <a16:creationId xmlns:a16="http://schemas.microsoft.com/office/drawing/2014/main" id="{CDD7DC69-C107-49FF-BE9B-6FC6D92DAC8A}"/>
              </a:ext>
            </a:extLst>
          </p:cNvPr>
          <p:cNvSpPr>
            <a:spLocks noGrp="1"/>
          </p:cNvSpPr>
          <p:nvPr/>
        </p:nvSpPr>
        <p:spPr>
          <a:xfrm>
            <a:off x="6720840" y="1828800"/>
            <a:ext cx="1554480" cy="1691640"/>
          </a:xfrm>
          <a:prstGeom prst="roundRect">
            <a:avLst>
              <a:gd name="adj" fmla="val 4706"/>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18" name="Shape 16">
            <a:extLst>
              <a:ext uri="{FF2B5EF4-FFF2-40B4-BE49-F238E27FC236}">
                <a16:creationId xmlns:a16="http://schemas.microsoft.com/office/drawing/2014/main" id="{931667C0-7284-46EB-9B1E-D52F72B0347C}"/>
              </a:ext>
            </a:extLst>
          </p:cNvPr>
          <p:cNvSpPr>
            <a:spLocks noGrp="1"/>
          </p:cNvSpPr>
          <p:nvPr/>
        </p:nvSpPr>
        <p:spPr>
          <a:xfrm>
            <a:off x="6885432" y="1984248"/>
            <a:ext cx="438912" cy="438912"/>
          </a:xfrm>
          <a:prstGeom prst="ellipse">
            <a:avLst/>
          </a:prstGeom>
          <a:solidFill>
            <a:srgbClr val="EAF8FC"/>
          </a:solidFill>
          <a:ln w="10160">
            <a:solidFill>
              <a:srgbClr val="D5EEF7"/>
            </a:solidFill>
            <a:prstDash val="solid"/>
          </a:ln>
        </p:spPr>
        <p:txBody>
          <a:bodyPr/>
          <a:lstStyle/>
          <a:p>
            <a:endParaRPr/>
          </a:p>
        </p:txBody>
      </p:sp>
      <p:sp>
        <p:nvSpPr>
          <p:cNvPr id="19" name="Text 17">
            <a:extLst>
              <a:ext uri="{FF2B5EF4-FFF2-40B4-BE49-F238E27FC236}">
                <a16:creationId xmlns:a16="http://schemas.microsoft.com/office/drawing/2014/main" id="{CDE9D293-054C-48CC-8D8D-5C656FE80A04}"/>
              </a:ext>
            </a:extLst>
          </p:cNvPr>
          <p:cNvSpPr>
            <a:spLocks noGrp="1"/>
          </p:cNvSpPr>
          <p:nvPr/>
        </p:nvSpPr>
        <p:spPr>
          <a:xfrm>
            <a:off x="6885432" y="2043684"/>
            <a:ext cx="438912" cy="228600"/>
          </a:xfrm>
          <a:prstGeom prst="rect">
            <a:avLst/>
          </a:prstGeom>
          <a:noFill/>
        </p:spPr>
        <p:txBody>
          <a:bodyPr wrap="square" lIns="0" tIns="0" rIns="0" bIns="0" anchor="ctr"/>
          <a:lstStyle/>
          <a:p>
            <a:pPr marL="0" indent="0" algn="ctr">
              <a:buNone/>
            </a:pPr>
            <a:r>
              <a:rPr sz="1550">
                <a:solidFill>
                  <a:srgbClr val="17B7D7"/>
                </a:solidFill>
              </a:rPr>
              <a:t>▶</a:t>
            </a:r>
          </a:p>
        </p:txBody>
      </p:sp>
      <p:sp>
        <p:nvSpPr>
          <p:cNvPr id="20" name="Text 18">
            <a:extLst>
              <a:ext uri="{FF2B5EF4-FFF2-40B4-BE49-F238E27FC236}">
                <a16:creationId xmlns:a16="http://schemas.microsoft.com/office/drawing/2014/main" id="{CD1F89FB-7255-43AE-A4D4-9E74DAE76C28}"/>
              </a:ext>
            </a:extLst>
          </p:cNvPr>
          <p:cNvSpPr>
            <a:spLocks noGrp="1"/>
          </p:cNvSpPr>
          <p:nvPr/>
        </p:nvSpPr>
        <p:spPr>
          <a:xfrm>
            <a:off x="7406640" y="1993392"/>
            <a:ext cx="731520" cy="256032"/>
          </a:xfrm>
          <a:prstGeom prst="rect">
            <a:avLst/>
          </a:prstGeom>
          <a:noFill/>
        </p:spPr>
        <p:txBody>
          <a:bodyPr wrap="square" lIns="0" tIns="0" rIns="0" bIns="0" anchor="ctr">
            <a:normAutofit fontScale="65519" lnSpcReduction="20000"/>
          </a:bodyPr>
          <a:lstStyle/>
          <a:p>
            <a:pPr marL="0" indent="0">
              <a:buNone/>
            </a:pPr>
            <a:r>
              <a:rPr sz="1600" b="1">
                <a:solidFill>
                  <a:srgbClr val="07245A"/>
                </a:solidFill>
              </a:rPr>
              <a:t>Caracterizar</a:t>
            </a:r>
          </a:p>
        </p:txBody>
      </p:sp>
      <p:sp>
        <p:nvSpPr>
          <p:cNvPr id="21" name="Shape 19">
            <a:extLst>
              <a:ext uri="{FF2B5EF4-FFF2-40B4-BE49-F238E27FC236}">
                <a16:creationId xmlns:a16="http://schemas.microsoft.com/office/drawing/2014/main" id="{F787FB77-8BF4-47FE-A21D-E7D19803A84C}"/>
              </a:ext>
            </a:extLst>
          </p:cNvPr>
          <p:cNvSpPr>
            <a:spLocks noGrp="1"/>
          </p:cNvSpPr>
          <p:nvPr/>
        </p:nvSpPr>
        <p:spPr>
          <a:xfrm>
            <a:off x="7406640" y="2313432"/>
            <a:ext cx="411480" cy="0"/>
          </a:xfrm>
          <a:prstGeom prst="line">
            <a:avLst/>
          </a:prstGeom>
          <a:noFill/>
          <a:ln w="22860">
            <a:solidFill>
              <a:srgbClr val="17B7D7"/>
            </a:solidFill>
            <a:prstDash val="solid"/>
          </a:ln>
        </p:spPr>
        <p:txBody>
          <a:bodyPr/>
          <a:lstStyle/>
          <a:p>
            <a:endParaRPr/>
          </a:p>
        </p:txBody>
      </p:sp>
      <p:sp>
        <p:nvSpPr>
          <p:cNvPr id="22" name="Text 20">
            <a:extLst>
              <a:ext uri="{FF2B5EF4-FFF2-40B4-BE49-F238E27FC236}">
                <a16:creationId xmlns:a16="http://schemas.microsoft.com/office/drawing/2014/main" id="{8909514D-4173-4681-91EF-B06B0B97BED1}"/>
              </a:ext>
            </a:extLst>
          </p:cNvPr>
          <p:cNvSpPr>
            <a:spLocks noGrp="1"/>
          </p:cNvSpPr>
          <p:nvPr/>
        </p:nvSpPr>
        <p:spPr>
          <a:xfrm>
            <a:off x="6922008" y="2487168"/>
            <a:ext cx="1152144" cy="941832"/>
          </a:xfrm>
          <a:prstGeom prst="rect">
            <a:avLst/>
          </a:prstGeom>
          <a:noFill/>
        </p:spPr>
        <p:txBody>
          <a:bodyPr wrap="square" lIns="381" tIns="381" rIns="381" bIns="381" anchor="ctr">
            <a:normAutofit/>
          </a:bodyPr>
          <a:lstStyle/>
          <a:p>
            <a:pPr marL="0" indent="0">
              <a:buNone/>
            </a:pPr>
            <a:r>
              <a:rPr sz="1650">
                <a:solidFill>
                  <a:srgbClr val="17212B"/>
                </a:solidFill>
              </a:rPr>
              <a:t>Carga, volumen y criticidad.</a:t>
            </a:r>
          </a:p>
        </p:txBody>
      </p:sp>
      <p:sp>
        <p:nvSpPr>
          <p:cNvPr id="23" name="Shape 21">
            <a:extLst>
              <a:ext uri="{FF2B5EF4-FFF2-40B4-BE49-F238E27FC236}">
                <a16:creationId xmlns:a16="http://schemas.microsoft.com/office/drawing/2014/main" id="{DD1F2617-07C7-419C-AF59-837FD271D790}"/>
              </a:ext>
            </a:extLst>
          </p:cNvPr>
          <p:cNvSpPr>
            <a:spLocks noGrp="1"/>
          </p:cNvSpPr>
          <p:nvPr/>
        </p:nvSpPr>
        <p:spPr>
          <a:xfrm>
            <a:off x="8430768" y="1828800"/>
            <a:ext cx="1554480" cy="1691640"/>
          </a:xfrm>
          <a:prstGeom prst="roundRect">
            <a:avLst>
              <a:gd name="adj" fmla="val 4706"/>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4" name="Shape 22">
            <a:extLst>
              <a:ext uri="{FF2B5EF4-FFF2-40B4-BE49-F238E27FC236}">
                <a16:creationId xmlns:a16="http://schemas.microsoft.com/office/drawing/2014/main" id="{A5A8B031-D555-4A16-A95E-EF36FEFE289D}"/>
              </a:ext>
            </a:extLst>
          </p:cNvPr>
          <p:cNvSpPr>
            <a:spLocks noGrp="1"/>
          </p:cNvSpPr>
          <p:nvPr/>
        </p:nvSpPr>
        <p:spPr>
          <a:xfrm>
            <a:off x="8595360" y="1984248"/>
            <a:ext cx="438912" cy="438912"/>
          </a:xfrm>
          <a:prstGeom prst="ellipse">
            <a:avLst/>
          </a:prstGeom>
          <a:solidFill>
            <a:srgbClr val="EAF8FC"/>
          </a:solidFill>
          <a:ln w="10160">
            <a:solidFill>
              <a:srgbClr val="D5EEF7"/>
            </a:solidFill>
            <a:prstDash val="solid"/>
          </a:ln>
        </p:spPr>
        <p:txBody>
          <a:bodyPr/>
          <a:lstStyle/>
          <a:p>
            <a:endParaRPr/>
          </a:p>
        </p:txBody>
      </p:sp>
      <p:sp>
        <p:nvSpPr>
          <p:cNvPr id="25" name="Text 23">
            <a:extLst>
              <a:ext uri="{FF2B5EF4-FFF2-40B4-BE49-F238E27FC236}">
                <a16:creationId xmlns:a16="http://schemas.microsoft.com/office/drawing/2014/main" id="{97DA2FE1-4828-43F5-AA8F-E4D902B61A09}"/>
              </a:ext>
            </a:extLst>
          </p:cNvPr>
          <p:cNvSpPr>
            <a:spLocks noGrp="1"/>
          </p:cNvSpPr>
          <p:nvPr/>
        </p:nvSpPr>
        <p:spPr>
          <a:xfrm>
            <a:off x="8595360" y="2043684"/>
            <a:ext cx="438912" cy="228600"/>
          </a:xfrm>
          <a:prstGeom prst="rect">
            <a:avLst/>
          </a:prstGeom>
          <a:noFill/>
        </p:spPr>
        <p:txBody>
          <a:bodyPr wrap="square" lIns="0" tIns="0" rIns="0" bIns="0" anchor="ctr"/>
          <a:lstStyle/>
          <a:p>
            <a:pPr marL="0" indent="0" algn="ctr">
              <a:buNone/>
            </a:pPr>
            <a:r>
              <a:rPr sz="1550">
                <a:solidFill>
                  <a:srgbClr val="17B7D7"/>
                </a:solidFill>
              </a:rPr>
              <a:t>▣</a:t>
            </a:r>
          </a:p>
        </p:txBody>
      </p:sp>
      <p:sp>
        <p:nvSpPr>
          <p:cNvPr id="26" name="Text 24">
            <a:extLst>
              <a:ext uri="{FF2B5EF4-FFF2-40B4-BE49-F238E27FC236}">
                <a16:creationId xmlns:a16="http://schemas.microsoft.com/office/drawing/2014/main" id="{931D1F3D-C112-434D-AA95-393A43748E15}"/>
              </a:ext>
            </a:extLst>
          </p:cNvPr>
          <p:cNvSpPr>
            <a:spLocks noGrp="1"/>
          </p:cNvSpPr>
          <p:nvPr/>
        </p:nvSpPr>
        <p:spPr>
          <a:xfrm>
            <a:off x="9116568" y="1993392"/>
            <a:ext cx="731520" cy="256032"/>
          </a:xfrm>
          <a:prstGeom prst="rect">
            <a:avLst/>
          </a:prstGeom>
          <a:noFill/>
        </p:spPr>
        <p:txBody>
          <a:bodyPr wrap="square" lIns="0" tIns="0" rIns="0" bIns="0" anchor="ctr">
            <a:normAutofit/>
          </a:bodyPr>
          <a:lstStyle/>
          <a:p>
            <a:pPr marL="0" indent="0">
              <a:buNone/>
            </a:pPr>
            <a:r>
              <a:rPr sz="1600" b="1">
                <a:solidFill>
                  <a:srgbClr val="07245A"/>
                </a:solidFill>
              </a:rPr>
              <a:t>Diseñar</a:t>
            </a:r>
          </a:p>
        </p:txBody>
      </p:sp>
      <p:sp>
        <p:nvSpPr>
          <p:cNvPr id="27" name="Shape 25">
            <a:extLst>
              <a:ext uri="{FF2B5EF4-FFF2-40B4-BE49-F238E27FC236}">
                <a16:creationId xmlns:a16="http://schemas.microsoft.com/office/drawing/2014/main" id="{C69847E0-C834-4868-99B4-35B00407AF9B}"/>
              </a:ext>
            </a:extLst>
          </p:cNvPr>
          <p:cNvSpPr>
            <a:spLocks noGrp="1"/>
          </p:cNvSpPr>
          <p:nvPr/>
        </p:nvSpPr>
        <p:spPr>
          <a:xfrm>
            <a:off x="9116568" y="2313432"/>
            <a:ext cx="411480" cy="0"/>
          </a:xfrm>
          <a:prstGeom prst="line">
            <a:avLst/>
          </a:prstGeom>
          <a:noFill/>
          <a:ln w="22860">
            <a:solidFill>
              <a:srgbClr val="17B7D7"/>
            </a:solidFill>
            <a:prstDash val="solid"/>
          </a:ln>
        </p:spPr>
        <p:txBody>
          <a:bodyPr/>
          <a:lstStyle/>
          <a:p>
            <a:endParaRPr/>
          </a:p>
        </p:txBody>
      </p:sp>
      <p:sp>
        <p:nvSpPr>
          <p:cNvPr id="28" name="Text 26">
            <a:extLst>
              <a:ext uri="{FF2B5EF4-FFF2-40B4-BE49-F238E27FC236}">
                <a16:creationId xmlns:a16="http://schemas.microsoft.com/office/drawing/2014/main" id="{FEAB4629-78A2-4BD2-86BD-F074ADE2B69B}"/>
              </a:ext>
            </a:extLst>
          </p:cNvPr>
          <p:cNvSpPr>
            <a:spLocks noGrp="1"/>
          </p:cNvSpPr>
          <p:nvPr/>
        </p:nvSpPr>
        <p:spPr>
          <a:xfrm>
            <a:off x="8631936" y="2487168"/>
            <a:ext cx="1152144" cy="941832"/>
          </a:xfrm>
          <a:prstGeom prst="rect">
            <a:avLst/>
          </a:prstGeom>
          <a:noFill/>
        </p:spPr>
        <p:txBody>
          <a:bodyPr wrap="square" lIns="381" tIns="381" rIns="381" bIns="381" anchor="ctr">
            <a:normAutofit fontScale="93561"/>
          </a:bodyPr>
          <a:lstStyle/>
          <a:p>
            <a:pPr marL="0" indent="0">
              <a:buNone/>
            </a:pPr>
            <a:r>
              <a:rPr sz="1650">
                <a:solidFill>
                  <a:srgbClr val="17212B"/>
                </a:solidFill>
              </a:rPr>
              <a:t>Tablas, archivos, índices y particiones.</a:t>
            </a:r>
          </a:p>
        </p:txBody>
      </p:sp>
      <p:sp>
        <p:nvSpPr>
          <p:cNvPr id="29" name="Shape 27">
            <a:extLst>
              <a:ext uri="{FF2B5EF4-FFF2-40B4-BE49-F238E27FC236}">
                <a16:creationId xmlns:a16="http://schemas.microsoft.com/office/drawing/2014/main" id="{42158E8E-D95D-4960-8BE3-AD97562E9C7D}"/>
              </a:ext>
            </a:extLst>
          </p:cNvPr>
          <p:cNvSpPr>
            <a:spLocks noGrp="1"/>
          </p:cNvSpPr>
          <p:nvPr/>
        </p:nvSpPr>
        <p:spPr>
          <a:xfrm>
            <a:off x="10149840" y="1828800"/>
            <a:ext cx="1554480" cy="1691640"/>
          </a:xfrm>
          <a:prstGeom prst="roundRect">
            <a:avLst>
              <a:gd name="adj" fmla="val 4706"/>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30" name="Shape 28">
            <a:extLst>
              <a:ext uri="{FF2B5EF4-FFF2-40B4-BE49-F238E27FC236}">
                <a16:creationId xmlns:a16="http://schemas.microsoft.com/office/drawing/2014/main" id="{DECA83E4-1690-44B6-9087-DF765C1CE4C9}"/>
              </a:ext>
            </a:extLst>
          </p:cNvPr>
          <p:cNvSpPr>
            <a:spLocks noGrp="1"/>
          </p:cNvSpPr>
          <p:nvPr/>
        </p:nvSpPr>
        <p:spPr>
          <a:xfrm>
            <a:off x="10314432" y="1984248"/>
            <a:ext cx="438912" cy="438912"/>
          </a:xfrm>
          <a:prstGeom prst="ellipse">
            <a:avLst/>
          </a:prstGeom>
          <a:solidFill>
            <a:srgbClr val="EAF8FC"/>
          </a:solidFill>
          <a:ln w="10160">
            <a:solidFill>
              <a:srgbClr val="D5EEF7"/>
            </a:solidFill>
            <a:prstDash val="solid"/>
          </a:ln>
        </p:spPr>
        <p:txBody>
          <a:bodyPr/>
          <a:lstStyle/>
          <a:p>
            <a:endParaRPr/>
          </a:p>
        </p:txBody>
      </p:sp>
      <p:sp>
        <p:nvSpPr>
          <p:cNvPr id="31" name="Text 29">
            <a:extLst>
              <a:ext uri="{FF2B5EF4-FFF2-40B4-BE49-F238E27FC236}">
                <a16:creationId xmlns:a16="http://schemas.microsoft.com/office/drawing/2014/main" id="{C244842D-B2D3-4B3D-8332-DAE507731508}"/>
              </a:ext>
            </a:extLst>
          </p:cNvPr>
          <p:cNvSpPr>
            <a:spLocks noGrp="1"/>
          </p:cNvSpPr>
          <p:nvPr/>
        </p:nvSpPr>
        <p:spPr>
          <a:xfrm>
            <a:off x="10314432" y="2043684"/>
            <a:ext cx="438912" cy="228600"/>
          </a:xfrm>
          <a:prstGeom prst="rect">
            <a:avLst/>
          </a:prstGeom>
          <a:noFill/>
        </p:spPr>
        <p:txBody>
          <a:bodyPr wrap="square" lIns="0" tIns="0" rIns="0" bIns="0" anchor="ctr"/>
          <a:lstStyle/>
          <a:p>
            <a:pPr marL="0" indent="0" algn="ctr">
              <a:buNone/>
            </a:pPr>
            <a:r>
              <a:rPr sz="1550">
                <a:solidFill>
                  <a:srgbClr val="17B7D7"/>
                </a:solidFill>
              </a:rPr>
              <a:t>↺</a:t>
            </a:r>
          </a:p>
        </p:txBody>
      </p:sp>
      <p:sp>
        <p:nvSpPr>
          <p:cNvPr id="32" name="Text 30">
            <a:extLst>
              <a:ext uri="{FF2B5EF4-FFF2-40B4-BE49-F238E27FC236}">
                <a16:creationId xmlns:a16="http://schemas.microsoft.com/office/drawing/2014/main" id="{911BAB92-2069-448A-8128-B6D7A0C42FF2}"/>
              </a:ext>
            </a:extLst>
          </p:cNvPr>
          <p:cNvSpPr>
            <a:spLocks noGrp="1"/>
          </p:cNvSpPr>
          <p:nvPr/>
        </p:nvSpPr>
        <p:spPr>
          <a:xfrm>
            <a:off x="10835640" y="1993392"/>
            <a:ext cx="731520" cy="256032"/>
          </a:xfrm>
          <a:prstGeom prst="rect">
            <a:avLst/>
          </a:prstGeom>
          <a:noFill/>
        </p:spPr>
        <p:txBody>
          <a:bodyPr wrap="square" lIns="0" tIns="0" rIns="0" bIns="0" anchor="ctr">
            <a:normAutofit fontScale="92500"/>
          </a:bodyPr>
          <a:lstStyle/>
          <a:p>
            <a:pPr marL="0" indent="0">
              <a:buNone/>
            </a:pPr>
            <a:r>
              <a:rPr sz="1600" b="1">
                <a:solidFill>
                  <a:srgbClr val="07245A"/>
                </a:solidFill>
              </a:rPr>
              <a:t>Verificar</a:t>
            </a:r>
          </a:p>
        </p:txBody>
      </p:sp>
      <p:sp>
        <p:nvSpPr>
          <p:cNvPr id="33" name="Shape 31">
            <a:extLst>
              <a:ext uri="{FF2B5EF4-FFF2-40B4-BE49-F238E27FC236}">
                <a16:creationId xmlns:a16="http://schemas.microsoft.com/office/drawing/2014/main" id="{C98BD9C6-ED39-4897-84EF-7800AC364A9D}"/>
              </a:ext>
            </a:extLst>
          </p:cNvPr>
          <p:cNvSpPr>
            <a:spLocks noGrp="1"/>
          </p:cNvSpPr>
          <p:nvPr/>
        </p:nvSpPr>
        <p:spPr>
          <a:xfrm>
            <a:off x="10835640" y="2313432"/>
            <a:ext cx="411480" cy="0"/>
          </a:xfrm>
          <a:prstGeom prst="line">
            <a:avLst/>
          </a:prstGeom>
          <a:noFill/>
          <a:ln w="22860">
            <a:solidFill>
              <a:srgbClr val="17B7D7"/>
            </a:solidFill>
            <a:prstDash val="solid"/>
          </a:ln>
        </p:spPr>
        <p:txBody>
          <a:bodyPr/>
          <a:lstStyle/>
          <a:p>
            <a:endParaRPr/>
          </a:p>
        </p:txBody>
      </p:sp>
      <p:sp>
        <p:nvSpPr>
          <p:cNvPr id="34" name="Text 32">
            <a:extLst>
              <a:ext uri="{FF2B5EF4-FFF2-40B4-BE49-F238E27FC236}">
                <a16:creationId xmlns:a16="http://schemas.microsoft.com/office/drawing/2014/main" id="{4725DC65-4BA1-4CEA-ADE0-5BAF860D8EFB}"/>
              </a:ext>
            </a:extLst>
          </p:cNvPr>
          <p:cNvSpPr>
            <a:spLocks noGrp="1"/>
          </p:cNvSpPr>
          <p:nvPr/>
        </p:nvSpPr>
        <p:spPr>
          <a:xfrm>
            <a:off x="10351008" y="2487168"/>
            <a:ext cx="1152144" cy="941832"/>
          </a:xfrm>
          <a:prstGeom prst="rect">
            <a:avLst/>
          </a:prstGeom>
          <a:noFill/>
        </p:spPr>
        <p:txBody>
          <a:bodyPr wrap="square" lIns="381" tIns="381" rIns="381" bIns="381" anchor="ctr">
            <a:normAutofit lnSpcReduction="10000"/>
          </a:bodyPr>
          <a:lstStyle/>
          <a:p>
            <a:pPr marL="0" indent="0">
              <a:buNone/>
            </a:pPr>
            <a:r>
              <a:rPr sz="1650">
                <a:solidFill>
                  <a:srgbClr val="17212B"/>
                </a:solidFill>
              </a:rPr>
              <a:t>Planes, estadísticas y mediciones.</a:t>
            </a:r>
          </a:p>
        </p:txBody>
      </p:sp>
      <p:sp>
        <p:nvSpPr>
          <p:cNvPr id="35" name="Text 33">
            <a:extLst>
              <a:ext uri="{FF2B5EF4-FFF2-40B4-BE49-F238E27FC236}">
                <a16:creationId xmlns:a16="http://schemas.microsoft.com/office/drawing/2014/main" id="{71C50897-3F64-49DE-98FD-462765E6C2DB}"/>
              </a:ext>
            </a:extLst>
          </p:cNvPr>
          <p:cNvSpPr>
            <a:spLocks noGrp="1"/>
          </p:cNvSpPr>
          <p:nvPr/>
        </p:nvSpPr>
        <p:spPr>
          <a:xfrm>
            <a:off x="1005840" y="4617720"/>
            <a:ext cx="10058400" cy="411480"/>
          </a:xfrm>
          <a:prstGeom prst="rect">
            <a:avLst/>
          </a:prstGeom>
          <a:noFill/>
        </p:spPr>
        <p:txBody>
          <a:bodyPr wrap="square" anchor="ctr"/>
          <a:lstStyle/>
          <a:p>
            <a:pPr marL="0" indent="0" algn="ctr">
              <a:buNone/>
            </a:pPr>
            <a:r>
              <a:rPr sz="2000" b="1">
                <a:solidFill>
                  <a:srgbClr val="0B5CAD"/>
                </a:solidFill>
              </a:rPr>
              <a:t>La idea central: toda decisión física debe responder a una carga y comprobarse con evidencia.</a:t>
            </a:r>
          </a:p>
        </p:txBody>
      </p:sp>
      <p:sp>
        <p:nvSpPr>
          <p:cNvPr id="36" name="Shape 34">
            <a:extLst>
              <a:ext uri="{FF2B5EF4-FFF2-40B4-BE49-F238E27FC236}">
                <a16:creationId xmlns:a16="http://schemas.microsoft.com/office/drawing/2014/main" id="{599599FA-2D9C-493D-8A98-4760B0EFE764}"/>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37" name="Text 35">
            <a:extLst>
              <a:ext uri="{FF2B5EF4-FFF2-40B4-BE49-F238E27FC236}">
                <a16:creationId xmlns:a16="http://schemas.microsoft.com/office/drawing/2014/main" id="{0E6B58E9-3949-42D5-AE5E-CD12BA0BB32B}"/>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Tree>
    <p:extLst>
      <p:ext uri="{BB962C8B-B14F-4D97-AF65-F5344CB8AC3E}">
        <p14:creationId xmlns:p14="http://schemas.microsoft.com/office/powerpoint/2010/main" val="1694770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B375714-6743-4FDC-A32E-4FD12319994B}"/>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8B8D7FA2-63C9-4E91-B28C-19F47BAF07B8}"/>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30B36A17-40A2-40C9-8037-1C82D6E287C8}"/>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C607416F-F447-443F-9866-50DAE7A770F3}"/>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E8A1AD9F-9EA6-4137-B545-426C030B8582}"/>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FB08DFC8-A9B7-4389-B4E1-7FBDF8A9087D}"/>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381C5A80-83F0-44EC-BACE-476F9926966A}"/>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4B37DBAD-D141-433C-B395-2CC958F11DA7}"/>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03</a:t>
            </a:r>
          </a:p>
        </p:txBody>
      </p:sp>
      <p:sp>
        <p:nvSpPr>
          <p:cNvPr id="10" name="Text 8">
            <a:extLst>
              <a:ext uri="{FF2B5EF4-FFF2-40B4-BE49-F238E27FC236}">
                <a16:creationId xmlns:a16="http://schemas.microsoft.com/office/drawing/2014/main" id="{84D95DCB-4624-4C65-AED4-E8E5109A6C5D}"/>
              </a:ext>
            </a:extLst>
          </p:cNvPr>
          <p:cNvSpPr>
            <a:spLocks noGrp="1"/>
          </p:cNvSpPr>
          <p:nvPr/>
        </p:nvSpPr>
        <p:spPr>
          <a:xfrm>
            <a:off x="658368" y="868680"/>
            <a:ext cx="10698480" cy="411480"/>
          </a:xfrm>
          <a:prstGeom prst="rect">
            <a:avLst/>
          </a:prstGeom>
          <a:noFill/>
        </p:spPr>
        <p:txBody>
          <a:bodyPr wrap="square" lIns="0" tIns="0" rIns="0" bIns="0" anchor="ctr">
            <a:normAutofit fontScale="88235" lnSpcReduction="20000"/>
          </a:bodyPr>
          <a:lstStyle/>
          <a:p>
            <a:pPr marL="0" indent="0">
              <a:buNone/>
            </a:pPr>
            <a:r>
              <a:rPr sz="3400" b="1">
                <a:solidFill>
                  <a:srgbClr val="07245A"/>
                </a:solidFill>
                <a:latin typeface="Aptos Display"/>
                <a:ea typeface="Aptos Display"/>
                <a:cs typeface="Aptos Display"/>
              </a:rPr>
              <a:t>Pregunta disparadora</a:t>
            </a:r>
          </a:p>
        </p:txBody>
      </p:sp>
      <p:sp>
        <p:nvSpPr>
          <p:cNvPr id="11" name="Shape 9">
            <a:extLst>
              <a:ext uri="{FF2B5EF4-FFF2-40B4-BE49-F238E27FC236}">
                <a16:creationId xmlns:a16="http://schemas.microsoft.com/office/drawing/2014/main" id="{AF755394-459F-4F4E-B0E3-4F509DF87373}"/>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FFBBFD7C-9570-405B-8240-67736547FC39}"/>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Para conectar el modelo lógico con el comportamiento real</a:t>
            </a:r>
          </a:p>
        </p:txBody>
      </p:sp>
      <p:sp>
        <p:nvSpPr>
          <p:cNvPr id="13" name="Shape 11">
            <a:extLst>
              <a:ext uri="{FF2B5EF4-FFF2-40B4-BE49-F238E27FC236}">
                <a16:creationId xmlns:a16="http://schemas.microsoft.com/office/drawing/2014/main" id="{2F7230F0-F624-489A-AD82-F00C809B47BE}"/>
              </a:ext>
            </a:extLst>
          </p:cNvPr>
          <p:cNvSpPr>
            <a:spLocks noGrp="1"/>
          </p:cNvSpPr>
          <p:nvPr/>
        </p:nvSpPr>
        <p:spPr>
          <a:xfrm>
            <a:off x="914400" y="1874522"/>
            <a:ext cx="10332720" cy="1874520"/>
          </a:xfrm>
          <a:prstGeom prst="roundRect">
            <a:avLst>
              <a:gd name="adj" fmla="val 3902"/>
            </a:avLst>
          </a:prstGeom>
          <a:solidFill>
            <a:srgbClr val="EAF8FC"/>
          </a:solidFill>
          <a:ln w="12700">
            <a:solidFill>
              <a:srgbClr val="BFE9F4"/>
            </a:solidFill>
            <a:prstDash val="solid"/>
          </a:ln>
        </p:spPr>
        <p:txBody>
          <a:bodyPr/>
          <a:lstStyle/>
          <a:p>
            <a:endParaRPr/>
          </a:p>
        </p:txBody>
      </p:sp>
      <p:sp>
        <p:nvSpPr>
          <p:cNvPr id="14" name="Text 12">
            <a:extLst>
              <a:ext uri="{FF2B5EF4-FFF2-40B4-BE49-F238E27FC236}">
                <a16:creationId xmlns:a16="http://schemas.microsoft.com/office/drawing/2014/main" id="{E2F5AB8B-6919-4F9C-8594-9C9A36907F9C}"/>
              </a:ext>
            </a:extLst>
          </p:cNvPr>
          <p:cNvSpPr>
            <a:spLocks noGrp="1"/>
          </p:cNvSpPr>
          <p:nvPr/>
        </p:nvSpPr>
        <p:spPr>
          <a:xfrm>
            <a:off x="1280160" y="2240282"/>
            <a:ext cx="9601200" cy="594360"/>
          </a:xfrm>
          <a:prstGeom prst="rect">
            <a:avLst/>
          </a:prstGeom>
          <a:noFill/>
        </p:spPr>
        <p:txBody>
          <a:bodyPr wrap="square" anchor="ctr">
            <a:normAutofit fontScale="66931" lnSpcReduction="20000"/>
          </a:bodyPr>
          <a:lstStyle/>
          <a:p>
            <a:pPr marL="0" indent="0" algn="ctr">
              <a:buNone/>
            </a:pPr>
            <a:r>
              <a:rPr sz="2800" b="1">
                <a:solidFill>
                  <a:srgbClr val="07245A"/>
                </a:solidFill>
              </a:rPr>
              <a:t>¿Por qué una consulta correcta puede volverse lenta cuando crecen los datos?</a:t>
            </a:r>
          </a:p>
        </p:txBody>
      </p:sp>
      <p:sp>
        <p:nvSpPr>
          <p:cNvPr id="15" name="Text 13">
            <a:extLst>
              <a:ext uri="{FF2B5EF4-FFF2-40B4-BE49-F238E27FC236}">
                <a16:creationId xmlns:a16="http://schemas.microsoft.com/office/drawing/2014/main" id="{6BD72E30-B334-45B0-8C20-88A8C0BEB72D}"/>
              </a:ext>
            </a:extLst>
          </p:cNvPr>
          <p:cNvSpPr>
            <a:spLocks noGrp="1"/>
          </p:cNvSpPr>
          <p:nvPr/>
        </p:nvSpPr>
        <p:spPr>
          <a:xfrm>
            <a:off x="1828800" y="2999234"/>
            <a:ext cx="8686800" cy="320040"/>
          </a:xfrm>
          <a:prstGeom prst="rect">
            <a:avLst/>
          </a:prstGeom>
          <a:noFill/>
        </p:spPr>
        <p:txBody>
          <a:bodyPr wrap="square" anchor="ctr"/>
          <a:lstStyle/>
          <a:p>
            <a:pPr marL="0" indent="0" algn="ctr">
              <a:buNone/>
            </a:pPr>
            <a:r>
              <a:rPr sz="1700" i="1">
                <a:solidFill>
                  <a:srgbClr val="34495E"/>
                </a:solidFill>
              </a:rPr>
              <a:t>Ejemplo: pedidos de un cliente dentro de un rango de fechas</a:t>
            </a:r>
          </a:p>
        </p:txBody>
      </p:sp>
      <p:sp>
        <p:nvSpPr>
          <p:cNvPr id="16" name="Shape 14">
            <a:extLst>
              <a:ext uri="{FF2B5EF4-FFF2-40B4-BE49-F238E27FC236}">
                <a16:creationId xmlns:a16="http://schemas.microsoft.com/office/drawing/2014/main" id="{4382CB66-89A2-4505-97F5-C996BF6D9DCC}"/>
              </a:ext>
            </a:extLst>
          </p:cNvPr>
          <p:cNvSpPr>
            <a:spLocks noGrp="1"/>
          </p:cNvSpPr>
          <p:nvPr/>
        </p:nvSpPr>
        <p:spPr>
          <a:xfrm>
            <a:off x="822960" y="4069080"/>
            <a:ext cx="2423160" cy="1005840"/>
          </a:xfrm>
          <a:prstGeom prst="roundRect">
            <a:avLst>
              <a:gd name="adj" fmla="val 7273"/>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17" name="Text 15">
            <a:extLst>
              <a:ext uri="{FF2B5EF4-FFF2-40B4-BE49-F238E27FC236}">
                <a16:creationId xmlns:a16="http://schemas.microsoft.com/office/drawing/2014/main" id="{490AC556-4101-4FA6-AD49-7BD1D24584E9}"/>
              </a:ext>
            </a:extLst>
          </p:cNvPr>
          <p:cNvSpPr>
            <a:spLocks noGrp="1"/>
          </p:cNvSpPr>
          <p:nvPr/>
        </p:nvSpPr>
        <p:spPr>
          <a:xfrm>
            <a:off x="1508760" y="4233672"/>
            <a:ext cx="1600200" cy="256032"/>
          </a:xfrm>
          <a:prstGeom prst="rect">
            <a:avLst/>
          </a:prstGeom>
          <a:noFill/>
        </p:spPr>
        <p:txBody>
          <a:bodyPr wrap="square" lIns="0" tIns="0" rIns="0" bIns="0" anchor="ctr">
            <a:normAutofit/>
          </a:bodyPr>
          <a:lstStyle/>
          <a:p>
            <a:pPr marL="0" indent="0">
              <a:buNone/>
            </a:pPr>
            <a:r>
              <a:rPr sz="1600" b="1">
                <a:solidFill>
                  <a:srgbClr val="07245A"/>
                </a:solidFill>
              </a:rPr>
              <a:t>1</a:t>
            </a:r>
          </a:p>
        </p:txBody>
      </p:sp>
      <p:sp>
        <p:nvSpPr>
          <p:cNvPr id="18" name="Shape 16">
            <a:extLst>
              <a:ext uri="{FF2B5EF4-FFF2-40B4-BE49-F238E27FC236}">
                <a16:creationId xmlns:a16="http://schemas.microsoft.com/office/drawing/2014/main" id="{8E82512D-C8A9-4910-AD5D-8CB5CF210951}"/>
              </a:ext>
            </a:extLst>
          </p:cNvPr>
          <p:cNvSpPr>
            <a:spLocks noGrp="1"/>
          </p:cNvSpPr>
          <p:nvPr/>
        </p:nvSpPr>
        <p:spPr>
          <a:xfrm>
            <a:off x="1508760" y="4553712"/>
            <a:ext cx="411480" cy="0"/>
          </a:xfrm>
          <a:prstGeom prst="line">
            <a:avLst/>
          </a:prstGeom>
          <a:noFill/>
          <a:ln w="22860">
            <a:solidFill>
              <a:srgbClr val="17B7D7"/>
            </a:solidFill>
            <a:prstDash val="solid"/>
          </a:ln>
        </p:spPr>
        <p:txBody>
          <a:bodyPr/>
          <a:lstStyle/>
          <a:p>
            <a:endParaRPr/>
          </a:p>
        </p:txBody>
      </p:sp>
      <p:sp>
        <p:nvSpPr>
          <p:cNvPr id="19" name="Text 17">
            <a:extLst>
              <a:ext uri="{FF2B5EF4-FFF2-40B4-BE49-F238E27FC236}">
                <a16:creationId xmlns:a16="http://schemas.microsoft.com/office/drawing/2014/main" id="{7A2A6FD3-A2B6-446E-992F-C049FA9E2406}"/>
              </a:ext>
            </a:extLst>
          </p:cNvPr>
          <p:cNvSpPr>
            <a:spLocks noGrp="1"/>
          </p:cNvSpPr>
          <p:nvPr/>
        </p:nvSpPr>
        <p:spPr>
          <a:xfrm>
            <a:off x="1024128" y="4727448"/>
            <a:ext cx="2020824" cy="256032"/>
          </a:xfrm>
          <a:prstGeom prst="rect">
            <a:avLst/>
          </a:prstGeom>
          <a:noFill/>
        </p:spPr>
        <p:txBody>
          <a:bodyPr wrap="square" lIns="381" tIns="381" rIns="381" bIns="381" anchor="ctr">
            <a:normAutofit fontScale="69763" lnSpcReduction="20000"/>
          </a:bodyPr>
          <a:lstStyle/>
          <a:p>
            <a:pPr marL="0" indent="0">
              <a:buNone/>
            </a:pPr>
            <a:r>
              <a:rPr sz="1400">
                <a:solidFill>
                  <a:srgbClr val="17212B"/>
                </a:solidFill>
              </a:rPr>
              <a:t>¿Cuántas filas y páginas procesa?</a:t>
            </a:r>
          </a:p>
        </p:txBody>
      </p:sp>
      <p:sp>
        <p:nvSpPr>
          <p:cNvPr id="20" name="Shape 18">
            <a:extLst>
              <a:ext uri="{FF2B5EF4-FFF2-40B4-BE49-F238E27FC236}">
                <a16:creationId xmlns:a16="http://schemas.microsoft.com/office/drawing/2014/main" id="{C9E63C32-059F-4454-A994-8878F93BE541}"/>
              </a:ext>
            </a:extLst>
          </p:cNvPr>
          <p:cNvSpPr>
            <a:spLocks noGrp="1"/>
          </p:cNvSpPr>
          <p:nvPr/>
        </p:nvSpPr>
        <p:spPr>
          <a:xfrm>
            <a:off x="3657600" y="4069080"/>
            <a:ext cx="2423160" cy="1005840"/>
          </a:xfrm>
          <a:prstGeom prst="roundRect">
            <a:avLst>
              <a:gd name="adj" fmla="val 7273"/>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1" name="Text 19">
            <a:extLst>
              <a:ext uri="{FF2B5EF4-FFF2-40B4-BE49-F238E27FC236}">
                <a16:creationId xmlns:a16="http://schemas.microsoft.com/office/drawing/2014/main" id="{EAB0C665-E2FF-4854-994B-DA9ED62E551F}"/>
              </a:ext>
            </a:extLst>
          </p:cNvPr>
          <p:cNvSpPr>
            <a:spLocks noGrp="1"/>
          </p:cNvSpPr>
          <p:nvPr/>
        </p:nvSpPr>
        <p:spPr>
          <a:xfrm>
            <a:off x="4343400" y="4233672"/>
            <a:ext cx="1600200" cy="256032"/>
          </a:xfrm>
          <a:prstGeom prst="rect">
            <a:avLst/>
          </a:prstGeom>
          <a:noFill/>
        </p:spPr>
        <p:txBody>
          <a:bodyPr wrap="square" lIns="0" tIns="0" rIns="0" bIns="0" anchor="ctr">
            <a:normAutofit/>
          </a:bodyPr>
          <a:lstStyle/>
          <a:p>
            <a:pPr marL="0" indent="0">
              <a:buNone/>
            </a:pPr>
            <a:r>
              <a:rPr sz="1600" b="1">
                <a:solidFill>
                  <a:srgbClr val="07245A"/>
                </a:solidFill>
              </a:rPr>
              <a:t>2</a:t>
            </a:r>
          </a:p>
        </p:txBody>
      </p:sp>
      <p:sp>
        <p:nvSpPr>
          <p:cNvPr id="22" name="Shape 20">
            <a:extLst>
              <a:ext uri="{FF2B5EF4-FFF2-40B4-BE49-F238E27FC236}">
                <a16:creationId xmlns:a16="http://schemas.microsoft.com/office/drawing/2014/main" id="{0EDDFEDA-CF40-4C87-9DA4-DD8410696C61}"/>
              </a:ext>
            </a:extLst>
          </p:cNvPr>
          <p:cNvSpPr>
            <a:spLocks noGrp="1"/>
          </p:cNvSpPr>
          <p:nvPr/>
        </p:nvSpPr>
        <p:spPr>
          <a:xfrm>
            <a:off x="4343400" y="4553712"/>
            <a:ext cx="411480" cy="0"/>
          </a:xfrm>
          <a:prstGeom prst="line">
            <a:avLst/>
          </a:prstGeom>
          <a:noFill/>
          <a:ln w="22860">
            <a:solidFill>
              <a:srgbClr val="17B7D7"/>
            </a:solidFill>
            <a:prstDash val="solid"/>
          </a:ln>
        </p:spPr>
        <p:txBody>
          <a:bodyPr/>
          <a:lstStyle/>
          <a:p>
            <a:endParaRPr/>
          </a:p>
        </p:txBody>
      </p:sp>
      <p:sp>
        <p:nvSpPr>
          <p:cNvPr id="23" name="Text 21">
            <a:extLst>
              <a:ext uri="{FF2B5EF4-FFF2-40B4-BE49-F238E27FC236}">
                <a16:creationId xmlns:a16="http://schemas.microsoft.com/office/drawing/2014/main" id="{FB8898C2-FAEE-4805-9949-6DE0724DBD32}"/>
              </a:ext>
            </a:extLst>
          </p:cNvPr>
          <p:cNvSpPr>
            <a:spLocks noGrp="1"/>
          </p:cNvSpPr>
          <p:nvPr/>
        </p:nvSpPr>
        <p:spPr>
          <a:xfrm>
            <a:off x="3858768" y="4727448"/>
            <a:ext cx="2020824" cy="256032"/>
          </a:xfrm>
          <a:prstGeom prst="rect">
            <a:avLst/>
          </a:prstGeom>
          <a:noFill/>
        </p:spPr>
        <p:txBody>
          <a:bodyPr wrap="square" lIns="381" tIns="381" rIns="381" bIns="381" anchor="ctr">
            <a:normAutofit fontScale="68997" lnSpcReduction="20000"/>
          </a:bodyPr>
          <a:lstStyle/>
          <a:p>
            <a:pPr marL="0" indent="0">
              <a:buNone/>
            </a:pPr>
            <a:r>
              <a:rPr sz="1400" dirty="0">
                <a:solidFill>
                  <a:srgbClr val="17212B"/>
                </a:solidFill>
              </a:rPr>
              <a:t>¿</a:t>
            </a:r>
            <a:r>
              <a:rPr sz="1400" dirty="0" err="1">
                <a:solidFill>
                  <a:srgbClr val="17212B"/>
                </a:solidFill>
              </a:rPr>
              <a:t>Existe</a:t>
            </a:r>
            <a:r>
              <a:rPr sz="1400" dirty="0">
                <a:solidFill>
                  <a:srgbClr val="17212B"/>
                </a:solidFill>
              </a:rPr>
              <a:t> un camino de </a:t>
            </a:r>
            <a:r>
              <a:rPr sz="1400" dirty="0" err="1">
                <a:solidFill>
                  <a:srgbClr val="17212B"/>
                </a:solidFill>
              </a:rPr>
              <a:t>acceso</a:t>
            </a:r>
            <a:r>
              <a:rPr sz="1400" dirty="0">
                <a:solidFill>
                  <a:srgbClr val="17212B"/>
                </a:solidFill>
              </a:rPr>
              <a:t> </a:t>
            </a:r>
            <a:r>
              <a:rPr lang="es-AR" sz="1400" dirty="0" err="1">
                <a:solidFill>
                  <a:srgbClr val="17212B"/>
                </a:solidFill>
              </a:rPr>
              <a:t>performante</a:t>
            </a:r>
            <a:r>
              <a:rPr sz="1400" dirty="0">
                <a:solidFill>
                  <a:srgbClr val="17212B"/>
                </a:solidFill>
              </a:rPr>
              <a:t>?</a:t>
            </a:r>
          </a:p>
        </p:txBody>
      </p:sp>
      <p:sp>
        <p:nvSpPr>
          <p:cNvPr id="24" name="Shape 22">
            <a:extLst>
              <a:ext uri="{FF2B5EF4-FFF2-40B4-BE49-F238E27FC236}">
                <a16:creationId xmlns:a16="http://schemas.microsoft.com/office/drawing/2014/main" id="{C0E9403F-D68C-48D4-93F8-FBB8A75444A2}"/>
              </a:ext>
            </a:extLst>
          </p:cNvPr>
          <p:cNvSpPr>
            <a:spLocks noGrp="1"/>
          </p:cNvSpPr>
          <p:nvPr/>
        </p:nvSpPr>
        <p:spPr>
          <a:xfrm>
            <a:off x="6492240" y="4069080"/>
            <a:ext cx="2423160" cy="1005840"/>
          </a:xfrm>
          <a:prstGeom prst="roundRect">
            <a:avLst>
              <a:gd name="adj" fmla="val 7273"/>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5" name="Text 23">
            <a:extLst>
              <a:ext uri="{FF2B5EF4-FFF2-40B4-BE49-F238E27FC236}">
                <a16:creationId xmlns:a16="http://schemas.microsoft.com/office/drawing/2014/main" id="{AF211E41-7A6F-4AFE-B045-18B95D7A4645}"/>
              </a:ext>
            </a:extLst>
          </p:cNvPr>
          <p:cNvSpPr>
            <a:spLocks noGrp="1"/>
          </p:cNvSpPr>
          <p:nvPr/>
        </p:nvSpPr>
        <p:spPr>
          <a:xfrm>
            <a:off x="7178040" y="4233672"/>
            <a:ext cx="1600200" cy="256032"/>
          </a:xfrm>
          <a:prstGeom prst="rect">
            <a:avLst/>
          </a:prstGeom>
          <a:noFill/>
        </p:spPr>
        <p:txBody>
          <a:bodyPr wrap="square" lIns="0" tIns="0" rIns="0" bIns="0" anchor="ctr">
            <a:normAutofit/>
          </a:bodyPr>
          <a:lstStyle/>
          <a:p>
            <a:pPr marL="0" indent="0">
              <a:buNone/>
            </a:pPr>
            <a:r>
              <a:rPr sz="1600" b="1">
                <a:solidFill>
                  <a:srgbClr val="07245A"/>
                </a:solidFill>
              </a:rPr>
              <a:t>3</a:t>
            </a:r>
          </a:p>
        </p:txBody>
      </p:sp>
      <p:sp>
        <p:nvSpPr>
          <p:cNvPr id="26" name="Shape 24">
            <a:extLst>
              <a:ext uri="{FF2B5EF4-FFF2-40B4-BE49-F238E27FC236}">
                <a16:creationId xmlns:a16="http://schemas.microsoft.com/office/drawing/2014/main" id="{9DF1B041-E7E9-43D5-B025-5CD335B320E9}"/>
              </a:ext>
            </a:extLst>
          </p:cNvPr>
          <p:cNvSpPr>
            <a:spLocks noGrp="1"/>
          </p:cNvSpPr>
          <p:nvPr/>
        </p:nvSpPr>
        <p:spPr>
          <a:xfrm>
            <a:off x="7178040" y="4553712"/>
            <a:ext cx="411480" cy="0"/>
          </a:xfrm>
          <a:prstGeom prst="line">
            <a:avLst/>
          </a:prstGeom>
          <a:noFill/>
          <a:ln w="22860">
            <a:solidFill>
              <a:srgbClr val="17B7D7"/>
            </a:solidFill>
            <a:prstDash val="solid"/>
          </a:ln>
        </p:spPr>
        <p:txBody>
          <a:bodyPr/>
          <a:lstStyle/>
          <a:p>
            <a:endParaRPr/>
          </a:p>
        </p:txBody>
      </p:sp>
      <p:sp>
        <p:nvSpPr>
          <p:cNvPr id="27" name="Text 25">
            <a:extLst>
              <a:ext uri="{FF2B5EF4-FFF2-40B4-BE49-F238E27FC236}">
                <a16:creationId xmlns:a16="http://schemas.microsoft.com/office/drawing/2014/main" id="{26F6DC83-B1D3-432B-86FE-19E529060708}"/>
              </a:ext>
            </a:extLst>
          </p:cNvPr>
          <p:cNvSpPr>
            <a:spLocks noGrp="1"/>
          </p:cNvSpPr>
          <p:nvPr/>
        </p:nvSpPr>
        <p:spPr>
          <a:xfrm>
            <a:off x="6693408" y="4727448"/>
            <a:ext cx="2020824" cy="256032"/>
          </a:xfrm>
          <a:prstGeom prst="rect">
            <a:avLst/>
          </a:prstGeom>
          <a:noFill/>
        </p:spPr>
        <p:txBody>
          <a:bodyPr wrap="square" lIns="381" tIns="381" rIns="381" bIns="381" anchor="ctr">
            <a:normAutofit fontScale="73696" lnSpcReduction="20000"/>
          </a:bodyPr>
          <a:lstStyle/>
          <a:p>
            <a:pPr marL="0" indent="0">
              <a:buNone/>
            </a:pPr>
            <a:r>
              <a:rPr sz="1400">
                <a:solidFill>
                  <a:srgbClr val="17212B"/>
                </a:solidFill>
              </a:rPr>
              <a:t>¿Qué cambia al agregar un índice?</a:t>
            </a:r>
          </a:p>
        </p:txBody>
      </p:sp>
      <p:sp>
        <p:nvSpPr>
          <p:cNvPr id="28" name="Shape 26">
            <a:extLst>
              <a:ext uri="{FF2B5EF4-FFF2-40B4-BE49-F238E27FC236}">
                <a16:creationId xmlns:a16="http://schemas.microsoft.com/office/drawing/2014/main" id="{3BC2058F-49EE-41FA-AC9C-2A90FF4F2B10}"/>
              </a:ext>
            </a:extLst>
          </p:cNvPr>
          <p:cNvSpPr>
            <a:spLocks noGrp="1"/>
          </p:cNvSpPr>
          <p:nvPr/>
        </p:nvSpPr>
        <p:spPr>
          <a:xfrm>
            <a:off x="9326880" y="4069080"/>
            <a:ext cx="2423160" cy="1005840"/>
          </a:xfrm>
          <a:prstGeom prst="roundRect">
            <a:avLst>
              <a:gd name="adj" fmla="val 7273"/>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9" name="Text 27">
            <a:extLst>
              <a:ext uri="{FF2B5EF4-FFF2-40B4-BE49-F238E27FC236}">
                <a16:creationId xmlns:a16="http://schemas.microsoft.com/office/drawing/2014/main" id="{ACA65986-EC1A-406E-9AB4-23CD09363262}"/>
              </a:ext>
            </a:extLst>
          </p:cNvPr>
          <p:cNvSpPr>
            <a:spLocks noGrp="1"/>
          </p:cNvSpPr>
          <p:nvPr/>
        </p:nvSpPr>
        <p:spPr>
          <a:xfrm>
            <a:off x="10012680" y="4233672"/>
            <a:ext cx="1600200" cy="256032"/>
          </a:xfrm>
          <a:prstGeom prst="rect">
            <a:avLst/>
          </a:prstGeom>
          <a:noFill/>
        </p:spPr>
        <p:txBody>
          <a:bodyPr wrap="square" lIns="0" tIns="0" rIns="0" bIns="0" anchor="ctr">
            <a:normAutofit/>
          </a:bodyPr>
          <a:lstStyle/>
          <a:p>
            <a:pPr marL="0" indent="0">
              <a:buNone/>
            </a:pPr>
            <a:r>
              <a:rPr sz="1600" b="1">
                <a:solidFill>
                  <a:srgbClr val="07245A"/>
                </a:solidFill>
              </a:rPr>
              <a:t>4</a:t>
            </a:r>
          </a:p>
        </p:txBody>
      </p:sp>
      <p:sp>
        <p:nvSpPr>
          <p:cNvPr id="30" name="Shape 28">
            <a:extLst>
              <a:ext uri="{FF2B5EF4-FFF2-40B4-BE49-F238E27FC236}">
                <a16:creationId xmlns:a16="http://schemas.microsoft.com/office/drawing/2014/main" id="{3C3AB344-D20D-4B07-B930-DDA7F9A42991}"/>
              </a:ext>
            </a:extLst>
          </p:cNvPr>
          <p:cNvSpPr>
            <a:spLocks noGrp="1"/>
          </p:cNvSpPr>
          <p:nvPr/>
        </p:nvSpPr>
        <p:spPr>
          <a:xfrm>
            <a:off x="10012680" y="4553712"/>
            <a:ext cx="411480" cy="0"/>
          </a:xfrm>
          <a:prstGeom prst="line">
            <a:avLst/>
          </a:prstGeom>
          <a:noFill/>
          <a:ln w="22860">
            <a:solidFill>
              <a:srgbClr val="17B7D7"/>
            </a:solidFill>
            <a:prstDash val="solid"/>
          </a:ln>
        </p:spPr>
        <p:txBody>
          <a:bodyPr/>
          <a:lstStyle/>
          <a:p>
            <a:endParaRPr/>
          </a:p>
        </p:txBody>
      </p:sp>
      <p:sp>
        <p:nvSpPr>
          <p:cNvPr id="31" name="Text 29">
            <a:extLst>
              <a:ext uri="{FF2B5EF4-FFF2-40B4-BE49-F238E27FC236}">
                <a16:creationId xmlns:a16="http://schemas.microsoft.com/office/drawing/2014/main" id="{687FB3BB-F621-43A1-9C8F-2933E47FFBE7}"/>
              </a:ext>
            </a:extLst>
          </p:cNvPr>
          <p:cNvSpPr>
            <a:spLocks noGrp="1"/>
          </p:cNvSpPr>
          <p:nvPr/>
        </p:nvSpPr>
        <p:spPr>
          <a:xfrm>
            <a:off x="9528048" y="4727448"/>
            <a:ext cx="2020824" cy="256032"/>
          </a:xfrm>
          <a:prstGeom prst="rect">
            <a:avLst/>
          </a:prstGeom>
          <a:noFill/>
        </p:spPr>
        <p:txBody>
          <a:bodyPr wrap="square" lIns="381" tIns="381" rIns="381" bIns="381" anchor="ctr">
            <a:normAutofit fontScale="79058" lnSpcReduction="10000"/>
          </a:bodyPr>
          <a:lstStyle/>
          <a:p>
            <a:pPr marL="0" indent="0">
              <a:buNone/>
            </a:pPr>
            <a:r>
              <a:rPr sz="1400">
                <a:solidFill>
                  <a:srgbClr val="17212B"/>
                </a:solidFill>
              </a:rPr>
              <a:t>¿Cómo demostramos la mejora?</a:t>
            </a:r>
          </a:p>
        </p:txBody>
      </p:sp>
      <p:sp>
        <p:nvSpPr>
          <p:cNvPr id="32" name="Shape 30">
            <a:extLst>
              <a:ext uri="{FF2B5EF4-FFF2-40B4-BE49-F238E27FC236}">
                <a16:creationId xmlns:a16="http://schemas.microsoft.com/office/drawing/2014/main" id="{28E386AB-C379-4D25-B604-5ABF63B69B4E}"/>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33" name="Text 31">
            <a:extLst>
              <a:ext uri="{FF2B5EF4-FFF2-40B4-BE49-F238E27FC236}">
                <a16:creationId xmlns:a16="http://schemas.microsoft.com/office/drawing/2014/main" id="{E391C922-15F1-4C85-AFA3-EDB189134F04}"/>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Tree>
    <p:extLst>
      <p:ext uri="{BB962C8B-B14F-4D97-AF65-F5344CB8AC3E}">
        <p14:creationId xmlns:p14="http://schemas.microsoft.com/office/powerpoint/2010/main" val="310099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4004FBF0-BE43-42B8-8BE9-14DF8B02F893}"/>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750D06FD-4C3C-473D-9311-882151ED7F41}"/>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4C1D3ADF-5954-4B99-A1B8-70228A8E0CEC}"/>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2CB7C202-7F50-48CA-A7FB-89EE8573A457}"/>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86010E07-5FCF-468B-837C-EA39AFFFB0A1}"/>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B08C5284-7191-49F4-9460-741AD4D19E85}"/>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A90C6D95-9E2A-4CFD-8010-B6C57776E726}"/>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2A8E02A7-409F-438A-882C-B19045A9F201}"/>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04</a:t>
            </a:r>
          </a:p>
        </p:txBody>
      </p:sp>
      <p:sp>
        <p:nvSpPr>
          <p:cNvPr id="10" name="Text 8">
            <a:extLst>
              <a:ext uri="{FF2B5EF4-FFF2-40B4-BE49-F238E27FC236}">
                <a16:creationId xmlns:a16="http://schemas.microsoft.com/office/drawing/2014/main" id="{81671ABD-48EF-408D-8FF6-693F511B0897}"/>
              </a:ext>
            </a:extLst>
          </p:cNvPr>
          <p:cNvSpPr>
            <a:spLocks noGrp="1"/>
          </p:cNvSpPr>
          <p:nvPr/>
        </p:nvSpPr>
        <p:spPr>
          <a:xfrm>
            <a:off x="658368" y="868680"/>
            <a:ext cx="10698480" cy="411480"/>
          </a:xfrm>
          <a:prstGeom prst="rect">
            <a:avLst/>
          </a:prstGeom>
          <a:noFill/>
        </p:spPr>
        <p:txBody>
          <a:bodyPr wrap="square" lIns="0" tIns="0" rIns="0" bIns="0" anchor="ctr">
            <a:normAutofit fontScale="88235" lnSpcReduction="20000"/>
          </a:bodyPr>
          <a:lstStyle/>
          <a:p>
            <a:pPr marL="0" indent="0">
              <a:buNone/>
            </a:pPr>
            <a:r>
              <a:rPr sz="3400" b="1">
                <a:solidFill>
                  <a:srgbClr val="07245A"/>
                </a:solidFill>
                <a:latin typeface="Aptos Display"/>
                <a:ea typeface="Aptos Display"/>
                <a:cs typeface="Aptos Display"/>
              </a:rPr>
              <a:t>Mapa de la clase</a:t>
            </a:r>
          </a:p>
        </p:txBody>
      </p:sp>
      <p:sp>
        <p:nvSpPr>
          <p:cNvPr id="11" name="Shape 9">
            <a:extLst>
              <a:ext uri="{FF2B5EF4-FFF2-40B4-BE49-F238E27FC236}">
                <a16:creationId xmlns:a16="http://schemas.microsoft.com/office/drawing/2014/main" id="{92075AB0-9E06-4451-AC74-855D946BF47D}"/>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78DED375-AE42-4756-88D7-A5101E826AE9}"/>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Teoría breve + decisiones guiadas + laboratorio con evidencia</a:t>
            </a:r>
          </a:p>
        </p:txBody>
      </p:sp>
      <p:sp>
        <p:nvSpPr>
          <p:cNvPr id="13" name="Shape 11">
            <a:extLst>
              <a:ext uri="{FF2B5EF4-FFF2-40B4-BE49-F238E27FC236}">
                <a16:creationId xmlns:a16="http://schemas.microsoft.com/office/drawing/2014/main" id="{62A1C37B-DDFF-4B7F-B4D1-5FEFA1515986}"/>
              </a:ext>
            </a:extLst>
          </p:cNvPr>
          <p:cNvSpPr>
            <a:spLocks noGrp="1"/>
          </p:cNvSpPr>
          <p:nvPr/>
        </p:nvSpPr>
        <p:spPr>
          <a:xfrm>
            <a:off x="640080" y="1874520"/>
            <a:ext cx="1965960" cy="2057400"/>
          </a:xfrm>
          <a:prstGeom prst="roundRect">
            <a:avLst>
              <a:gd name="adj" fmla="val 3721"/>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14" name="Shape 12">
            <a:extLst>
              <a:ext uri="{FF2B5EF4-FFF2-40B4-BE49-F238E27FC236}">
                <a16:creationId xmlns:a16="http://schemas.microsoft.com/office/drawing/2014/main" id="{CBC4FE0C-8C8B-4B13-9064-7033E5781334}"/>
              </a:ext>
            </a:extLst>
          </p:cNvPr>
          <p:cNvSpPr>
            <a:spLocks noGrp="1"/>
          </p:cNvSpPr>
          <p:nvPr/>
        </p:nvSpPr>
        <p:spPr>
          <a:xfrm>
            <a:off x="804672" y="2029968"/>
            <a:ext cx="438912" cy="438912"/>
          </a:xfrm>
          <a:prstGeom prst="ellipse">
            <a:avLst/>
          </a:prstGeom>
          <a:solidFill>
            <a:srgbClr val="EAF8FC"/>
          </a:solidFill>
          <a:ln w="10160">
            <a:solidFill>
              <a:srgbClr val="D5EEF7"/>
            </a:solidFill>
            <a:prstDash val="solid"/>
          </a:ln>
        </p:spPr>
        <p:txBody>
          <a:bodyPr/>
          <a:lstStyle/>
          <a:p>
            <a:endParaRPr/>
          </a:p>
        </p:txBody>
      </p:sp>
      <p:sp>
        <p:nvSpPr>
          <p:cNvPr id="15" name="Text 13">
            <a:extLst>
              <a:ext uri="{FF2B5EF4-FFF2-40B4-BE49-F238E27FC236}">
                <a16:creationId xmlns:a16="http://schemas.microsoft.com/office/drawing/2014/main" id="{4999732D-FDDD-4DBE-BF95-DACD81B2EC4F}"/>
              </a:ext>
            </a:extLst>
          </p:cNvPr>
          <p:cNvSpPr>
            <a:spLocks noGrp="1"/>
          </p:cNvSpPr>
          <p:nvPr/>
        </p:nvSpPr>
        <p:spPr>
          <a:xfrm>
            <a:off x="804672" y="2089404"/>
            <a:ext cx="438912" cy="228600"/>
          </a:xfrm>
          <a:prstGeom prst="rect">
            <a:avLst/>
          </a:prstGeom>
          <a:noFill/>
        </p:spPr>
        <p:txBody>
          <a:bodyPr wrap="square" lIns="0" tIns="0" rIns="0" bIns="0" anchor="ctr"/>
          <a:lstStyle/>
          <a:p>
            <a:pPr marL="0" indent="0" algn="ctr">
              <a:buNone/>
            </a:pPr>
            <a:r>
              <a:rPr sz="1550">
                <a:solidFill>
                  <a:srgbClr val="17B7D7"/>
                </a:solidFill>
              </a:rPr>
              <a:t>1</a:t>
            </a:r>
          </a:p>
        </p:txBody>
      </p:sp>
      <p:sp>
        <p:nvSpPr>
          <p:cNvPr id="16" name="Text 14">
            <a:extLst>
              <a:ext uri="{FF2B5EF4-FFF2-40B4-BE49-F238E27FC236}">
                <a16:creationId xmlns:a16="http://schemas.microsoft.com/office/drawing/2014/main" id="{55DB74F9-1EEA-49D6-95B8-CF5F7BB3D0EA}"/>
              </a:ext>
            </a:extLst>
          </p:cNvPr>
          <p:cNvSpPr>
            <a:spLocks noGrp="1"/>
          </p:cNvSpPr>
          <p:nvPr/>
        </p:nvSpPr>
        <p:spPr>
          <a:xfrm>
            <a:off x="1325880" y="2039112"/>
            <a:ext cx="1143000" cy="256032"/>
          </a:xfrm>
          <a:prstGeom prst="rect">
            <a:avLst/>
          </a:prstGeom>
          <a:noFill/>
        </p:spPr>
        <p:txBody>
          <a:bodyPr wrap="square" lIns="0" tIns="0" rIns="0" bIns="0" anchor="ctr">
            <a:normAutofit fontScale="64905" lnSpcReduction="20000"/>
          </a:bodyPr>
          <a:lstStyle/>
          <a:p>
            <a:pPr marL="0" indent="0">
              <a:buNone/>
            </a:pPr>
            <a:r>
              <a:rPr sz="1600" b="1">
                <a:solidFill>
                  <a:srgbClr val="07245A"/>
                </a:solidFill>
              </a:rPr>
              <a:t>Carga y objetivos</a:t>
            </a:r>
          </a:p>
        </p:txBody>
      </p:sp>
      <p:sp>
        <p:nvSpPr>
          <p:cNvPr id="17" name="Shape 15">
            <a:extLst>
              <a:ext uri="{FF2B5EF4-FFF2-40B4-BE49-F238E27FC236}">
                <a16:creationId xmlns:a16="http://schemas.microsoft.com/office/drawing/2014/main" id="{0CE98EB1-1BCD-485E-9A65-E17C7C997392}"/>
              </a:ext>
            </a:extLst>
          </p:cNvPr>
          <p:cNvSpPr>
            <a:spLocks noGrp="1"/>
          </p:cNvSpPr>
          <p:nvPr/>
        </p:nvSpPr>
        <p:spPr>
          <a:xfrm>
            <a:off x="1325880" y="2359152"/>
            <a:ext cx="411480" cy="0"/>
          </a:xfrm>
          <a:prstGeom prst="line">
            <a:avLst/>
          </a:prstGeom>
          <a:noFill/>
          <a:ln w="22860">
            <a:solidFill>
              <a:srgbClr val="17B7D7"/>
            </a:solidFill>
            <a:prstDash val="solid"/>
          </a:ln>
        </p:spPr>
        <p:txBody>
          <a:bodyPr/>
          <a:lstStyle/>
          <a:p>
            <a:endParaRPr/>
          </a:p>
        </p:txBody>
      </p:sp>
      <p:sp>
        <p:nvSpPr>
          <p:cNvPr id="18" name="Text 16">
            <a:extLst>
              <a:ext uri="{FF2B5EF4-FFF2-40B4-BE49-F238E27FC236}">
                <a16:creationId xmlns:a16="http://schemas.microsoft.com/office/drawing/2014/main" id="{72EE3412-64C0-4F6E-819F-EE0037424C3B}"/>
              </a:ext>
            </a:extLst>
          </p:cNvPr>
          <p:cNvSpPr>
            <a:spLocks noGrp="1"/>
          </p:cNvSpPr>
          <p:nvPr/>
        </p:nvSpPr>
        <p:spPr>
          <a:xfrm>
            <a:off x="841248" y="2532888"/>
            <a:ext cx="1563624" cy="1307592"/>
          </a:xfrm>
          <a:prstGeom prst="rect">
            <a:avLst/>
          </a:prstGeom>
          <a:noFill/>
        </p:spPr>
        <p:txBody>
          <a:bodyPr wrap="square" lIns="381" tIns="381" rIns="381" bIns="381" anchor="ctr">
            <a:normAutofit/>
          </a:bodyPr>
          <a:lstStyle/>
          <a:p>
            <a:pPr marL="0" indent="0">
              <a:buNone/>
            </a:pPr>
            <a:r>
              <a:rPr sz="1800">
                <a:solidFill>
                  <a:srgbClr val="17212B"/>
                </a:solidFill>
              </a:rPr>
              <a:t>Volumen, frecuencia, criticidad y crecimiento</a:t>
            </a:r>
          </a:p>
        </p:txBody>
      </p:sp>
      <p:sp>
        <p:nvSpPr>
          <p:cNvPr id="19" name="Shape 17">
            <a:extLst>
              <a:ext uri="{FF2B5EF4-FFF2-40B4-BE49-F238E27FC236}">
                <a16:creationId xmlns:a16="http://schemas.microsoft.com/office/drawing/2014/main" id="{DD9FB6DD-2D0D-4AAC-96E4-9FD9BF63D0C0}"/>
              </a:ext>
            </a:extLst>
          </p:cNvPr>
          <p:cNvSpPr>
            <a:spLocks noGrp="1"/>
          </p:cNvSpPr>
          <p:nvPr/>
        </p:nvSpPr>
        <p:spPr>
          <a:xfrm>
            <a:off x="2926080" y="1874520"/>
            <a:ext cx="1965960" cy="2057400"/>
          </a:xfrm>
          <a:prstGeom prst="roundRect">
            <a:avLst>
              <a:gd name="adj" fmla="val 3721"/>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0" name="Shape 18">
            <a:extLst>
              <a:ext uri="{FF2B5EF4-FFF2-40B4-BE49-F238E27FC236}">
                <a16:creationId xmlns:a16="http://schemas.microsoft.com/office/drawing/2014/main" id="{9EF1F276-EC4C-4D22-89D9-E657F37503C4}"/>
              </a:ext>
            </a:extLst>
          </p:cNvPr>
          <p:cNvSpPr>
            <a:spLocks noGrp="1"/>
          </p:cNvSpPr>
          <p:nvPr/>
        </p:nvSpPr>
        <p:spPr>
          <a:xfrm>
            <a:off x="3090672" y="2029968"/>
            <a:ext cx="438912" cy="438912"/>
          </a:xfrm>
          <a:prstGeom prst="ellipse">
            <a:avLst/>
          </a:prstGeom>
          <a:solidFill>
            <a:srgbClr val="EAF8FC"/>
          </a:solidFill>
          <a:ln w="10160">
            <a:solidFill>
              <a:srgbClr val="D5EEF7"/>
            </a:solidFill>
            <a:prstDash val="solid"/>
          </a:ln>
        </p:spPr>
        <p:txBody>
          <a:bodyPr/>
          <a:lstStyle/>
          <a:p>
            <a:endParaRPr/>
          </a:p>
        </p:txBody>
      </p:sp>
      <p:sp>
        <p:nvSpPr>
          <p:cNvPr id="21" name="Text 19">
            <a:extLst>
              <a:ext uri="{FF2B5EF4-FFF2-40B4-BE49-F238E27FC236}">
                <a16:creationId xmlns:a16="http://schemas.microsoft.com/office/drawing/2014/main" id="{F231A8AF-D147-4B97-BF26-CE52CFC190FC}"/>
              </a:ext>
            </a:extLst>
          </p:cNvPr>
          <p:cNvSpPr>
            <a:spLocks noGrp="1"/>
          </p:cNvSpPr>
          <p:nvPr/>
        </p:nvSpPr>
        <p:spPr>
          <a:xfrm>
            <a:off x="3090672" y="2089404"/>
            <a:ext cx="438912" cy="228600"/>
          </a:xfrm>
          <a:prstGeom prst="rect">
            <a:avLst/>
          </a:prstGeom>
          <a:noFill/>
        </p:spPr>
        <p:txBody>
          <a:bodyPr wrap="square" lIns="0" tIns="0" rIns="0" bIns="0" anchor="ctr"/>
          <a:lstStyle/>
          <a:p>
            <a:pPr marL="0" indent="0" algn="ctr">
              <a:buNone/>
            </a:pPr>
            <a:r>
              <a:rPr sz="1550">
                <a:solidFill>
                  <a:srgbClr val="17B7D7"/>
                </a:solidFill>
              </a:rPr>
              <a:t>2</a:t>
            </a:r>
          </a:p>
        </p:txBody>
      </p:sp>
      <p:sp>
        <p:nvSpPr>
          <p:cNvPr id="22" name="Text 20">
            <a:extLst>
              <a:ext uri="{FF2B5EF4-FFF2-40B4-BE49-F238E27FC236}">
                <a16:creationId xmlns:a16="http://schemas.microsoft.com/office/drawing/2014/main" id="{47998F5D-0E17-4C43-B9F3-00E773C50045}"/>
              </a:ext>
            </a:extLst>
          </p:cNvPr>
          <p:cNvSpPr>
            <a:spLocks noGrp="1"/>
          </p:cNvSpPr>
          <p:nvPr/>
        </p:nvSpPr>
        <p:spPr>
          <a:xfrm>
            <a:off x="3611880" y="2039112"/>
            <a:ext cx="1143000" cy="256032"/>
          </a:xfrm>
          <a:prstGeom prst="rect">
            <a:avLst/>
          </a:prstGeom>
          <a:noFill/>
        </p:spPr>
        <p:txBody>
          <a:bodyPr wrap="square" lIns="0" tIns="0" rIns="0" bIns="0" anchor="ctr">
            <a:normAutofit fontScale="64399" lnSpcReduction="20000"/>
          </a:bodyPr>
          <a:lstStyle/>
          <a:p>
            <a:pPr marL="0" indent="0">
              <a:buNone/>
            </a:pPr>
            <a:r>
              <a:rPr sz="1600" b="1">
                <a:solidFill>
                  <a:srgbClr val="07245A"/>
                </a:solidFill>
              </a:rPr>
              <a:t>Almacenamiento</a:t>
            </a:r>
          </a:p>
        </p:txBody>
      </p:sp>
      <p:sp>
        <p:nvSpPr>
          <p:cNvPr id="23" name="Shape 21">
            <a:extLst>
              <a:ext uri="{FF2B5EF4-FFF2-40B4-BE49-F238E27FC236}">
                <a16:creationId xmlns:a16="http://schemas.microsoft.com/office/drawing/2014/main" id="{E0CFE46E-1A38-4050-877C-AE3DA43933B4}"/>
              </a:ext>
            </a:extLst>
          </p:cNvPr>
          <p:cNvSpPr>
            <a:spLocks noGrp="1"/>
          </p:cNvSpPr>
          <p:nvPr/>
        </p:nvSpPr>
        <p:spPr>
          <a:xfrm>
            <a:off x="3611880" y="2359152"/>
            <a:ext cx="411480" cy="0"/>
          </a:xfrm>
          <a:prstGeom prst="line">
            <a:avLst/>
          </a:prstGeom>
          <a:noFill/>
          <a:ln w="22860">
            <a:solidFill>
              <a:srgbClr val="17B7D7"/>
            </a:solidFill>
            <a:prstDash val="solid"/>
          </a:ln>
        </p:spPr>
        <p:txBody>
          <a:bodyPr/>
          <a:lstStyle/>
          <a:p>
            <a:endParaRPr/>
          </a:p>
        </p:txBody>
      </p:sp>
      <p:sp>
        <p:nvSpPr>
          <p:cNvPr id="24" name="Text 22">
            <a:extLst>
              <a:ext uri="{FF2B5EF4-FFF2-40B4-BE49-F238E27FC236}">
                <a16:creationId xmlns:a16="http://schemas.microsoft.com/office/drawing/2014/main" id="{7A49D0C5-3D39-4F7E-9467-AD1CCD659292}"/>
              </a:ext>
            </a:extLst>
          </p:cNvPr>
          <p:cNvSpPr>
            <a:spLocks noGrp="1"/>
          </p:cNvSpPr>
          <p:nvPr/>
        </p:nvSpPr>
        <p:spPr>
          <a:xfrm>
            <a:off x="3127248" y="2532888"/>
            <a:ext cx="1563624" cy="1307592"/>
          </a:xfrm>
          <a:prstGeom prst="rect">
            <a:avLst/>
          </a:prstGeom>
          <a:noFill/>
        </p:spPr>
        <p:txBody>
          <a:bodyPr wrap="square" lIns="381" tIns="381" rIns="381" bIns="381" anchor="ctr">
            <a:normAutofit/>
          </a:bodyPr>
          <a:lstStyle/>
          <a:p>
            <a:pPr marL="0" indent="0">
              <a:buNone/>
            </a:pPr>
            <a:r>
              <a:rPr sz="1800">
                <a:solidFill>
                  <a:srgbClr val="17212B"/>
                </a:solidFill>
              </a:rPr>
              <a:t>Páginas, archivos, tablespaces y organización</a:t>
            </a:r>
          </a:p>
        </p:txBody>
      </p:sp>
      <p:sp>
        <p:nvSpPr>
          <p:cNvPr id="25" name="Shape 23">
            <a:extLst>
              <a:ext uri="{FF2B5EF4-FFF2-40B4-BE49-F238E27FC236}">
                <a16:creationId xmlns:a16="http://schemas.microsoft.com/office/drawing/2014/main" id="{F38DDCAE-D3CE-496C-82B1-C2B017F5C9A7}"/>
              </a:ext>
            </a:extLst>
          </p:cNvPr>
          <p:cNvSpPr>
            <a:spLocks noGrp="1"/>
          </p:cNvSpPr>
          <p:nvPr/>
        </p:nvSpPr>
        <p:spPr>
          <a:xfrm>
            <a:off x="5212080" y="1874520"/>
            <a:ext cx="1965960" cy="2057400"/>
          </a:xfrm>
          <a:prstGeom prst="roundRect">
            <a:avLst>
              <a:gd name="adj" fmla="val 3721"/>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6" name="Shape 24">
            <a:extLst>
              <a:ext uri="{FF2B5EF4-FFF2-40B4-BE49-F238E27FC236}">
                <a16:creationId xmlns:a16="http://schemas.microsoft.com/office/drawing/2014/main" id="{BA7AA24C-DD0D-4B9B-BB4A-6FCF023E46AF}"/>
              </a:ext>
            </a:extLst>
          </p:cNvPr>
          <p:cNvSpPr>
            <a:spLocks noGrp="1"/>
          </p:cNvSpPr>
          <p:nvPr/>
        </p:nvSpPr>
        <p:spPr>
          <a:xfrm>
            <a:off x="5376672" y="2029968"/>
            <a:ext cx="438912" cy="438912"/>
          </a:xfrm>
          <a:prstGeom prst="ellipse">
            <a:avLst/>
          </a:prstGeom>
          <a:solidFill>
            <a:srgbClr val="EAF8FC"/>
          </a:solidFill>
          <a:ln w="10160">
            <a:solidFill>
              <a:srgbClr val="D5EEF7"/>
            </a:solidFill>
            <a:prstDash val="solid"/>
          </a:ln>
        </p:spPr>
        <p:txBody>
          <a:bodyPr/>
          <a:lstStyle/>
          <a:p>
            <a:endParaRPr/>
          </a:p>
        </p:txBody>
      </p:sp>
      <p:sp>
        <p:nvSpPr>
          <p:cNvPr id="27" name="Text 25">
            <a:extLst>
              <a:ext uri="{FF2B5EF4-FFF2-40B4-BE49-F238E27FC236}">
                <a16:creationId xmlns:a16="http://schemas.microsoft.com/office/drawing/2014/main" id="{19CCF640-CEBC-4CF8-87B2-D8243079A673}"/>
              </a:ext>
            </a:extLst>
          </p:cNvPr>
          <p:cNvSpPr>
            <a:spLocks noGrp="1"/>
          </p:cNvSpPr>
          <p:nvPr/>
        </p:nvSpPr>
        <p:spPr>
          <a:xfrm>
            <a:off x="5376672" y="2089404"/>
            <a:ext cx="438912" cy="228600"/>
          </a:xfrm>
          <a:prstGeom prst="rect">
            <a:avLst/>
          </a:prstGeom>
          <a:noFill/>
        </p:spPr>
        <p:txBody>
          <a:bodyPr wrap="square" lIns="0" tIns="0" rIns="0" bIns="0" anchor="ctr"/>
          <a:lstStyle/>
          <a:p>
            <a:pPr marL="0" indent="0" algn="ctr">
              <a:buNone/>
            </a:pPr>
            <a:r>
              <a:rPr sz="1550">
                <a:solidFill>
                  <a:srgbClr val="17B7D7"/>
                </a:solidFill>
              </a:rPr>
              <a:t>3</a:t>
            </a:r>
          </a:p>
        </p:txBody>
      </p:sp>
      <p:sp>
        <p:nvSpPr>
          <p:cNvPr id="28" name="Text 26">
            <a:extLst>
              <a:ext uri="{FF2B5EF4-FFF2-40B4-BE49-F238E27FC236}">
                <a16:creationId xmlns:a16="http://schemas.microsoft.com/office/drawing/2014/main" id="{76352B54-361E-43C1-9D46-9F85EF6DA1EB}"/>
              </a:ext>
            </a:extLst>
          </p:cNvPr>
          <p:cNvSpPr>
            <a:spLocks noGrp="1"/>
          </p:cNvSpPr>
          <p:nvPr/>
        </p:nvSpPr>
        <p:spPr>
          <a:xfrm>
            <a:off x="5897880" y="2039112"/>
            <a:ext cx="1143000" cy="256032"/>
          </a:xfrm>
          <a:prstGeom prst="rect">
            <a:avLst/>
          </a:prstGeom>
          <a:noFill/>
        </p:spPr>
        <p:txBody>
          <a:bodyPr wrap="square" lIns="0" tIns="0" rIns="0" bIns="0" anchor="ctr">
            <a:normAutofit/>
          </a:bodyPr>
          <a:lstStyle/>
          <a:p>
            <a:pPr marL="0" indent="0">
              <a:buNone/>
            </a:pPr>
            <a:r>
              <a:rPr sz="1600" b="1">
                <a:solidFill>
                  <a:srgbClr val="07245A"/>
                </a:solidFill>
              </a:rPr>
              <a:t>Índices</a:t>
            </a:r>
          </a:p>
        </p:txBody>
      </p:sp>
      <p:sp>
        <p:nvSpPr>
          <p:cNvPr id="29" name="Shape 27">
            <a:extLst>
              <a:ext uri="{FF2B5EF4-FFF2-40B4-BE49-F238E27FC236}">
                <a16:creationId xmlns:a16="http://schemas.microsoft.com/office/drawing/2014/main" id="{88E0847D-B14C-449F-B4FB-67A5BD3CBC2A}"/>
              </a:ext>
            </a:extLst>
          </p:cNvPr>
          <p:cNvSpPr>
            <a:spLocks noGrp="1"/>
          </p:cNvSpPr>
          <p:nvPr/>
        </p:nvSpPr>
        <p:spPr>
          <a:xfrm>
            <a:off x="5897880" y="2359152"/>
            <a:ext cx="411480" cy="0"/>
          </a:xfrm>
          <a:prstGeom prst="line">
            <a:avLst/>
          </a:prstGeom>
          <a:noFill/>
          <a:ln w="22860">
            <a:solidFill>
              <a:srgbClr val="17B7D7"/>
            </a:solidFill>
            <a:prstDash val="solid"/>
          </a:ln>
        </p:spPr>
        <p:txBody>
          <a:bodyPr/>
          <a:lstStyle/>
          <a:p>
            <a:endParaRPr/>
          </a:p>
        </p:txBody>
      </p:sp>
      <p:sp>
        <p:nvSpPr>
          <p:cNvPr id="30" name="Text 28">
            <a:extLst>
              <a:ext uri="{FF2B5EF4-FFF2-40B4-BE49-F238E27FC236}">
                <a16:creationId xmlns:a16="http://schemas.microsoft.com/office/drawing/2014/main" id="{C1D79455-3777-4B2C-927F-8D6F7C6A1F27}"/>
              </a:ext>
            </a:extLst>
          </p:cNvPr>
          <p:cNvSpPr>
            <a:spLocks noGrp="1"/>
          </p:cNvSpPr>
          <p:nvPr/>
        </p:nvSpPr>
        <p:spPr>
          <a:xfrm>
            <a:off x="5413248" y="2532888"/>
            <a:ext cx="1563624" cy="1307592"/>
          </a:xfrm>
          <a:prstGeom prst="rect">
            <a:avLst/>
          </a:prstGeom>
          <a:noFill/>
        </p:spPr>
        <p:txBody>
          <a:bodyPr wrap="square" lIns="381" tIns="381" rIns="381" bIns="381" anchor="ctr">
            <a:normAutofit/>
          </a:bodyPr>
          <a:lstStyle/>
          <a:p>
            <a:pPr marL="0" indent="0">
              <a:buNone/>
            </a:pPr>
            <a:r>
              <a:rPr sz="1800">
                <a:solidFill>
                  <a:srgbClr val="17212B"/>
                </a:solidFill>
              </a:rPr>
              <a:t>B-tree, compuestos, selectividad y cobertura</a:t>
            </a:r>
          </a:p>
        </p:txBody>
      </p:sp>
      <p:sp>
        <p:nvSpPr>
          <p:cNvPr id="31" name="Shape 29">
            <a:extLst>
              <a:ext uri="{FF2B5EF4-FFF2-40B4-BE49-F238E27FC236}">
                <a16:creationId xmlns:a16="http://schemas.microsoft.com/office/drawing/2014/main" id="{E9BF965E-3F92-475A-B5FD-A5059FFB221D}"/>
              </a:ext>
            </a:extLst>
          </p:cNvPr>
          <p:cNvSpPr>
            <a:spLocks noGrp="1"/>
          </p:cNvSpPr>
          <p:nvPr/>
        </p:nvSpPr>
        <p:spPr>
          <a:xfrm>
            <a:off x="7498080" y="1874520"/>
            <a:ext cx="1965960" cy="2057400"/>
          </a:xfrm>
          <a:prstGeom prst="roundRect">
            <a:avLst>
              <a:gd name="adj" fmla="val 3721"/>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32" name="Shape 30">
            <a:extLst>
              <a:ext uri="{FF2B5EF4-FFF2-40B4-BE49-F238E27FC236}">
                <a16:creationId xmlns:a16="http://schemas.microsoft.com/office/drawing/2014/main" id="{F6401D1E-2EF4-4437-82FF-75FFD314D8D7}"/>
              </a:ext>
            </a:extLst>
          </p:cNvPr>
          <p:cNvSpPr>
            <a:spLocks noGrp="1"/>
          </p:cNvSpPr>
          <p:nvPr/>
        </p:nvSpPr>
        <p:spPr>
          <a:xfrm>
            <a:off x="7662672" y="2029968"/>
            <a:ext cx="438912" cy="438912"/>
          </a:xfrm>
          <a:prstGeom prst="ellipse">
            <a:avLst/>
          </a:prstGeom>
          <a:solidFill>
            <a:srgbClr val="EAF8FC"/>
          </a:solidFill>
          <a:ln w="10160">
            <a:solidFill>
              <a:srgbClr val="D5EEF7"/>
            </a:solidFill>
            <a:prstDash val="solid"/>
          </a:ln>
        </p:spPr>
        <p:txBody>
          <a:bodyPr/>
          <a:lstStyle/>
          <a:p>
            <a:endParaRPr/>
          </a:p>
        </p:txBody>
      </p:sp>
      <p:sp>
        <p:nvSpPr>
          <p:cNvPr id="33" name="Text 31">
            <a:extLst>
              <a:ext uri="{FF2B5EF4-FFF2-40B4-BE49-F238E27FC236}">
                <a16:creationId xmlns:a16="http://schemas.microsoft.com/office/drawing/2014/main" id="{3CDE1C23-537F-4745-933D-F7616E4C067C}"/>
              </a:ext>
            </a:extLst>
          </p:cNvPr>
          <p:cNvSpPr>
            <a:spLocks noGrp="1"/>
          </p:cNvSpPr>
          <p:nvPr/>
        </p:nvSpPr>
        <p:spPr>
          <a:xfrm>
            <a:off x="7662672" y="2089404"/>
            <a:ext cx="438912" cy="228600"/>
          </a:xfrm>
          <a:prstGeom prst="rect">
            <a:avLst/>
          </a:prstGeom>
          <a:noFill/>
        </p:spPr>
        <p:txBody>
          <a:bodyPr wrap="square" lIns="0" tIns="0" rIns="0" bIns="0" anchor="ctr"/>
          <a:lstStyle/>
          <a:p>
            <a:pPr marL="0" indent="0" algn="ctr">
              <a:buNone/>
            </a:pPr>
            <a:r>
              <a:rPr sz="1550">
                <a:solidFill>
                  <a:srgbClr val="0B5CAD"/>
                </a:solidFill>
              </a:rPr>
              <a:t>4</a:t>
            </a:r>
          </a:p>
        </p:txBody>
      </p:sp>
      <p:sp>
        <p:nvSpPr>
          <p:cNvPr id="34" name="Text 32">
            <a:extLst>
              <a:ext uri="{FF2B5EF4-FFF2-40B4-BE49-F238E27FC236}">
                <a16:creationId xmlns:a16="http://schemas.microsoft.com/office/drawing/2014/main" id="{392406F1-46FB-40F5-BB2E-8EB04DEF4BB7}"/>
              </a:ext>
            </a:extLst>
          </p:cNvPr>
          <p:cNvSpPr>
            <a:spLocks noGrp="1"/>
          </p:cNvSpPr>
          <p:nvPr/>
        </p:nvSpPr>
        <p:spPr>
          <a:xfrm>
            <a:off x="8183880" y="2039112"/>
            <a:ext cx="1143000" cy="256032"/>
          </a:xfrm>
          <a:prstGeom prst="rect">
            <a:avLst/>
          </a:prstGeom>
          <a:noFill/>
        </p:spPr>
        <p:txBody>
          <a:bodyPr wrap="square" lIns="0" tIns="0" rIns="0" bIns="0" anchor="ctr">
            <a:normAutofit fontScale="60884" lnSpcReduction="20000"/>
          </a:bodyPr>
          <a:lstStyle/>
          <a:p>
            <a:pPr marL="0" indent="0">
              <a:buNone/>
            </a:pPr>
            <a:r>
              <a:rPr sz="1600" b="1">
                <a:solidFill>
                  <a:srgbClr val="07245A"/>
                </a:solidFill>
              </a:rPr>
              <a:t>Particiones y planes</a:t>
            </a:r>
          </a:p>
        </p:txBody>
      </p:sp>
      <p:sp>
        <p:nvSpPr>
          <p:cNvPr id="35" name="Shape 33">
            <a:extLst>
              <a:ext uri="{FF2B5EF4-FFF2-40B4-BE49-F238E27FC236}">
                <a16:creationId xmlns:a16="http://schemas.microsoft.com/office/drawing/2014/main" id="{6E99E1A5-20A2-41C0-987B-4E4E157C2FA5}"/>
              </a:ext>
            </a:extLst>
          </p:cNvPr>
          <p:cNvSpPr>
            <a:spLocks noGrp="1"/>
          </p:cNvSpPr>
          <p:nvPr/>
        </p:nvSpPr>
        <p:spPr>
          <a:xfrm>
            <a:off x="8183880" y="2359152"/>
            <a:ext cx="411480" cy="0"/>
          </a:xfrm>
          <a:prstGeom prst="line">
            <a:avLst/>
          </a:prstGeom>
          <a:noFill/>
          <a:ln w="22860">
            <a:solidFill>
              <a:srgbClr val="0B5CAD"/>
            </a:solidFill>
            <a:prstDash val="solid"/>
          </a:ln>
        </p:spPr>
        <p:txBody>
          <a:bodyPr/>
          <a:lstStyle/>
          <a:p>
            <a:endParaRPr/>
          </a:p>
        </p:txBody>
      </p:sp>
      <p:sp>
        <p:nvSpPr>
          <p:cNvPr id="36" name="Text 34">
            <a:extLst>
              <a:ext uri="{FF2B5EF4-FFF2-40B4-BE49-F238E27FC236}">
                <a16:creationId xmlns:a16="http://schemas.microsoft.com/office/drawing/2014/main" id="{FF71768B-2D0D-4005-BB41-0F00D39A350E}"/>
              </a:ext>
            </a:extLst>
          </p:cNvPr>
          <p:cNvSpPr>
            <a:spLocks noGrp="1"/>
          </p:cNvSpPr>
          <p:nvPr/>
        </p:nvSpPr>
        <p:spPr>
          <a:xfrm>
            <a:off x="7699248" y="2532888"/>
            <a:ext cx="1563624" cy="1307592"/>
          </a:xfrm>
          <a:prstGeom prst="rect">
            <a:avLst/>
          </a:prstGeom>
          <a:noFill/>
        </p:spPr>
        <p:txBody>
          <a:bodyPr wrap="square" lIns="381" tIns="381" rIns="381" bIns="381" anchor="ctr">
            <a:normAutofit/>
          </a:bodyPr>
          <a:lstStyle/>
          <a:p>
            <a:pPr marL="0" indent="0">
              <a:buNone/>
            </a:pPr>
            <a:r>
              <a:rPr sz="1800">
                <a:solidFill>
                  <a:srgbClr val="17212B"/>
                </a:solidFill>
              </a:rPr>
              <a:t>Rango, lista, hash, estadísticas y optimizador</a:t>
            </a:r>
          </a:p>
        </p:txBody>
      </p:sp>
      <p:sp>
        <p:nvSpPr>
          <p:cNvPr id="37" name="Shape 35">
            <a:extLst>
              <a:ext uri="{FF2B5EF4-FFF2-40B4-BE49-F238E27FC236}">
                <a16:creationId xmlns:a16="http://schemas.microsoft.com/office/drawing/2014/main" id="{DE6DCCF4-28E6-4833-BE50-B8F0473DE8B0}"/>
              </a:ext>
            </a:extLst>
          </p:cNvPr>
          <p:cNvSpPr>
            <a:spLocks noGrp="1"/>
          </p:cNvSpPr>
          <p:nvPr/>
        </p:nvSpPr>
        <p:spPr>
          <a:xfrm>
            <a:off x="9784080" y="1874520"/>
            <a:ext cx="1965960" cy="2057400"/>
          </a:xfrm>
          <a:prstGeom prst="roundRect">
            <a:avLst>
              <a:gd name="adj" fmla="val 3721"/>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38" name="Shape 36">
            <a:extLst>
              <a:ext uri="{FF2B5EF4-FFF2-40B4-BE49-F238E27FC236}">
                <a16:creationId xmlns:a16="http://schemas.microsoft.com/office/drawing/2014/main" id="{921B75D8-6BA8-47B3-8925-B57C9BECF6D6}"/>
              </a:ext>
            </a:extLst>
          </p:cNvPr>
          <p:cNvSpPr>
            <a:spLocks noGrp="1"/>
          </p:cNvSpPr>
          <p:nvPr/>
        </p:nvSpPr>
        <p:spPr>
          <a:xfrm>
            <a:off x="9948672" y="2029968"/>
            <a:ext cx="438912" cy="438912"/>
          </a:xfrm>
          <a:prstGeom prst="ellipse">
            <a:avLst/>
          </a:prstGeom>
          <a:solidFill>
            <a:srgbClr val="EAF8FC"/>
          </a:solidFill>
          <a:ln w="10160">
            <a:solidFill>
              <a:srgbClr val="D5EEF7"/>
            </a:solidFill>
            <a:prstDash val="solid"/>
          </a:ln>
        </p:spPr>
        <p:txBody>
          <a:bodyPr/>
          <a:lstStyle/>
          <a:p>
            <a:endParaRPr/>
          </a:p>
        </p:txBody>
      </p:sp>
      <p:sp>
        <p:nvSpPr>
          <p:cNvPr id="39" name="Text 37">
            <a:extLst>
              <a:ext uri="{FF2B5EF4-FFF2-40B4-BE49-F238E27FC236}">
                <a16:creationId xmlns:a16="http://schemas.microsoft.com/office/drawing/2014/main" id="{E5DE4E19-4376-4D35-BD22-92F8C7E355C5}"/>
              </a:ext>
            </a:extLst>
          </p:cNvPr>
          <p:cNvSpPr>
            <a:spLocks noGrp="1"/>
          </p:cNvSpPr>
          <p:nvPr/>
        </p:nvSpPr>
        <p:spPr>
          <a:xfrm>
            <a:off x="9948672" y="2089404"/>
            <a:ext cx="438912" cy="228600"/>
          </a:xfrm>
          <a:prstGeom prst="rect">
            <a:avLst/>
          </a:prstGeom>
          <a:noFill/>
        </p:spPr>
        <p:txBody>
          <a:bodyPr wrap="square" lIns="0" tIns="0" rIns="0" bIns="0" anchor="ctr"/>
          <a:lstStyle/>
          <a:p>
            <a:pPr marL="0" indent="0" algn="ctr">
              <a:buNone/>
            </a:pPr>
            <a:r>
              <a:rPr sz="1550">
                <a:solidFill>
                  <a:srgbClr val="0B5CAD"/>
                </a:solidFill>
              </a:rPr>
              <a:t>5</a:t>
            </a:r>
          </a:p>
        </p:txBody>
      </p:sp>
      <p:sp>
        <p:nvSpPr>
          <p:cNvPr id="40" name="Text 38">
            <a:extLst>
              <a:ext uri="{FF2B5EF4-FFF2-40B4-BE49-F238E27FC236}">
                <a16:creationId xmlns:a16="http://schemas.microsoft.com/office/drawing/2014/main" id="{AFECFC72-B476-4B85-B9F4-3537A57531E6}"/>
              </a:ext>
            </a:extLst>
          </p:cNvPr>
          <p:cNvSpPr>
            <a:spLocks noGrp="1"/>
          </p:cNvSpPr>
          <p:nvPr/>
        </p:nvSpPr>
        <p:spPr>
          <a:xfrm>
            <a:off x="10469880" y="2039112"/>
            <a:ext cx="1143000" cy="256032"/>
          </a:xfrm>
          <a:prstGeom prst="rect">
            <a:avLst/>
          </a:prstGeom>
          <a:noFill/>
        </p:spPr>
        <p:txBody>
          <a:bodyPr wrap="square" lIns="0" tIns="0" rIns="0" bIns="0" anchor="ctr">
            <a:normAutofit fontScale="70446" lnSpcReduction="20000"/>
          </a:bodyPr>
          <a:lstStyle/>
          <a:p>
            <a:pPr marL="0" indent="0">
              <a:buNone/>
            </a:pPr>
            <a:r>
              <a:rPr sz="1600" b="1">
                <a:solidFill>
                  <a:srgbClr val="07245A"/>
                </a:solidFill>
              </a:rPr>
              <a:t>Medir y defender</a:t>
            </a:r>
          </a:p>
        </p:txBody>
      </p:sp>
      <p:sp>
        <p:nvSpPr>
          <p:cNvPr id="41" name="Shape 39">
            <a:extLst>
              <a:ext uri="{FF2B5EF4-FFF2-40B4-BE49-F238E27FC236}">
                <a16:creationId xmlns:a16="http://schemas.microsoft.com/office/drawing/2014/main" id="{0D5ECED0-3EEE-4E48-82CE-4071DCC8C15F}"/>
              </a:ext>
            </a:extLst>
          </p:cNvPr>
          <p:cNvSpPr>
            <a:spLocks noGrp="1"/>
          </p:cNvSpPr>
          <p:nvPr/>
        </p:nvSpPr>
        <p:spPr>
          <a:xfrm>
            <a:off x="10469880" y="2359152"/>
            <a:ext cx="411480" cy="0"/>
          </a:xfrm>
          <a:prstGeom prst="line">
            <a:avLst/>
          </a:prstGeom>
          <a:noFill/>
          <a:ln w="22860">
            <a:solidFill>
              <a:srgbClr val="0B5CAD"/>
            </a:solidFill>
            <a:prstDash val="solid"/>
          </a:ln>
        </p:spPr>
        <p:txBody>
          <a:bodyPr/>
          <a:lstStyle/>
          <a:p>
            <a:endParaRPr/>
          </a:p>
        </p:txBody>
      </p:sp>
      <p:sp>
        <p:nvSpPr>
          <p:cNvPr id="42" name="Text 40">
            <a:extLst>
              <a:ext uri="{FF2B5EF4-FFF2-40B4-BE49-F238E27FC236}">
                <a16:creationId xmlns:a16="http://schemas.microsoft.com/office/drawing/2014/main" id="{0EEB8C8E-8131-4C08-80CE-A8C4ABE298F6}"/>
              </a:ext>
            </a:extLst>
          </p:cNvPr>
          <p:cNvSpPr>
            <a:spLocks noGrp="1"/>
          </p:cNvSpPr>
          <p:nvPr/>
        </p:nvSpPr>
        <p:spPr>
          <a:xfrm>
            <a:off x="9985248" y="2532888"/>
            <a:ext cx="1563624" cy="1307592"/>
          </a:xfrm>
          <a:prstGeom prst="rect">
            <a:avLst/>
          </a:prstGeom>
          <a:noFill/>
        </p:spPr>
        <p:txBody>
          <a:bodyPr wrap="square" lIns="381" tIns="381" rIns="381" bIns="381" anchor="ctr">
            <a:normAutofit/>
          </a:bodyPr>
          <a:lstStyle/>
          <a:p>
            <a:pPr marL="0" indent="0">
              <a:buNone/>
            </a:pPr>
            <a:r>
              <a:rPr sz="1800">
                <a:solidFill>
                  <a:srgbClr val="17212B"/>
                </a:solidFill>
              </a:rPr>
              <a:t>Dos actividades con productos verificables</a:t>
            </a:r>
          </a:p>
        </p:txBody>
      </p:sp>
      <p:sp>
        <p:nvSpPr>
          <p:cNvPr id="43" name="Text 41">
            <a:extLst>
              <a:ext uri="{FF2B5EF4-FFF2-40B4-BE49-F238E27FC236}">
                <a16:creationId xmlns:a16="http://schemas.microsoft.com/office/drawing/2014/main" id="{C2D56D43-76FA-4E18-AEDC-07816C026351}"/>
              </a:ext>
            </a:extLst>
          </p:cNvPr>
          <p:cNvSpPr>
            <a:spLocks noGrp="1"/>
          </p:cNvSpPr>
          <p:nvPr/>
        </p:nvSpPr>
        <p:spPr>
          <a:xfrm>
            <a:off x="1005840" y="4983480"/>
            <a:ext cx="10058400" cy="365760"/>
          </a:xfrm>
          <a:prstGeom prst="rect">
            <a:avLst/>
          </a:prstGeom>
          <a:noFill/>
        </p:spPr>
        <p:txBody>
          <a:bodyPr wrap="square" anchor="ctr"/>
          <a:lstStyle/>
          <a:p>
            <a:pPr marL="0" indent="0" algn="ctr">
              <a:buNone/>
            </a:pPr>
            <a:r>
              <a:rPr sz="1800" b="1">
                <a:solidFill>
                  <a:srgbClr val="07245A"/>
                </a:solidFill>
              </a:rPr>
              <a:t>Eje didáctico: menos recetas universales, más decisiones justificadas y medibles.</a:t>
            </a:r>
          </a:p>
        </p:txBody>
      </p:sp>
      <p:sp>
        <p:nvSpPr>
          <p:cNvPr id="44" name="Shape 42">
            <a:extLst>
              <a:ext uri="{FF2B5EF4-FFF2-40B4-BE49-F238E27FC236}">
                <a16:creationId xmlns:a16="http://schemas.microsoft.com/office/drawing/2014/main" id="{FD9ACE1B-3018-4606-AC69-0426552EB4F1}"/>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45" name="Text 43">
            <a:extLst>
              <a:ext uri="{FF2B5EF4-FFF2-40B4-BE49-F238E27FC236}">
                <a16:creationId xmlns:a16="http://schemas.microsoft.com/office/drawing/2014/main" id="{784BF094-8E55-40D9-BE97-8E7DF194763F}"/>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Tree>
    <p:extLst>
      <p:ext uri="{BB962C8B-B14F-4D97-AF65-F5344CB8AC3E}">
        <p14:creationId xmlns:p14="http://schemas.microsoft.com/office/powerpoint/2010/main" val="1266273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4004FBF0-BE43-42B8-8BE9-14DF8B02F893}"/>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750D06FD-4C3C-473D-9311-882151ED7F41}"/>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4C1D3ADF-5954-4B99-A1B8-70228A8E0CEC}"/>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2CB7C202-7F50-48CA-A7FB-89EE8573A457}"/>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86010E07-5FCF-468B-837C-EA39AFFFB0A1}"/>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B08C5284-7191-49F4-9460-741AD4D19E85}"/>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A90C6D95-9E2A-4CFD-8010-B6C57776E726}"/>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2A8E02A7-409F-438A-882C-B19045A9F201}"/>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05</a:t>
            </a:r>
          </a:p>
        </p:txBody>
      </p:sp>
      <p:sp>
        <p:nvSpPr>
          <p:cNvPr id="10" name="Text 8">
            <a:extLst>
              <a:ext uri="{FF2B5EF4-FFF2-40B4-BE49-F238E27FC236}">
                <a16:creationId xmlns:a16="http://schemas.microsoft.com/office/drawing/2014/main" id="{81671ABD-48EF-408D-8FF6-693F511B0897}"/>
              </a:ext>
            </a:extLst>
          </p:cNvPr>
          <p:cNvSpPr>
            <a:spLocks noGrp="1"/>
          </p:cNvSpPr>
          <p:nvPr/>
        </p:nvSpPr>
        <p:spPr>
          <a:xfrm>
            <a:off x="658368" y="868680"/>
            <a:ext cx="10698480" cy="411480"/>
          </a:xfrm>
          <a:prstGeom prst="rect">
            <a:avLst/>
          </a:prstGeom>
          <a:noFill/>
        </p:spPr>
        <p:txBody>
          <a:bodyPr wrap="square" lIns="0" tIns="0" rIns="0" bIns="0" anchor="ctr">
            <a:normAutofit fontScale="91765" lnSpcReduction="20000"/>
          </a:bodyPr>
          <a:lstStyle/>
          <a:p>
            <a:pPr marL="0" indent="0">
              <a:buNone/>
            </a:pPr>
            <a:r>
              <a:rPr sz="3400" b="1" dirty="0" err="1">
                <a:solidFill>
                  <a:srgbClr val="07245A"/>
                </a:solidFill>
                <a:latin typeface="Aptos Display"/>
                <a:ea typeface="Aptos Display"/>
                <a:cs typeface="Aptos Display"/>
              </a:rPr>
              <a:t>Diseño</a:t>
            </a:r>
            <a:r>
              <a:rPr sz="3400" b="1" dirty="0">
                <a:solidFill>
                  <a:srgbClr val="07245A"/>
                </a:solidFill>
                <a:latin typeface="Aptos Display"/>
                <a:ea typeface="Aptos Display"/>
                <a:cs typeface="Aptos Display"/>
              </a:rPr>
              <a:t> </a:t>
            </a:r>
            <a:r>
              <a:rPr sz="3400" b="1" dirty="0" err="1">
                <a:solidFill>
                  <a:srgbClr val="07245A"/>
                </a:solidFill>
                <a:latin typeface="Aptos Display"/>
                <a:ea typeface="Aptos Display"/>
                <a:cs typeface="Aptos Display"/>
              </a:rPr>
              <a:t>físico</a:t>
            </a:r>
            <a:r>
              <a:rPr sz="3400" b="1" dirty="0">
                <a:solidFill>
                  <a:srgbClr val="07245A"/>
                </a:solidFill>
                <a:latin typeface="Aptos Display"/>
                <a:ea typeface="Aptos Display"/>
                <a:cs typeface="Aptos Display"/>
              </a:rPr>
              <a:t>: </a:t>
            </a:r>
            <a:r>
              <a:rPr sz="3400" b="1" dirty="0" err="1">
                <a:solidFill>
                  <a:srgbClr val="07245A"/>
                </a:solidFill>
                <a:latin typeface="Aptos Display"/>
                <a:ea typeface="Aptos Display"/>
                <a:cs typeface="Aptos Display"/>
              </a:rPr>
              <a:t>más</a:t>
            </a:r>
            <a:r>
              <a:rPr sz="3400" b="1" dirty="0">
                <a:solidFill>
                  <a:srgbClr val="07245A"/>
                </a:solidFill>
                <a:latin typeface="Aptos Display"/>
                <a:ea typeface="Aptos Display"/>
                <a:cs typeface="Aptos Display"/>
              </a:rPr>
              <a:t> </a:t>
            </a:r>
            <a:r>
              <a:rPr sz="3400" b="1" dirty="0" err="1">
                <a:solidFill>
                  <a:srgbClr val="07245A"/>
                </a:solidFill>
                <a:latin typeface="Aptos Display"/>
                <a:ea typeface="Aptos Display"/>
                <a:cs typeface="Aptos Display"/>
              </a:rPr>
              <a:t>que</a:t>
            </a:r>
            <a:r>
              <a:rPr sz="3400" b="1" dirty="0">
                <a:solidFill>
                  <a:srgbClr val="07245A"/>
                </a:solidFill>
                <a:latin typeface="Aptos Display"/>
                <a:ea typeface="Aptos Display"/>
                <a:cs typeface="Aptos Display"/>
              </a:rPr>
              <a:t> </a:t>
            </a:r>
            <a:r>
              <a:rPr sz="3400" b="1" dirty="0" err="1">
                <a:solidFill>
                  <a:srgbClr val="07245A"/>
                </a:solidFill>
                <a:latin typeface="Aptos Display"/>
                <a:ea typeface="Aptos Display"/>
                <a:cs typeface="Aptos Display"/>
              </a:rPr>
              <a:t>índices</a:t>
            </a:r>
            <a:r>
              <a:rPr lang="es-AR" sz="3400" b="1" dirty="0">
                <a:solidFill>
                  <a:srgbClr val="07245A"/>
                </a:solidFill>
                <a:latin typeface="Aptos Display"/>
                <a:ea typeface="Aptos Display"/>
                <a:cs typeface="Aptos Display"/>
              </a:rPr>
              <a:t> y particiones</a:t>
            </a:r>
            <a:endParaRPr sz="3400" b="1" dirty="0">
              <a:solidFill>
                <a:srgbClr val="07245A"/>
              </a:solidFill>
              <a:latin typeface="Aptos Display"/>
              <a:ea typeface="Aptos Display"/>
              <a:cs typeface="Aptos Display"/>
            </a:endParaRPr>
          </a:p>
        </p:txBody>
      </p:sp>
      <p:sp>
        <p:nvSpPr>
          <p:cNvPr id="11" name="Shape 9">
            <a:extLst>
              <a:ext uri="{FF2B5EF4-FFF2-40B4-BE49-F238E27FC236}">
                <a16:creationId xmlns:a16="http://schemas.microsoft.com/office/drawing/2014/main" id="{92075AB0-9E06-4451-AC74-855D946BF47D}"/>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78DED375-AE42-4756-88D7-A5101E826AE9}"/>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Una decisión modifica lectura, escritura, espacio y operación.</a:t>
            </a:r>
          </a:p>
        </p:txBody>
      </p:sp>
      <p:sp>
        <p:nvSpPr>
          <p:cNvPr id="13" name="Shape 11">
            <a:extLst>
              <a:ext uri="{FF2B5EF4-FFF2-40B4-BE49-F238E27FC236}">
                <a16:creationId xmlns:a16="http://schemas.microsoft.com/office/drawing/2014/main" id="{62A1C37B-DDFF-4B7F-B4D1-5FEFA1515986}"/>
              </a:ext>
            </a:extLst>
          </p:cNvPr>
          <p:cNvSpPr>
            <a:spLocks noGrp="1"/>
          </p:cNvSpPr>
          <p:nvPr/>
        </p:nvSpPr>
        <p:spPr>
          <a:xfrm>
            <a:off x="640080" y="1874520"/>
            <a:ext cx="1965960" cy="2057400"/>
          </a:xfrm>
          <a:prstGeom prst="roundRect">
            <a:avLst>
              <a:gd name="adj" fmla="val 3721"/>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14" name="Shape 12">
            <a:extLst>
              <a:ext uri="{FF2B5EF4-FFF2-40B4-BE49-F238E27FC236}">
                <a16:creationId xmlns:a16="http://schemas.microsoft.com/office/drawing/2014/main" id="{CBC4FE0C-8C8B-4B13-9064-7033E5781334}"/>
              </a:ext>
            </a:extLst>
          </p:cNvPr>
          <p:cNvSpPr>
            <a:spLocks noGrp="1"/>
          </p:cNvSpPr>
          <p:nvPr/>
        </p:nvSpPr>
        <p:spPr>
          <a:xfrm>
            <a:off x="804672" y="2029968"/>
            <a:ext cx="438912" cy="438912"/>
          </a:xfrm>
          <a:prstGeom prst="ellipse">
            <a:avLst/>
          </a:prstGeom>
          <a:solidFill>
            <a:srgbClr val="EAF8FC"/>
          </a:solidFill>
          <a:ln w="10160">
            <a:solidFill>
              <a:srgbClr val="D5EEF7"/>
            </a:solidFill>
            <a:prstDash val="solid"/>
          </a:ln>
        </p:spPr>
        <p:txBody>
          <a:bodyPr/>
          <a:lstStyle/>
          <a:p>
            <a:endParaRPr/>
          </a:p>
        </p:txBody>
      </p:sp>
      <p:sp>
        <p:nvSpPr>
          <p:cNvPr id="15" name="Text 13">
            <a:extLst>
              <a:ext uri="{FF2B5EF4-FFF2-40B4-BE49-F238E27FC236}">
                <a16:creationId xmlns:a16="http://schemas.microsoft.com/office/drawing/2014/main" id="{4999732D-FDDD-4DBE-BF95-DACD81B2EC4F}"/>
              </a:ext>
            </a:extLst>
          </p:cNvPr>
          <p:cNvSpPr>
            <a:spLocks noGrp="1"/>
          </p:cNvSpPr>
          <p:nvPr/>
        </p:nvSpPr>
        <p:spPr>
          <a:xfrm>
            <a:off x="804672" y="2089404"/>
            <a:ext cx="438912" cy="228600"/>
          </a:xfrm>
          <a:prstGeom prst="rect">
            <a:avLst/>
          </a:prstGeom>
          <a:noFill/>
        </p:spPr>
        <p:txBody>
          <a:bodyPr wrap="square" lIns="0" tIns="0" rIns="0" bIns="0" anchor="ctr"/>
          <a:lstStyle/>
          <a:p>
            <a:pPr marL="0" indent="0" algn="ctr">
              <a:buNone/>
            </a:pPr>
            <a:r>
              <a:rPr sz="1550">
                <a:solidFill>
                  <a:srgbClr val="17B7D7"/>
                </a:solidFill>
              </a:rPr>
              <a:t>1</a:t>
            </a:r>
          </a:p>
        </p:txBody>
      </p:sp>
      <p:sp>
        <p:nvSpPr>
          <p:cNvPr id="16" name="Text 14">
            <a:extLst>
              <a:ext uri="{FF2B5EF4-FFF2-40B4-BE49-F238E27FC236}">
                <a16:creationId xmlns:a16="http://schemas.microsoft.com/office/drawing/2014/main" id="{55DB74F9-1EEA-49D6-95B8-CF5F7BB3D0EA}"/>
              </a:ext>
            </a:extLst>
          </p:cNvPr>
          <p:cNvSpPr>
            <a:spLocks noGrp="1"/>
          </p:cNvSpPr>
          <p:nvPr/>
        </p:nvSpPr>
        <p:spPr>
          <a:xfrm>
            <a:off x="1325880" y="2039112"/>
            <a:ext cx="1143000" cy="256032"/>
          </a:xfrm>
          <a:prstGeom prst="rect">
            <a:avLst/>
          </a:prstGeom>
          <a:noFill/>
        </p:spPr>
        <p:txBody>
          <a:bodyPr wrap="square" lIns="0" tIns="0" rIns="0" bIns="0" anchor="ctr">
            <a:normAutofit fontScale="92500" lnSpcReduction="10000"/>
          </a:bodyPr>
          <a:lstStyle/>
          <a:p>
            <a:pPr marL="0" indent="0">
              <a:buNone/>
            </a:pPr>
            <a:r>
              <a:rPr sz="1600" b="1">
                <a:solidFill>
                  <a:srgbClr val="07245A"/>
                </a:solidFill>
              </a:rPr>
              <a:t>Datos físicos</a:t>
            </a:r>
          </a:p>
        </p:txBody>
      </p:sp>
      <p:sp>
        <p:nvSpPr>
          <p:cNvPr id="17" name="Shape 15">
            <a:extLst>
              <a:ext uri="{FF2B5EF4-FFF2-40B4-BE49-F238E27FC236}">
                <a16:creationId xmlns:a16="http://schemas.microsoft.com/office/drawing/2014/main" id="{0CE98EB1-1BCD-485E-9A65-E17C7C997392}"/>
              </a:ext>
            </a:extLst>
          </p:cNvPr>
          <p:cNvSpPr>
            <a:spLocks noGrp="1"/>
          </p:cNvSpPr>
          <p:nvPr/>
        </p:nvSpPr>
        <p:spPr>
          <a:xfrm>
            <a:off x="1325880" y="2359152"/>
            <a:ext cx="411480" cy="0"/>
          </a:xfrm>
          <a:prstGeom prst="line">
            <a:avLst/>
          </a:prstGeom>
          <a:noFill/>
          <a:ln w="22860">
            <a:solidFill>
              <a:srgbClr val="17B7D7"/>
            </a:solidFill>
            <a:prstDash val="solid"/>
          </a:ln>
        </p:spPr>
        <p:txBody>
          <a:bodyPr/>
          <a:lstStyle/>
          <a:p>
            <a:endParaRPr/>
          </a:p>
        </p:txBody>
      </p:sp>
      <p:sp>
        <p:nvSpPr>
          <p:cNvPr id="18" name="Text 16">
            <a:extLst>
              <a:ext uri="{FF2B5EF4-FFF2-40B4-BE49-F238E27FC236}">
                <a16:creationId xmlns:a16="http://schemas.microsoft.com/office/drawing/2014/main" id="{72EE3412-64C0-4F6E-819F-EE0037424C3B}"/>
              </a:ext>
            </a:extLst>
          </p:cNvPr>
          <p:cNvSpPr>
            <a:spLocks noGrp="1"/>
          </p:cNvSpPr>
          <p:nvPr/>
        </p:nvSpPr>
        <p:spPr>
          <a:xfrm>
            <a:off x="841248" y="2532888"/>
            <a:ext cx="1563624" cy="1307592"/>
          </a:xfrm>
          <a:prstGeom prst="rect">
            <a:avLst/>
          </a:prstGeom>
          <a:noFill/>
        </p:spPr>
        <p:txBody>
          <a:bodyPr wrap="square" lIns="381" tIns="381" rIns="381" bIns="381" anchor="ctr">
            <a:normAutofit/>
          </a:bodyPr>
          <a:lstStyle/>
          <a:p>
            <a:pPr marL="0" indent="0">
              <a:buNone/>
            </a:pPr>
            <a:r>
              <a:rPr sz="1800" dirty="0" err="1">
                <a:solidFill>
                  <a:srgbClr val="17212B"/>
                </a:solidFill>
              </a:rPr>
              <a:t>Tipos</a:t>
            </a:r>
            <a:r>
              <a:rPr lang="es-AR" sz="1800" dirty="0">
                <a:solidFill>
                  <a:srgbClr val="17212B"/>
                </a:solidFill>
              </a:rPr>
              <a:t> de datos</a:t>
            </a:r>
            <a:r>
              <a:rPr sz="1800" dirty="0">
                <a:solidFill>
                  <a:srgbClr val="17212B"/>
                </a:solidFill>
              </a:rPr>
              <a:t>, ancho de fila y </a:t>
            </a:r>
            <a:r>
              <a:rPr sz="1800" dirty="0" err="1">
                <a:solidFill>
                  <a:srgbClr val="17212B"/>
                </a:solidFill>
              </a:rPr>
              <a:t>compresión</a:t>
            </a:r>
            <a:r>
              <a:rPr lang="es-AR" sz="1800" dirty="0">
                <a:solidFill>
                  <a:srgbClr val="17212B"/>
                </a:solidFill>
              </a:rPr>
              <a:t> de datos</a:t>
            </a:r>
            <a:endParaRPr sz="1800" dirty="0">
              <a:solidFill>
                <a:srgbClr val="17212B"/>
              </a:solidFill>
            </a:endParaRPr>
          </a:p>
        </p:txBody>
      </p:sp>
      <p:sp>
        <p:nvSpPr>
          <p:cNvPr id="19" name="Shape 17">
            <a:extLst>
              <a:ext uri="{FF2B5EF4-FFF2-40B4-BE49-F238E27FC236}">
                <a16:creationId xmlns:a16="http://schemas.microsoft.com/office/drawing/2014/main" id="{DD9FB6DD-2D0D-4AAC-96E4-9FD9BF63D0C0}"/>
              </a:ext>
            </a:extLst>
          </p:cNvPr>
          <p:cNvSpPr>
            <a:spLocks noGrp="1"/>
          </p:cNvSpPr>
          <p:nvPr/>
        </p:nvSpPr>
        <p:spPr>
          <a:xfrm>
            <a:off x="2926080" y="1874520"/>
            <a:ext cx="1965960" cy="2057400"/>
          </a:xfrm>
          <a:prstGeom prst="roundRect">
            <a:avLst>
              <a:gd name="adj" fmla="val 3721"/>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0" name="Shape 18">
            <a:extLst>
              <a:ext uri="{FF2B5EF4-FFF2-40B4-BE49-F238E27FC236}">
                <a16:creationId xmlns:a16="http://schemas.microsoft.com/office/drawing/2014/main" id="{9EF1F276-EC4C-4D22-89D9-E657F37503C4}"/>
              </a:ext>
            </a:extLst>
          </p:cNvPr>
          <p:cNvSpPr>
            <a:spLocks noGrp="1"/>
          </p:cNvSpPr>
          <p:nvPr/>
        </p:nvSpPr>
        <p:spPr>
          <a:xfrm>
            <a:off x="3090672" y="2029968"/>
            <a:ext cx="438912" cy="438912"/>
          </a:xfrm>
          <a:prstGeom prst="ellipse">
            <a:avLst/>
          </a:prstGeom>
          <a:solidFill>
            <a:srgbClr val="EAF8FC"/>
          </a:solidFill>
          <a:ln w="10160">
            <a:solidFill>
              <a:srgbClr val="D5EEF7"/>
            </a:solidFill>
            <a:prstDash val="solid"/>
          </a:ln>
        </p:spPr>
        <p:txBody>
          <a:bodyPr/>
          <a:lstStyle/>
          <a:p>
            <a:endParaRPr/>
          </a:p>
        </p:txBody>
      </p:sp>
      <p:sp>
        <p:nvSpPr>
          <p:cNvPr id="21" name="Text 19">
            <a:extLst>
              <a:ext uri="{FF2B5EF4-FFF2-40B4-BE49-F238E27FC236}">
                <a16:creationId xmlns:a16="http://schemas.microsoft.com/office/drawing/2014/main" id="{F231A8AF-D147-4B97-BF26-CE52CFC190FC}"/>
              </a:ext>
            </a:extLst>
          </p:cNvPr>
          <p:cNvSpPr>
            <a:spLocks noGrp="1"/>
          </p:cNvSpPr>
          <p:nvPr/>
        </p:nvSpPr>
        <p:spPr>
          <a:xfrm>
            <a:off x="3090672" y="2089404"/>
            <a:ext cx="438912" cy="228600"/>
          </a:xfrm>
          <a:prstGeom prst="rect">
            <a:avLst/>
          </a:prstGeom>
          <a:noFill/>
        </p:spPr>
        <p:txBody>
          <a:bodyPr wrap="square" lIns="0" tIns="0" rIns="0" bIns="0" anchor="ctr"/>
          <a:lstStyle/>
          <a:p>
            <a:pPr marL="0" indent="0" algn="ctr">
              <a:buNone/>
            </a:pPr>
            <a:r>
              <a:rPr sz="1550">
                <a:solidFill>
                  <a:srgbClr val="17B7D7"/>
                </a:solidFill>
              </a:rPr>
              <a:t>2</a:t>
            </a:r>
          </a:p>
        </p:txBody>
      </p:sp>
      <p:sp>
        <p:nvSpPr>
          <p:cNvPr id="22" name="Text 20">
            <a:extLst>
              <a:ext uri="{FF2B5EF4-FFF2-40B4-BE49-F238E27FC236}">
                <a16:creationId xmlns:a16="http://schemas.microsoft.com/office/drawing/2014/main" id="{47998F5D-0E17-4C43-B9F3-00E773C50045}"/>
              </a:ext>
            </a:extLst>
          </p:cNvPr>
          <p:cNvSpPr>
            <a:spLocks noGrp="1"/>
          </p:cNvSpPr>
          <p:nvPr/>
        </p:nvSpPr>
        <p:spPr>
          <a:xfrm>
            <a:off x="3611880" y="2039112"/>
            <a:ext cx="1280160" cy="256032"/>
          </a:xfrm>
          <a:prstGeom prst="rect">
            <a:avLst/>
          </a:prstGeom>
          <a:noFill/>
        </p:spPr>
        <p:txBody>
          <a:bodyPr wrap="square" lIns="0" tIns="0" rIns="0" bIns="0" anchor="ctr">
            <a:normAutofit/>
          </a:bodyPr>
          <a:lstStyle/>
          <a:p>
            <a:pPr marL="0" indent="0">
              <a:buNone/>
            </a:pPr>
            <a:r>
              <a:rPr sz="1600" b="1" dirty="0">
                <a:solidFill>
                  <a:srgbClr val="07245A"/>
                </a:solidFill>
              </a:rPr>
              <a:t>Organización</a:t>
            </a:r>
          </a:p>
        </p:txBody>
      </p:sp>
      <p:sp>
        <p:nvSpPr>
          <p:cNvPr id="23" name="Shape 21">
            <a:extLst>
              <a:ext uri="{FF2B5EF4-FFF2-40B4-BE49-F238E27FC236}">
                <a16:creationId xmlns:a16="http://schemas.microsoft.com/office/drawing/2014/main" id="{E0CFE46E-1A38-4050-877C-AE3DA43933B4}"/>
              </a:ext>
            </a:extLst>
          </p:cNvPr>
          <p:cNvSpPr>
            <a:spLocks noGrp="1"/>
          </p:cNvSpPr>
          <p:nvPr/>
        </p:nvSpPr>
        <p:spPr>
          <a:xfrm>
            <a:off x="3611880" y="2359152"/>
            <a:ext cx="411480" cy="0"/>
          </a:xfrm>
          <a:prstGeom prst="line">
            <a:avLst/>
          </a:prstGeom>
          <a:noFill/>
          <a:ln w="22860">
            <a:solidFill>
              <a:srgbClr val="17B7D7"/>
            </a:solidFill>
            <a:prstDash val="solid"/>
          </a:ln>
        </p:spPr>
        <p:txBody>
          <a:bodyPr/>
          <a:lstStyle/>
          <a:p>
            <a:endParaRPr/>
          </a:p>
        </p:txBody>
      </p:sp>
      <p:sp>
        <p:nvSpPr>
          <p:cNvPr id="24" name="Text 22">
            <a:extLst>
              <a:ext uri="{FF2B5EF4-FFF2-40B4-BE49-F238E27FC236}">
                <a16:creationId xmlns:a16="http://schemas.microsoft.com/office/drawing/2014/main" id="{7A49D0C5-3D39-4F7E-9467-AD1CCD659292}"/>
              </a:ext>
            </a:extLst>
          </p:cNvPr>
          <p:cNvSpPr>
            <a:spLocks noGrp="1"/>
          </p:cNvSpPr>
          <p:nvPr/>
        </p:nvSpPr>
        <p:spPr>
          <a:xfrm>
            <a:off x="3127248" y="2532888"/>
            <a:ext cx="1563624" cy="1307592"/>
          </a:xfrm>
          <a:prstGeom prst="rect">
            <a:avLst/>
          </a:prstGeom>
          <a:noFill/>
        </p:spPr>
        <p:txBody>
          <a:bodyPr wrap="square" lIns="381" tIns="381" rIns="381" bIns="381" anchor="ctr">
            <a:normAutofit/>
          </a:bodyPr>
          <a:lstStyle/>
          <a:p>
            <a:pPr marL="0" indent="0">
              <a:buNone/>
            </a:pPr>
            <a:r>
              <a:rPr sz="1800" dirty="0">
                <a:solidFill>
                  <a:srgbClr val="17212B"/>
                </a:solidFill>
              </a:rPr>
              <a:t>Claves, </a:t>
            </a:r>
            <a:r>
              <a:rPr sz="1800" dirty="0" err="1">
                <a:solidFill>
                  <a:srgbClr val="17212B"/>
                </a:solidFill>
              </a:rPr>
              <a:t>orden</a:t>
            </a:r>
            <a:r>
              <a:rPr lang="es-AR" sz="1800" dirty="0">
                <a:solidFill>
                  <a:srgbClr val="17212B"/>
                </a:solidFill>
              </a:rPr>
              <a:t>amiento</a:t>
            </a:r>
            <a:r>
              <a:rPr sz="1800" dirty="0">
                <a:solidFill>
                  <a:srgbClr val="17212B"/>
                </a:solidFill>
              </a:rPr>
              <a:t> y </a:t>
            </a:r>
            <a:r>
              <a:rPr lang="es-AR" sz="1800" dirty="0">
                <a:solidFill>
                  <a:srgbClr val="17212B"/>
                </a:solidFill>
              </a:rPr>
              <a:t>ubicación en el disco</a:t>
            </a:r>
            <a:endParaRPr sz="1800" dirty="0">
              <a:solidFill>
                <a:srgbClr val="17212B"/>
              </a:solidFill>
            </a:endParaRPr>
          </a:p>
        </p:txBody>
      </p:sp>
      <p:sp>
        <p:nvSpPr>
          <p:cNvPr id="25" name="Shape 23">
            <a:extLst>
              <a:ext uri="{FF2B5EF4-FFF2-40B4-BE49-F238E27FC236}">
                <a16:creationId xmlns:a16="http://schemas.microsoft.com/office/drawing/2014/main" id="{F38DDCAE-D3CE-496C-82B1-C2B017F5C9A7}"/>
              </a:ext>
            </a:extLst>
          </p:cNvPr>
          <p:cNvSpPr>
            <a:spLocks noGrp="1"/>
          </p:cNvSpPr>
          <p:nvPr/>
        </p:nvSpPr>
        <p:spPr>
          <a:xfrm>
            <a:off x="5212080" y="1874520"/>
            <a:ext cx="1965960" cy="2057400"/>
          </a:xfrm>
          <a:prstGeom prst="roundRect">
            <a:avLst>
              <a:gd name="adj" fmla="val 3721"/>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6" name="Shape 24">
            <a:extLst>
              <a:ext uri="{FF2B5EF4-FFF2-40B4-BE49-F238E27FC236}">
                <a16:creationId xmlns:a16="http://schemas.microsoft.com/office/drawing/2014/main" id="{BA7AA24C-DD0D-4B9B-BB4A-6FCF023E46AF}"/>
              </a:ext>
            </a:extLst>
          </p:cNvPr>
          <p:cNvSpPr>
            <a:spLocks noGrp="1"/>
          </p:cNvSpPr>
          <p:nvPr/>
        </p:nvSpPr>
        <p:spPr>
          <a:xfrm>
            <a:off x="5376672" y="2029968"/>
            <a:ext cx="438912" cy="438912"/>
          </a:xfrm>
          <a:prstGeom prst="ellipse">
            <a:avLst/>
          </a:prstGeom>
          <a:solidFill>
            <a:srgbClr val="EAF8FC"/>
          </a:solidFill>
          <a:ln w="10160">
            <a:solidFill>
              <a:srgbClr val="D5EEF7"/>
            </a:solidFill>
            <a:prstDash val="solid"/>
          </a:ln>
        </p:spPr>
        <p:txBody>
          <a:bodyPr/>
          <a:lstStyle/>
          <a:p>
            <a:endParaRPr/>
          </a:p>
        </p:txBody>
      </p:sp>
      <p:sp>
        <p:nvSpPr>
          <p:cNvPr id="27" name="Text 25">
            <a:extLst>
              <a:ext uri="{FF2B5EF4-FFF2-40B4-BE49-F238E27FC236}">
                <a16:creationId xmlns:a16="http://schemas.microsoft.com/office/drawing/2014/main" id="{19CCF640-CEBC-4CF8-87B2-D8243079A673}"/>
              </a:ext>
            </a:extLst>
          </p:cNvPr>
          <p:cNvSpPr>
            <a:spLocks noGrp="1"/>
          </p:cNvSpPr>
          <p:nvPr/>
        </p:nvSpPr>
        <p:spPr>
          <a:xfrm>
            <a:off x="5376672" y="2089404"/>
            <a:ext cx="438912" cy="228600"/>
          </a:xfrm>
          <a:prstGeom prst="rect">
            <a:avLst/>
          </a:prstGeom>
          <a:noFill/>
        </p:spPr>
        <p:txBody>
          <a:bodyPr wrap="square" lIns="0" tIns="0" rIns="0" bIns="0" anchor="ctr"/>
          <a:lstStyle/>
          <a:p>
            <a:pPr marL="0" indent="0" algn="ctr">
              <a:buNone/>
            </a:pPr>
            <a:r>
              <a:rPr sz="1550">
                <a:solidFill>
                  <a:srgbClr val="17B7D7"/>
                </a:solidFill>
              </a:rPr>
              <a:t>3</a:t>
            </a:r>
          </a:p>
        </p:txBody>
      </p:sp>
      <p:sp>
        <p:nvSpPr>
          <p:cNvPr id="28" name="Text 26">
            <a:extLst>
              <a:ext uri="{FF2B5EF4-FFF2-40B4-BE49-F238E27FC236}">
                <a16:creationId xmlns:a16="http://schemas.microsoft.com/office/drawing/2014/main" id="{76352B54-361E-43C1-9D46-9F85EF6DA1EB}"/>
              </a:ext>
            </a:extLst>
          </p:cNvPr>
          <p:cNvSpPr>
            <a:spLocks noGrp="1"/>
          </p:cNvSpPr>
          <p:nvPr/>
        </p:nvSpPr>
        <p:spPr>
          <a:xfrm>
            <a:off x="5897880" y="2039112"/>
            <a:ext cx="1143000" cy="256032"/>
          </a:xfrm>
          <a:prstGeom prst="rect">
            <a:avLst/>
          </a:prstGeom>
          <a:noFill/>
        </p:spPr>
        <p:txBody>
          <a:bodyPr wrap="square" lIns="0" tIns="0" rIns="0" bIns="0" anchor="ctr">
            <a:normAutofit/>
          </a:bodyPr>
          <a:lstStyle/>
          <a:p>
            <a:pPr marL="0" indent="0">
              <a:buNone/>
            </a:pPr>
            <a:r>
              <a:rPr sz="1600" b="1">
                <a:solidFill>
                  <a:srgbClr val="07245A"/>
                </a:solidFill>
              </a:rPr>
              <a:t>Acceso</a:t>
            </a:r>
          </a:p>
        </p:txBody>
      </p:sp>
      <p:sp>
        <p:nvSpPr>
          <p:cNvPr id="29" name="Shape 27">
            <a:extLst>
              <a:ext uri="{FF2B5EF4-FFF2-40B4-BE49-F238E27FC236}">
                <a16:creationId xmlns:a16="http://schemas.microsoft.com/office/drawing/2014/main" id="{88E0847D-B14C-449F-B4FB-67A5BD3CBC2A}"/>
              </a:ext>
            </a:extLst>
          </p:cNvPr>
          <p:cNvSpPr>
            <a:spLocks noGrp="1"/>
          </p:cNvSpPr>
          <p:nvPr/>
        </p:nvSpPr>
        <p:spPr>
          <a:xfrm>
            <a:off x="5897880" y="2359152"/>
            <a:ext cx="411480" cy="0"/>
          </a:xfrm>
          <a:prstGeom prst="line">
            <a:avLst/>
          </a:prstGeom>
          <a:noFill/>
          <a:ln w="22860">
            <a:solidFill>
              <a:srgbClr val="17B7D7"/>
            </a:solidFill>
            <a:prstDash val="solid"/>
          </a:ln>
        </p:spPr>
        <p:txBody>
          <a:bodyPr/>
          <a:lstStyle/>
          <a:p>
            <a:endParaRPr/>
          </a:p>
        </p:txBody>
      </p:sp>
      <p:sp>
        <p:nvSpPr>
          <p:cNvPr id="30" name="Text 28">
            <a:extLst>
              <a:ext uri="{FF2B5EF4-FFF2-40B4-BE49-F238E27FC236}">
                <a16:creationId xmlns:a16="http://schemas.microsoft.com/office/drawing/2014/main" id="{C1D79455-3777-4B2C-927F-8D6F7C6A1F27}"/>
              </a:ext>
            </a:extLst>
          </p:cNvPr>
          <p:cNvSpPr>
            <a:spLocks noGrp="1"/>
          </p:cNvSpPr>
          <p:nvPr/>
        </p:nvSpPr>
        <p:spPr>
          <a:xfrm>
            <a:off x="5413248" y="2532888"/>
            <a:ext cx="1563624" cy="1307592"/>
          </a:xfrm>
          <a:prstGeom prst="rect">
            <a:avLst/>
          </a:prstGeom>
          <a:noFill/>
        </p:spPr>
        <p:txBody>
          <a:bodyPr wrap="square" lIns="381" tIns="381" rIns="381" bIns="381" anchor="ctr">
            <a:normAutofit/>
          </a:bodyPr>
          <a:lstStyle/>
          <a:p>
            <a:pPr marL="0" indent="0">
              <a:buNone/>
            </a:pPr>
            <a:r>
              <a:rPr sz="1800">
                <a:solidFill>
                  <a:srgbClr val="17212B"/>
                </a:solidFill>
              </a:rPr>
              <a:t>Índices, particiones y materialización</a:t>
            </a:r>
          </a:p>
        </p:txBody>
      </p:sp>
      <p:sp>
        <p:nvSpPr>
          <p:cNvPr id="31" name="Shape 29">
            <a:extLst>
              <a:ext uri="{FF2B5EF4-FFF2-40B4-BE49-F238E27FC236}">
                <a16:creationId xmlns:a16="http://schemas.microsoft.com/office/drawing/2014/main" id="{E9BF965E-3F92-475A-B5FD-A5059FFB221D}"/>
              </a:ext>
            </a:extLst>
          </p:cNvPr>
          <p:cNvSpPr>
            <a:spLocks noGrp="1"/>
          </p:cNvSpPr>
          <p:nvPr/>
        </p:nvSpPr>
        <p:spPr>
          <a:xfrm>
            <a:off x="7498080" y="1874520"/>
            <a:ext cx="1965960" cy="2057400"/>
          </a:xfrm>
          <a:prstGeom prst="roundRect">
            <a:avLst>
              <a:gd name="adj" fmla="val 3721"/>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32" name="Shape 30">
            <a:extLst>
              <a:ext uri="{FF2B5EF4-FFF2-40B4-BE49-F238E27FC236}">
                <a16:creationId xmlns:a16="http://schemas.microsoft.com/office/drawing/2014/main" id="{F6401D1E-2EF4-4437-82FF-75FFD314D8D7}"/>
              </a:ext>
            </a:extLst>
          </p:cNvPr>
          <p:cNvSpPr>
            <a:spLocks noGrp="1"/>
          </p:cNvSpPr>
          <p:nvPr/>
        </p:nvSpPr>
        <p:spPr>
          <a:xfrm>
            <a:off x="7662672" y="2029968"/>
            <a:ext cx="438912" cy="438912"/>
          </a:xfrm>
          <a:prstGeom prst="ellipse">
            <a:avLst/>
          </a:prstGeom>
          <a:solidFill>
            <a:srgbClr val="EAF8FC"/>
          </a:solidFill>
          <a:ln w="10160">
            <a:solidFill>
              <a:srgbClr val="D5EEF7"/>
            </a:solidFill>
            <a:prstDash val="solid"/>
          </a:ln>
        </p:spPr>
        <p:txBody>
          <a:bodyPr/>
          <a:lstStyle/>
          <a:p>
            <a:endParaRPr/>
          </a:p>
        </p:txBody>
      </p:sp>
      <p:sp>
        <p:nvSpPr>
          <p:cNvPr id="33" name="Text 31">
            <a:extLst>
              <a:ext uri="{FF2B5EF4-FFF2-40B4-BE49-F238E27FC236}">
                <a16:creationId xmlns:a16="http://schemas.microsoft.com/office/drawing/2014/main" id="{3CDE1C23-537F-4745-933D-F7616E4C067C}"/>
              </a:ext>
            </a:extLst>
          </p:cNvPr>
          <p:cNvSpPr>
            <a:spLocks noGrp="1"/>
          </p:cNvSpPr>
          <p:nvPr/>
        </p:nvSpPr>
        <p:spPr>
          <a:xfrm>
            <a:off x="7662672" y="2089404"/>
            <a:ext cx="438912" cy="228600"/>
          </a:xfrm>
          <a:prstGeom prst="rect">
            <a:avLst/>
          </a:prstGeom>
          <a:noFill/>
        </p:spPr>
        <p:txBody>
          <a:bodyPr wrap="square" lIns="0" tIns="0" rIns="0" bIns="0" anchor="ctr"/>
          <a:lstStyle/>
          <a:p>
            <a:pPr marL="0" indent="0" algn="ctr">
              <a:buNone/>
            </a:pPr>
            <a:r>
              <a:rPr sz="1550">
                <a:solidFill>
                  <a:srgbClr val="0B5CAD"/>
                </a:solidFill>
              </a:rPr>
              <a:t>4</a:t>
            </a:r>
          </a:p>
        </p:txBody>
      </p:sp>
      <p:sp>
        <p:nvSpPr>
          <p:cNvPr id="34" name="Text 32">
            <a:extLst>
              <a:ext uri="{FF2B5EF4-FFF2-40B4-BE49-F238E27FC236}">
                <a16:creationId xmlns:a16="http://schemas.microsoft.com/office/drawing/2014/main" id="{392406F1-46FB-40F5-BB2E-8EB04DEF4BB7}"/>
              </a:ext>
            </a:extLst>
          </p:cNvPr>
          <p:cNvSpPr>
            <a:spLocks noGrp="1"/>
          </p:cNvSpPr>
          <p:nvPr/>
        </p:nvSpPr>
        <p:spPr>
          <a:xfrm>
            <a:off x="8183880" y="2039112"/>
            <a:ext cx="1143000" cy="256032"/>
          </a:xfrm>
          <a:prstGeom prst="rect">
            <a:avLst/>
          </a:prstGeom>
          <a:noFill/>
        </p:spPr>
        <p:txBody>
          <a:bodyPr wrap="square" lIns="0" tIns="0" rIns="0" bIns="0" anchor="ctr">
            <a:normAutofit/>
          </a:bodyPr>
          <a:lstStyle/>
          <a:p>
            <a:pPr marL="0" indent="0">
              <a:buNone/>
            </a:pPr>
            <a:r>
              <a:rPr sz="1600" b="1">
                <a:solidFill>
                  <a:srgbClr val="07245A"/>
                </a:solidFill>
              </a:rPr>
              <a:t>Ejecución</a:t>
            </a:r>
          </a:p>
        </p:txBody>
      </p:sp>
      <p:sp>
        <p:nvSpPr>
          <p:cNvPr id="35" name="Shape 33">
            <a:extLst>
              <a:ext uri="{FF2B5EF4-FFF2-40B4-BE49-F238E27FC236}">
                <a16:creationId xmlns:a16="http://schemas.microsoft.com/office/drawing/2014/main" id="{6E99E1A5-20A2-41C0-987B-4E4E157C2FA5}"/>
              </a:ext>
            </a:extLst>
          </p:cNvPr>
          <p:cNvSpPr>
            <a:spLocks noGrp="1"/>
          </p:cNvSpPr>
          <p:nvPr/>
        </p:nvSpPr>
        <p:spPr>
          <a:xfrm>
            <a:off x="8183880" y="2359152"/>
            <a:ext cx="411480" cy="0"/>
          </a:xfrm>
          <a:prstGeom prst="line">
            <a:avLst/>
          </a:prstGeom>
          <a:noFill/>
          <a:ln w="22860">
            <a:solidFill>
              <a:srgbClr val="0B5CAD"/>
            </a:solidFill>
            <a:prstDash val="solid"/>
          </a:ln>
        </p:spPr>
        <p:txBody>
          <a:bodyPr/>
          <a:lstStyle/>
          <a:p>
            <a:endParaRPr/>
          </a:p>
        </p:txBody>
      </p:sp>
      <p:sp>
        <p:nvSpPr>
          <p:cNvPr id="36" name="Text 34">
            <a:extLst>
              <a:ext uri="{FF2B5EF4-FFF2-40B4-BE49-F238E27FC236}">
                <a16:creationId xmlns:a16="http://schemas.microsoft.com/office/drawing/2014/main" id="{FF71768B-2D0D-4005-BB41-0F00D39A350E}"/>
              </a:ext>
            </a:extLst>
          </p:cNvPr>
          <p:cNvSpPr>
            <a:spLocks noGrp="1"/>
          </p:cNvSpPr>
          <p:nvPr/>
        </p:nvSpPr>
        <p:spPr>
          <a:xfrm>
            <a:off x="7699248" y="2532888"/>
            <a:ext cx="1563624" cy="1307592"/>
          </a:xfrm>
          <a:prstGeom prst="rect">
            <a:avLst/>
          </a:prstGeom>
          <a:noFill/>
        </p:spPr>
        <p:txBody>
          <a:bodyPr wrap="square" lIns="381" tIns="381" rIns="381" bIns="381" anchor="ctr">
            <a:normAutofit/>
          </a:bodyPr>
          <a:lstStyle/>
          <a:p>
            <a:pPr marL="0" indent="0">
              <a:buNone/>
            </a:pPr>
            <a:r>
              <a:rPr sz="1800">
                <a:solidFill>
                  <a:srgbClr val="17212B"/>
                </a:solidFill>
              </a:rPr>
              <a:t>Estadísticas, memoria y paralelismo</a:t>
            </a:r>
          </a:p>
        </p:txBody>
      </p:sp>
      <p:sp>
        <p:nvSpPr>
          <p:cNvPr id="37" name="Shape 35">
            <a:extLst>
              <a:ext uri="{FF2B5EF4-FFF2-40B4-BE49-F238E27FC236}">
                <a16:creationId xmlns:a16="http://schemas.microsoft.com/office/drawing/2014/main" id="{DE6DCCF4-28E6-4833-BE50-B8F0473DE8B0}"/>
              </a:ext>
            </a:extLst>
          </p:cNvPr>
          <p:cNvSpPr>
            <a:spLocks noGrp="1"/>
          </p:cNvSpPr>
          <p:nvPr/>
        </p:nvSpPr>
        <p:spPr>
          <a:xfrm>
            <a:off x="9784080" y="1874520"/>
            <a:ext cx="1965960" cy="2057400"/>
          </a:xfrm>
          <a:prstGeom prst="roundRect">
            <a:avLst>
              <a:gd name="adj" fmla="val 3721"/>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38" name="Shape 36">
            <a:extLst>
              <a:ext uri="{FF2B5EF4-FFF2-40B4-BE49-F238E27FC236}">
                <a16:creationId xmlns:a16="http://schemas.microsoft.com/office/drawing/2014/main" id="{921B75D8-6BA8-47B3-8925-B57C9BECF6D6}"/>
              </a:ext>
            </a:extLst>
          </p:cNvPr>
          <p:cNvSpPr>
            <a:spLocks noGrp="1"/>
          </p:cNvSpPr>
          <p:nvPr/>
        </p:nvSpPr>
        <p:spPr>
          <a:xfrm>
            <a:off x="9948672" y="2029968"/>
            <a:ext cx="438912" cy="438912"/>
          </a:xfrm>
          <a:prstGeom prst="ellipse">
            <a:avLst/>
          </a:prstGeom>
          <a:solidFill>
            <a:srgbClr val="EAF8FC"/>
          </a:solidFill>
          <a:ln w="10160">
            <a:solidFill>
              <a:srgbClr val="D5EEF7"/>
            </a:solidFill>
            <a:prstDash val="solid"/>
          </a:ln>
        </p:spPr>
        <p:txBody>
          <a:bodyPr/>
          <a:lstStyle/>
          <a:p>
            <a:endParaRPr/>
          </a:p>
        </p:txBody>
      </p:sp>
      <p:sp>
        <p:nvSpPr>
          <p:cNvPr id="39" name="Text 37">
            <a:extLst>
              <a:ext uri="{FF2B5EF4-FFF2-40B4-BE49-F238E27FC236}">
                <a16:creationId xmlns:a16="http://schemas.microsoft.com/office/drawing/2014/main" id="{E5DE4E19-4376-4D35-BD22-92F8C7E355C5}"/>
              </a:ext>
            </a:extLst>
          </p:cNvPr>
          <p:cNvSpPr>
            <a:spLocks noGrp="1"/>
          </p:cNvSpPr>
          <p:nvPr/>
        </p:nvSpPr>
        <p:spPr>
          <a:xfrm>
            <a:off x="9948672" y="2089404"/>
            <a:ext cx="438912" cy="228600"/>
          </a:xfrm>
          <a:prstGeom prst="rect">
            <a:avLst/>
          </a:prstGeom>
          <a:noFill/>
        </p:spPr>
        <p:txBody>
          <a:bodyPr wrap="square" lIns="0" tIns="0" rIns="0" bIns="0" anchor="ctr"/>
          <a:lstStyle/>
          <a:p>
            <a:pPr marL="0" indent="0" algn="ctr">
              <a:buNone/>
            </a:pPr>
            <a:r>
              <a:rPr sz="1550">
                <a:solidFill>
                  <a:srgbClr val="0B5CAD"/>
                </a:solidFill>
              </a:rPr>
              <a:t>5</a:t>
            </a:r>
          </a:p>
        </p:txBody>
      </p:sp>
      <p:sp>
        <p:nvSpPr>
          <p:cNvPr id="40" name="Text 38">
            <a:extLst>
              <a:ext uri="{FF2B5EF4-FFF2-40B4-BE49-F238E27FC236}">
                <a16:creationId xmlns:a16="http://schemas.microsoft.com/office/drawing/2014/main" id="{AFECFC72-B476-4B85-B9F4-3537A57531E6}"/>
              </a:ext>
            </a:extLst>
          </p:cNvPr>
          <p:cNvSpPr>
            <a:spLocks noGrp="1"/>
          </p:cNvSpPr>
          <p:nvPr/>
        </p:nvSpPr>
        <p:spPr>
          <a:xfrm>
            <a:off x="10469880" y="2039112"/>
            <a:ext cx="1143000" cy="256032"/>
          </a:xfrm>
          <a:prstGeom prst="rect">
            <a:avLst/>
          </a:prstGeom>
          <a:noFill/>
        </p:spPr>
        <p:txBody>
          <a:bodyPr wrap="square" lIns="0" tIns="0" rIns="0" bIns="0" anchor="ctr">
            <a:normAutofit/>
          </a:bodyPr>
          <a:lstStyle/>
          <a:p>
            <a:pPr marL="0" indent="0">
              <a:buNone/>
            </a:pPr>
            <a:r>
              <a:rPr sz="1600" b="1">
                <a:solidFill>
                  <a:srgbClr val="07245A"/>
                </a:solidFill>
              </a:rPr>
              <a:t>Operación</a:t>
            </a:r>
          </a:p>
        </p:txBody>
      </p:sp>
      <p:sp>
        <p:nvSpPr>
          <p:cNvPr id="41" name="Shape 39">
            <a:extLst>
              <a:ext uri="{FF2B5EF4-FFF2-40B4-BE49-F238E27FC236}">
                <a16:creationId xmlns:a16="http://schemas.microsoft.com/office/drawing/2014/main" id="{0D5ECED0-3EEE-4E48-82CE-4071DCC8C15F}"/>
              </a:ext>
            </a:extLst>
          </p:cNvPr>
          <p:cNvSpPr>
            <a:spLocks noGrp="1"/>
          </p:cNvSpPr>
          <p:nvPr/>
        </p:nvSpPr>
        <p:spPr>
          <a:xfrm>
            <a:off x="10469880" y="2359152"/>
            <a:ext cx="411480" cy="0"/>
          </a:xfrm>
          <a:prstGeom prst="line">
            <a:avLst/>
          </a:prstGeom>
          <a:noFill/>
          <a:ln w="22860">
            <a:solidFill>
              <a:srgbClr val="0B5CAD"/>
            </a:solidFill>
            <a:prstDash val="solid"/>
          </a:ln>
        </p:spPr>
        <p:txBody>
          <a:bodyPr/>
          <a:lstStyle/>
          <a:p>
            <a:endParaRPr/>
          </a:p>
        </p:txBody>
      </p:sp>
      <p:sp>
        <p:nvSpPr>
          <p:cNvPr id="42" name="Text 40">
            <a:extLst>
              <a:ext uri="{FF2B5EF4-FFF2-40B4-BE49-F238E27FC236}">
                <a16:creationId xmlns:a16="http://schemas.microsoft.com/office/drawing/2014/main" id="{0EEB8C8E-8131-4C08-80CE-A8C4ABE298F6}"/>
              </a:ext>
            </a:extLst>
          </p:cNvPr>
          <p:cNvSpPr>
            <a:spLocks noGrp="1"/>
          </p:cNvSpPr>
          <p:nvPr/>
        </p:nvSpPr>
        <p:spPr>
          <a:xfrm>
            <a:off x="9985248" y="2532888"/>
            <a:ext cx="1563624" cy="1307592"/>
          </a:xfrm>
          <a:prstGeom prst="rect">
            <a:avLst/>
          </a:prstGeom>
          <a:noFill/>
        </p:spPr>
        <p:txBody>
          <a:bodyPr wrap="square" lIns="381" tIns="381" rIns="381" bIns="381" anchor="ctr">
            <a:normAutofit/>
          </a:bodyPr>
          <a:lstStyle/>
          <a:p>
            <a:pPr marL="0" indent="0">
              <a:buNone/>
            </a:pPr>
            <a:r>
              <a:rPr sz="1800">
                <a:solidFill>
                  <a:srgbClr val="17212B"/>
                </a:solidFill>
              </a:rPr>
              <a:t>Concurrencia, mantenimiento y retención</a:t>
            </a:r>
          </a:p>
        </p:txBody>
      </p:sp>
      <p:sp>
        <p:nvSpPr>
          <p:cNvPr id="43" name="Text 41">
            <a:extLst>
              <a:ext uri="{FF2B5EF4-FFF2-40B4-BE49-F238E27FC236}">
                <a16:creationId xmlns:a16="http://schemas.microsoft.com/office/drawing/2014/main" id="{C2D56D43-76FA-4E18-AEDC-07816C026351}"/>
              </a:ext>
            </a:extLst>
          </p:cNvPr>
          <p:cNvSpPr>
            <a:spLocks noGrp="1"/>
          </p:cNvSpPr>
          <p:nvPr/>
        </p:nvSpPr>
        <p:spPr>
          <a:xfrm>
            <a:off x="1005840" y="4983480"/>
            <a:ext cx="10058400" cy="365760"/>
          </a:xfrm>
          <a:prstGeom prst="rect">
            <a:avLst/>
          </a:prstGeom>
          <a:noFill/>
        </p:spPr>
        <p:txBody>
          <a:bodyPr wrap="square" anchor="ctr"/>
          <a:lstStyle/>
          <a:p>
            <a:pPr marL="0" indent="0" algn="ctr">
              <a:buNone/>
            </a:pPr>
            <a:r>
              <a:rPr sz="1800" b="1">
                <a:solidFill>
                  <a:srgbClr val="07245A"/>
                </a:solidFill>
              </a:rPr>
              <a:t>La carga decide la combinación; el plan y la medición la validan.</a:t>
            </a:r>
          </a:p>
        </p:txBody>
      </p:sp>
      <p:sp>
        <p:nvSpPr>
          <p:cNvPr id="44" name="Shape 42">
            <a:extLst>
              <a:ext uri="{FF2B5EF4-FFF2-40B4-BE49-F238E27FC236}">
                <a16:creationId xmlns:a16="http://schemas.microsoft.com/office/drawing/2014/main" id="{FD9ACE1B-3018-4606-AC69-0426552EB4F1}"/>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45" name="Text 43">
            <a:extLst>
              <a:ext uri="{FF2B5EF4-FFF2-40B4-BE49-F238E27FC236}">
                <a16:creationId xmlns:a16="http://schemas.microsoft.com/office/drawing/2014/main" id="{784BF094-8E55-40D9-BE97-8E7DF194763F}"/>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Tree>
    <p:extLst>
      <p:ext uri="{BB962C8B-B14F-4D97-AF65-F5344CB8AC3E}">
        <p14:creationId xmlns:p14="http://schemas.microsoft.com/office/powerpoint/2010/main" val="12662736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4D58359D-77C2-4CA8-A8CE-0240CCAF277B}"/>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EF6B0DB5-CF51-4268-B800-3869D7B5E52D}"/>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A9D27849-AE9D-4CBF-B3B5-40ABB5FB76AA}"/>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1F9EA404-72A1-4828-A4BF-7C84DEBBFAB5}"/>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59BDC30F-1058-489C-A5FE-626B9E1A92AF}"/>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D4FB39AD-C5C0-4CAA-AA59-4F7CC07E5680}"/>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DFE99C2D-1A6E-4BDA-9DB9-083D4FDA623C}"/>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BAB508BC-4108-4DFF-A1B2-D800BAF3893C}"/>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06</a:t>
            </a:r>
          </a:p>
        </p:txBody>
      </p:sp>
      <p:sp>
        <p:nvSpPr>
          <p:cNvPr id="10" name="Text 8">
            <a:extLst>
              <a:ext uri="{FF2B5EF4-FFF2-40B4-BE49-F238E27FC236}">
                <a16:creationId xmlns:a16="http://schemas.microsoft.com/office/drawing/2014/main" id="{5B9FA306-4CA2-4286-AD75-140AA0345145}"/>
              </a:ext>
            </a:extLst>
          </p:cNvPr>
          <p:cNvSpPr>
            <a:spLocks noGrp="1"/>
          </p:cNvSpPr>
          <p:nvPr/>
        </p:nvSpPr>
        <p:spPr>
          <a:xfrm>
            <a:off x="658368" y="868680"/>
            <a:ext cx="10698480" cy="411480"/>
          </a:xfrm>
          <a:prstGeom prst="rect">
            <a:avLst/>
          </a:prstGeom>
          <a:noFill/>
        </p:spPr>
        <p:txBody>
          <a:bodyPr wrap="square" lIns="0" tIns="0" rIns="0" bIns="0" anchor="ctr">
            <a:normAutofit fontScale="88235" lnSpcReduction="20000"/>
          </a:bodyPr>
          <a:lstStyle/>
          <a:p>
            <a:pPr marL="0" indent="0">
              <a:buNone/>
            </a:pPr>
            <a:r>
              <a:rPr sz="3400" b="1">
                <a:solidFill>
                  <a:srgbClr val="07245A"/>
                </a:solidFill>
                <a:latin typeface="Aptos Display"/>
                <a:ea typeface="Aptos Display"/>
                <a:cs typeface="Aptos Display"/>
              </a:rPr>
              <a:t>Caso inicial: funciona, pero no escala</a:t>
            </a:r>
          </a:p>
        </p:txBody>
      </p:sp>
      <p:sp>
        <p:nvSpPr>
          <p:cNvPr id="11" name="Shape 9">
            <a:extLst>
              <a:ext uri="{FF2B5EF4-FFF2-40B4-BE49-F238E27FC236}">
                <a16:creationId xmlns:a16="http://schemas.microsoft.com/office/drawing/2014/main" id="{9125C15F-C394-4CB5-AEB1-520CF81C915C}"/>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48835BF7-A13A-4892-9462-774C7BBCA04C}"/>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El mismo SQL, otra escala de datos</a:t>
            </a:r>
          </a:p>
        </p:txBody>
      </p:sp>
      <p:sp>
        <p:nvSpPr>
          <p:cNvPr id="13" name="Shape 11">
            <a:extLst>
              <a:ext uri="{FF2B5EF4-FFF2-40B4-BE49-F238E27FC236}">
                <a16:creationId xmlns:a16="http://schemas.microsoft.com/office/drawing/2014/main" id="{A956D7B9-8796-4A8C-BD21-742FF8823EB6}"/>
              </a:ext>
            </a:extLst>
          </p:cNvPr>
          <p:cNvSpPr>
            <a:spLocks noGrp="1"/>
          </p:cNvSpPr>
          <p:nvPr/>
        </p:nvSpPr>
        <p:spPr>
          <a:xfrm>
            <a:off x="822960" y="2041265"/>
            <a:ext cx="10561320" cy="594360"/>
          </a:xfrm>
          <a:prstGeom prst="roundRect">
            <a:avLst>
              <a:gd name="adj" fmla="val 7692"/>
            </a:avLst>
          </a:prstGeom>
          <a:solidFill>
            <a:srgbClr val="0B1F43"/>
          </a:solidFill>
          <a:ln w="12700">
            <a:solidFill>
              <a:srgbClr val="0B1F43"/>
            </a:solidFill>
            <a:prstDash val="solid"/>
          </a:ln>
        </p:spPr>
        <p:txBody>
          <a:bodyPr/>
          <a:lstStyle/>
          <a:p>
            <a:endParaRPr/>
          </a:p>
        </p:txBody>
      </p:sp>
      <p:sp>
        <p:nvSpPr>
          <p:cNvPr id="14" name="Text 12">
            <a:extLst>
              <a:ext uri="{FF2B5EF4-FFF2-40B4-BE49-F238E27FC236}">
                <a16:creationId xmlns:a16="http://schemas.microsoft.com/office/drawing/2014/main" id="{B49DC949-A885-45FE-8D8A-D72EB1DE8F62}"/>
              </a:ext>
            </a:extLst>
          </p:cNvPr>
          <p:cNvSpPr>
            <a:spLocks noGrp="1"/>
          </p:cNvSpPr>
          <p:nvPr/>
        </p:nvSpPr>
        <p:spPr>
          <a:xfrm>
            <a:off x="1051560" y="2224145"/>
            <a:ext cx="10058400" cy="219456"/>
          </a:xfrm>
          <a:prstGeom prst="rect">
            <a:avLst/>
          </a:prstGeom>
          <a:noFill/>
        </p:spPr>
        <p:txBody>
          <a:bodyPr wrap="square" lIns="0" tIns="0" rIns="0" bIns="0" anchor="ctr"/>
          <a:lstStyle/>
          <a:p>
            <a:pPr marL="0" indent="0">
              <a:buNone/>
            </a:pPr>
            <a:r>
              <a:rPr sz="1800">
                <a:solidFill>
                  <a:srgbClr val="FFFFFF"/>
                </a:solidFill>
                <a:latin typeface="Consolas"/>
                <a:ea typeface="Consolas"/>
                <a:cs typeface="Consolas"/>
              </a:rPr>
              <a:t>SELECT * FROM pedido WHERE cliente_id = ? AND fecha BETWEEN ? AND ?;</a:t>
            </a:r>
          </a:p>
        </p:txBody>
      </p:sp>
      <p:sp>
        <p:nvSpPr>
          <p:cNvPr id="15" name="Text 13">
            <a:extLst>
              <a:ext uri="{FF2B5EF4-FFF2-40B4-BE49-F238E27FC236}">
                <a16:creationId xmlns:a16="http://schemas.microsoft.com/office/drawing/2014/main" id="{E8C1076E-E0D2-48F5-9878-CEB1F1065220}"/>
              </a:ext>
            </a:extLst>
          </p:cNvPr>
          <p:cNvSpPr>
            <a:spLocks noGrp="1"/>
          </p:cNvSpPr>
          <p:nvPr/>
        </p:nvSpPr>
        <p:spPr>
          <a:xfrm>
            <a:off x="1097280" y="2788920"/>
            <a:ext cx="9875520" cy="2011680"/>
          </a:xfrm>
          <a:prstGeom prst="rect">
            <a:avLst/>
          </a:prstGeom>
          <a:noFill/>
        </p:spPr>
        <p:txBody>
          <a:bodyPr wrap="square" lIns="635" tIns="635" rIns="635" bIns="635" anchor="ctr">
            <a:normAutofit/>
          </a:bodyPr>
          <a:lstStyle/>
          <a:p>
            <a:pPr marL="152400" indent="-152400">
              <a:buChar char="•"/>
            </a:pPr>
            <a:r>
              <a:rPr sz="1700">
                <a:solidFill>
                  <a:srgbClr val="17212B"/>
                </a:solidFill>
              </a:rPr>
              <a:t>Con 10.000 filas responde en milisegundos.</a:t>
            </a:r>
          </a:p>
          <a:p>
            <a:pPr marL="152400" indent="-152400">
              <a:buChar char="•"/>
            </a:pPr>
            <a:r>
              <a:rPr sz="1700">
                <a:solidFill>
                  <a:srgbClr val="17212B"/>
                </a:solidFill>
              </a:rPr>
              <a:t>Con 50 millones realiza un recorrido completo.</a:t>
            </a:r>
          </a:p>
          <a:p>
            <a:pPr marL="152400" indent="-152400">
              <a:buChar char="•"/>
            </a:pPr>
            <a:r>
              <a:rPr sz="1700">
                <a:solidFill>
                  <a:srgbClr val="17212B"/>
                </a:solidFill>
              </a:rPr>
              <a:t>La consulta es lógicamente correcta, pero incumple el tiempo objetivo.</a:t>
            </a:r>
          </a:p>
          <a:p>
            <a:pPr marL="152400" indent="-152400">
              <a:buChar char="•"/>
            </a:pPr>
            <a:r>
              <a:rPr sz="1700">
                <a:solidFill>
                  <a:srgbClr val="17212B"/>
                </a:solidFill>
              </a:rPr>
              <a:t>Antes de crear un índice debemos conocer la carga, la distribución y el costo de las escrituras.</a:t>
            </a:r>
          </a:p>
        </p:txBody>
      </p:sp>
      <p:sp>
        <p:nvSpPr>
          <p:cNvPr id="16" name="Shape 14">
            <a:extLst>
              <a:ext uri="{FF2B5EF4-FFF2-40B4-BE49-F238E27FC236}">
                <a16:creationId xmlns:a16="http://schemas.microsoft.com/office/drawing/2014/main" id="{2FE285E5-C1CD-4896-90DA-B83CB88E769A}"/>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17" name="Text 15">
            <a:extLst>
              <a:ext uri="{FF2B5EF4-FFF2-40B4-BE49-F238E27FC236}">
                <a16:creationId xmlns:a16="http://schemas.microsoft.com/office/drawing/2014/main" id="{CC91E4B1-F3B4-4830-A0E7-42E94EC9D198}"/>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
        <p:nvSpPr>
          <p:cNvPr id="19" name="Text 38">
            <a:extLst>
              <a:ext uri="{FF2B5EF4-FFF2-40B4-BE49-F238E27FC236}">
                <a16:creationId xmlns:a16="http://schemas.microsoft.com/office/drawing/2014/main" id="{F84C66C0-2FE9-E8E6-BE1B-2B7D96965480}"/>
              </a:ext>
            </a:extLst>
          </p:cNvPr>
          <p:cNvSpPr>
            <a:spLocks noGrp="1"/>
          </p:cNvSpPr>
          <p:nvPr/>
        </p:nvSpPr>
        <p:spPr>
          <a:xfrm>
            <a:off x="1005840" y="4496690"/>
            <a:ext cx="10058400" cy="411480"/>
          </a:xfrm>
          <a:prstGeom prst="rect">
            <a:avLst/>
          </a:prstGeom>
          <a:noFill/>
        </p:spPr>
        <p:txBody>
          <a:bodyPr wrap="square" anchor="ctr"/>
          <a:lstStyle/>
          <a:p>
            <a:pPr marL="0" indent="0" algn="ctr">
              <a:buNone/>
            </a:pPr>
            <a:r>
              <a:rPr sz="1900" b="1">
                <a:solidFill>
                  <a:srgbClr val="0B5CAD"/>
                </a:solidFill>
              </a:rPr>
              <a:t>Pregunta guía: ¿qué decisión física reduce el trabajo sin encarecer innecesariamente el sistema?</a:t>
            </a:r>
          </a:p>
        </p:txBody>
      </p:sp>
    </p:spTree>
    <p:extLst>
      <p:ext uri="{BB962C8B-B14F-4D97-AF65-F5344CB8AC3E}">
        <p14:creationId xmlns:p14="http://schemas.microsoft.com/office/powerpoint/2010/main" val="15628569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05CF088-86D1-4237-A8B6-86340931FA7C}"/>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847F890F-7C13-4F2A-84C6-BDC693CD35C7}"/>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7BB5CAB5-B296-4B90-B816-7720A845B7AF}"/>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93315444-6A06-4975-AAB4-F93BEAD99811}"/>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2FCAFC4E-8771-4726-B3C7-8BB4CF1BA10D}"/>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924EE4AA-ADBB-4B97-B2B8-D00FB2CB1693}"/>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7658BA90-9699-4AD7-B234-9BA2DF0BB11E}"/>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7F04B3A0-9ED9-4019-A5D3-4CE94D0DEC95}"/>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07</a:t>
            </a:r>
          </a:p>
        </p:txBody>
      </p:sp>
      <p:sp>
        <p:nvSpPr>
          <p:cNvPr id="10" name="Text 8">
            <a:extLst>
              <a:ext uri="{FF2B5EF4-FFF2-40B4-BE49-F238E27FC236}">
                <a16:creationId xmlns:a16="http://schemas.microsoft.com/office/drawing/2014/main" id="{BDFECAF7-7624-4B06-8A6D-78057E0F3E84}"/>
              </a:ext>
            </a:extLst>
          </p:cNvPr>
          <p:cNvSpPr>
            <a:spLocks noGrp="1"/>
          </p:cNvSpPr>
          <p:nvPr/>
        </p:nvSpPr>
        <p:spPr>
          <a:xfrm>
            <a:off x="658368" y="868680"/>
            <a:ext cx="10698480" cy="411480"/>
          </a:xfrm>
          <a:prstGeom prst="rect">
            <a:avLst/>
          </a:prstGeom>
          <a:noFill/>
        </p:spPr>
        <p:txBody>
          <a:bodyPr wrap="square" lIns="0" tIns="0" rIns="0" bIns="0" anchor="ctr">
            <a:normAutofit fontScale="88235" lnSpcReduction="20000"/>
          </a:bodyPr>
          <a:lstStyle/>
          <a:p>
            <a:pPr marL="0" indent="0">
              <a:buNone/>
            </a:pPr>
            <a:r>
              <a:rPr sz="3400" b="1">
                <a:solidFill>
                  <a:srgbClr val="07245A"/>
                </a:solidFill>
                <a:latin typeface="Aptos Display"/>
                <a:ea typeface="Aptos Display"/>
                <a:cs typeface="Aptos Display"/>
              </a:rPr>
              <a:t>El diseño comienza por la carga</a:t>
            </a:r>
          </a:p>
        </p:txBody>
      </p:sp>
      <p:sp>
        <p:nvSpPr>
          <p:cNvPr id="11" name="Shape 9">
            <a:extLst>
              <a:ext uri="{FF2B5EF4-FFF2-40B4-BE49-F238E27FC236}">
                <a16:creationId xmlns:a16="http://schemas.microsoft.com/office/drawing/2014/main" id="{E235F766-8095-40E7-8FB7-7BAB365E9F39}"/>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DCA4F053-8464-4768-A38C-A17DBDE4DE3E}"/>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No se optimiza una tabla en abstracto.</a:t>
            </a:r>
          </a:p>
        </p:txBody>
      </p:sp>
      <p:sp>
        <p:nvSpPr>
          <p:cNvPr id="13" name="Shape 11">
            <a:extLst>
              <a:ext uri="{FF2B5EF4-FFF2-40B4-BE49-F238E27FC236}">
                <a16:creationId xmlns:a16="http://schemas.microsoft.com/office/drawing/2014/main" id="{C63EEA6D-0E00-40F3-9341-1FF53F90E8CA}"/>
              </a:ext>
            </a:extLst>
          </p:cNvPr>
          <p:cNvSpPr>
            <a:spLocks noGrp="1"/>
          </p:cNvSpPr>
          <p:nvPr/>
        </p:nvSpPr>
        <p:spPr>
          <a:xfrm>
            <a:off x="91440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14" name="Shape 12">
            <a:extLst>
              <a:ext uri="{FF2B5EF4-FFF2-40B4-BE49-F238E27FC236}">
                <a16:creationId xmlns:a16="http://schemas.microsoft.com/office/drawing/2014/main" id="{27906FF5-28C3-4BCE-9230-D8D754E343A5}"/>
              </a:ext>
            </a:extLst>
          </p:cNvPr>
          <p:cNvSpPr>
            <a:spLocks noGrp="1"/>
          </p:cNvSpPr>
          <p:nvPr/>
        </p:nvSpPr>
        <p:spPr>
          <a:xfrm>
            <a:off x="1078992" y="1984248"/>
            <a:ext cx="438912" cy="438912"/>
          </a:xfrm>
          <a:prstGeom prst="ellipse">
            <a:avLst/>
          </a:prstGeom>
          <a:solidFill>
            <a:srgbClr val="EAF8FC"/>
          </a:solidFill>
          <a:ln w="10160">
            <a:solidFill>
              <a:srgbClr val="D5EEF7"/>
            </a:solidFill>
            <a:prstDash val="solid"/>
          </a:ln>
        </p:spPr>
        <p:txBody>
          <a:bodyPr/>
          <a:lstStyle/>
          <a:p>
            <a:endParaRPr/>
          </a:p>
        </p:txBody>
      </p:sp>
      <p:sp>
        <p:nvSpPr>
          <p:cNvPr id="15" name="Text 13">
            <a:extLst>
              <a:ext uri="{FF2B5EF4-FFF2-40B4-BE49-F238E27FC236}">
                <a16:creationId xmlns:a16="http://schemas.microsoft.com/office/drawing/2014/main" id="{8E110575-9924-4A24-8884-A28E9FB4DF15}"/>
              </a:ext>
            </a:extLst>
          </p:cNvPr>
          <p:cNvSpPr>
            <a:spLocks noGrp="1"/>
          </p:cNvSpPr>
          <p:nvPr/>
        </p:nvSpPr>
        <p:spPr>
          <a:xfrm>
            <a:off x="1078992" y="2043684"/>
            <a:ext cx="438912" cy="228600"/>
          </a:xfrm>
          <a:prstGeom prst="rect">
            <a:avLst/>
          </a:prstGeom>
          <a:noFill/>
        </p:spPr>
        <p:txBody>
          <a:bodyPr wrap="square" lIns="0" tIns="0" rIns="0" bIns="0" anchor="ctr"/>
          <a:lstStyle/>
          <a:p>
            <a:pPr marL="0" indent="0" algn="ctr">
              <a:buNone/>
            </a:pPr>
            <a:r>
              <a:rPr sz="1550">
                <a:solidFill>
                  <a:srgbClr val="17B7D7"/>
                </a:solidFill>
              </a:rPr>
              <a:t>1</a:t>
            </a:r>
          </a:p>
        </p:txBody>
      </p:sp>
      <p:sp>
        <p:nvSpPr>
          <p:cNvPr id="16" name="Text 14">
            <a:extLst>
              <a:ext uri="{FF2B5EF4-FFF2-40B4-BE49-F238E27FC236}">
                <a16:creationId xmlns:a16="http://schemas.microsoft.com/office/drawing/2014/main" id="{1F68C214-B521-4066-9D3A-42A47BEA2852}"/>
              </a:ext>
            </a:extLst>
          </p:cNvPr>
          <p:cNvSpPr>
            <a:spLocks noGrp="1"/>
          </p:cNvSpPr>
          <p:nvPr/>
        </p:nvSpPr>
        <p:spPr>
          <a:xfrm>
            <a:off x="160020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Operaciones</a:t>
            </a:r>
          </a:p>
        </p:txBody>
      </p:sp>
      <p:sp>
        <p:nvSpPr>
          <p:cNvPr id="17" name="Shape 15">
            <a:extLst>
              <a:ext uri="{FF2B5EF4-FFF2-40B4-BE49-F238E27FC236}">
                <a16:creationId xmlns:a16="http://schemas.microsoft.com/office/drawing/2014/main" id="{520B91C2-EF3C-4B81-A26F-17D73073C2AE}"/>
              </a:ext>
            </a:extLst>
          </p:cNvPr>
          <p:cNvSpPr>
            <a:spLocks noGrp="1"/>
          </p:cNvSpPr>
          <p:nvPr/>
        </p:nvSpPr>
        <p:spPr>
          <a:xfrm>
            <a:off x="1600200" y="2313432"/>
            <a:ext cx="411480" cy="0"/>
          </a:xfrm>
          <a:prstGeom prst="line">
            <a:avLst/>
          </a:prstGeom>
          <a:noFill/>
          <a:ln w="22860">
            <a:solidFill>
              <a:srgbClr val="17B7D7"/>
            </a:solidFill>
            <a:prstDash val="solid"/>
          </a:ln>
        </p:spPr>
        <p:txBody>
          <a:bodyPr/>
          <a:lstStyle/>
          <a:p>
            <a:endParaRPr/>
          </a:p>
        </p:txBody>
      </p:sp>
      <p:sp>
        <p:nvSpPr>
          <p:cNvPr id="18" name="Text 16">
            <a:extLst>
              <a:ext uri="{FF2B5EF4-FFF2-40B4-BE49-F238E27FC236}">
                <a16:creationId xmlns:a16="http://schemas.microsoft.com/office/drawing/2014/main" id="{B4396596-5CDA-4DBE-8878-C0F74DCD22B4}"/>
              </a:ext>
            </a:extLst>
          </p:cNvPr>
          <p:cNvSpPr>
            <a:spLocks noGrp="1"/>
          </p:cNvSpPr>
          <p:nvPr/>
        </p:nvSpPr>
        <p:spPr>
          <a:xfrm>
            <a:off x="111556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Consultas y transacciones concretas.</a:t>
            </a:r>
          </a:p>
        </p:txBody>
      </p:sp>
      <p:sp>
        <p:nvSpPr>
          <p:cNvPr id="19" name="Shape 17">
            <a:extLst>
              <a:ext uri="{FF2B5EF4-FFF2-40B4-BE49-F238E27FC236}">
                <a16:creationId xmlns:a16="http://schemas.microsoft.com/office/drawing/2014/main" id="{8147991A-6C9F-439E-B048-C7F909634508}"/>
              </a:ext>
            </a:extLst>
          </p:cNvPr>
          <p:cNvSpPr>
            <a:spLocks noGrp="1"/>
          </p:cNvSpPr>
          <p:nvPr/>
        </p:nvSpPr>
        <p:spPr>
          <a:xfrm>
            <a:off x="452628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0" name="Shape 18">
            <a:extLst>
              <a:ext uri="{FF2B5EF4-FFF2-40B4-BE49-F238E27FC236}">
                <a16:creationId xmlns:a16="http://schemas.microsoft.com/office/drawing/2014/main" id="{9EF733E9-A002-4C96-90E6-E896672B3CFD}"/>
              </a:ext>
            </a:extLst>
          </p:cNvPr>
          <p:cNvSpPr>
            <a:spLocks noGrp="1"/>
          </p:cNvSpPr>
          <p:nvPr/>
        </p:nvSpPr>
        <p:spPr>
          <a:xfrm>
            <a:off x="4690872" y="1984248"/>
            <a:ext cx="438912" cy="438912"/>
          </a:xfrm>
          <a:prstGeom prst="ellipse">
            <a:avLst/>
          </a:prstGeom>
          <a:solidFill>
            <a:srgbClr val="EAF8FC"/>
          </a:solidFill>
          <a:ln w="10160">
            <a:solidFill>
              <a:srgbClr val="D5EEF7"/>
            </a:solidFill>
            <a:prstDash val="solid"/>
          </a:ln>
        </p:spPr>
        <p:txBody>
          <a:bodyPr/>
          <a:lstStyle/>
          <a:p>
            <a:endParaRPr/>
          </a:p>
        </p:txBody>
      </p:sp>
      <p:sp>
        <p:nvSpPr>
          <p:cNvPr id="21" name="Text 19">
            <a:extLst>
              <a:ext uri="{FF2B5EF4-FFF2-40B4-BE49-F238E27FC236}">
                <a16:creationId xmlns:a16="http://schemas.microsoft.com/office/drawing/2014/main" id="{9D24A6A4-8B9E-4BFB-81F6-61A64001216C}"/>
              </a:ext>
            </a:extLst>
          </p:cNvPr>
          <p:cNvSpPr>
            <a:spLocks noGrp="1"/>
          </p:cNvSpPr>
          <p:nvPr/>
        </p:nvSpPr>
        <p:spPr>
          <a:xfrm>
            <a:off x="4690872" y="2043684"/>
            <a:ext cx="438912" cy="228600"/>
          </a:xfrm>
          <a:prstGeom prst="rect">
            <a:avLst/>
          </a:prstGeom>
          <a:noFill/>
        </p:spPr>
        <p:txBody>
          <a:bodyPr wrap="square" lIns="0" tIns="0" rIns="0" bIns="0" anchor="ctr"/>
          <a:lstStyle/>
          <a:p>
            <a:pPr marL="0" indent="0" algn="ctr">
              <a:buNone/>
            </a:pPr>
            <a:r>
              <a:rPr sz="1550">
                <a:solidFill>
                  <a:srgbClr val="17B7D7"/>
                </a:solidFill>
              </a:rPr>
              <a:t>2</a:t>
            </a:r>
          </a:p>
        </p:txBody>
      </p:sp>
      <p:sp>
        <p:nvSpPr>
          <p:cNvPr id="22" name="Text 20">
            <a:extLst>
              <a:ext uri="{FF2B5EF4-FFF2-40B4-BE49-F238E27FC236}">
                <a16:creationId xmlns:a16="http://schemas.microsoft.com/office/drawing/2014/main" id="{53B490FB-80F7-46A0-9B9C-886B1DD8EBF9}"/>
              </a:ext>
            </a:extLst>
          </p:cNvPr>
          <p:cNvSpPr>
            <a:spLocks noGrp="1"/>
          </p:cNvSpPr>
          <p:nvPr/>
        </p:nvSpPr>
        <p:spPr>
          <a:xfrm>
            <a:off x="521208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Patrones</a:t>
            </a:r>
          </a:p>
        </p:txBody>
      </p:sp>
      <p:sp>
        <p:nvSpPr>
          <p:cNvPr id="23" name="Shape 21">
            <a:extLst>
              <a:ext uri="{FF2B5EF4-FFF2-40B4-BE49-F238E27FC236}">
                <a16:creationId xmlns:a16="http://schemas.microsoft.com/office/drawing/2014/main" id="{D3F3A3F9-DEBD-4625-95BC-DAAAB52868A2}"/>
              </a:ext>
            </a:extLst>
          </p:cNvPr>
          <p:cNvSpPr>
            <a:spLocks noGrp="1"/>
          </p:cNvSpPr>
          <p:nvPr/>
        </p:nvSpPr>
        <p:spPr>
          <a:xfrm>
            <a:off x="5212080" y="2313432"/>
            <a:ext cx="411480" cy="0"/>
          </a:xfrm>
          <a:prstGeom prst="line">
            <a:avLst/>
          </a:prstGeom>
          <a:noFill/>
          <a:ln w="22860">
            <a:solidFill>
              <a:srgbClr val="17B7D7"/>
            </a:solidFill>
            <a:prstDash val="solid"/>
          </a:ln>
        </p:spPr>
        <p:txBody>
          <a:bodyPr/>
          <a:lstStyle/>
          <a:p>
            <a:endParaRPr/>
          </a:p>
        </p:txBody>
      </p:sp>
      <p:sp>
        <p:nvSpPr>
          <p:cNvPr id="24" name="Text 22">
            <a:extLst>
              <a:ext uri="{FF2B5EF4-FFF2-40B4-BE49-F238E27FC236}">
                <a16:creationId xmlns:a16="http://schemas.microsoft.com/office/drawing/2014/main" id="{E9610762-B4D3-4DD8-9CCD-A0F730F6ECB5}"/>
              </a:ext>
            </a:extLst>
          </p:cNvPr>
          <p:cNvSpPr>
            <a:spLocks noGrp="1"/>
          </p:cNvSpPr>
          <p:nvPr/>
        </p:nvSpPr>
        <p:spPr>
          <a:xfrm>
            <a:off x="472744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Filtros, joins, ordenamientos y filas recuperadas.</a:t>
            </a:r>
          </a:p>
        </p:txBody>
      </p:sp>
      <p:sp>
        <p:nvSpPr>
          <p:cNvPr id="25" name="Shape 23">
            <a:extLst>
              <a:ext uri="{FF2B5EF4-FFF2-40B4-BE49-F238E27FC236}">
                <a16:creationId xmlns:a16="http://schemas.microsoft.com/office/drawing/2014/main" id="{CCEF4718-176D-45F0-B2D4-BF2C7E320CBA}"/>
              </a:ext>
            </a:extLst>
          </p:cNvPr>
          <p:cNvSpPr>
            <a:spLocks noGrp="1"/>
          </p:cNvSpPr>
          <p:nvPr/>
        </p:nvSpPr>
        <p:spPr>
          <a:xfrm>
            <a:off x="813816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6" name="Shape 24">
            <a:extLst>
              <a:ext uri="{FF2B5EF4-FFF2-40B4-BE49-F238E27FC236}">
                <a16:creationId xmlns:a16="http://schemas.microsoft.com/office/drawing/2014/main" id="{8D44E5AE-8A67-4853-B244-F81052A007F4}"/>
              </a:ext>
            </a:extLst>
          </p:cNvPr>
          <p:cNvSpPr>
            <a:spLocks noGrp="1"/>
          </p:cNvSpPr>
          <p:nvPr/>
        </p:nvSpPr>
        <p:spPr>
          <a:xfrm>
            <a:off x="8302752" y="1984248"/>
            <a:ext cx="438912" cy="438912"/>
          </a:xfrm>
          <a:prstGeom prst="ellipse">
            <a:avLst/>
          </a:prstGeom>
          <a:solidFill>
            <a:srgbClr val="EAF8FC"/>
          </a:solidFill>
          <a:ln w="10160">
            <a:solidFill>
              <a:srgbClr val="D5EEF7"/>
            </a:solidFill>
            <a:prstDash val="solid"/>
          </a:ln>
        </p:spPr>
        <p:txBody>
          <a:bodyPr/>
          <a:lstStyle/>
          <a:p>
            <a:endParaRPr/>
          </a:p>
        </p:txBody>
      </p:sp>
      <p:sp>
        <p:nvSpPr>
          <p:cNvPr id="27" name="Text 25">
            <a:extLst>
              <a:ext uri="{FF2B5EF4-FFF2-40B4-BE49-F238E27FC236}">
                <a16:creationId xmlns:a16="http://schemas.microsoft.com/office/drawing/2014/main" id="{1E839E76-0723-4E97-92D6-AA1B56FF2E71}"/>
              </a:ext>
            </a:extLst>
          </p:cNvPr>
          <p:cNvSpPr>
            <a:spLocks noGrp="1"/>
          </p:cNvSpPr>
          <p:nvPr/>
        </p:nvSpPr>
        <p:spPr>
          <a:xfrm>
            <a:off x="8302752" y="2043684"/>
            <a:ext cx="438912" cy="228600"/>
          </a:xfrm>
          <a:prstGeom prst="rect">
            <a:avLst/>
          </a:prstGeom>
          <a:noFill/>
        </p:spPr>
        <p:txBody>
          <a:bodyPr wrap="square" lIns="0" tIns="0" rIns="0" bIns="0" anchor="ctr"/>
          <a:lstStyle/>
          <a:p>
            <a:pPr marL="0" indent="0" algn="ctr">
              <a:buNone/>
            </a:pPr>
            <a:r>
              <a:rPr sz="1550">
                <a:solidFill>
                  <a:srgbClr val="17B7D7"/>
                </a:solidFill>
              </a:rPr>
              <a:t>3</a:t>
            </a:r>
          </a:p>
        </p:txBody>
      </p:sp>
      <p:sp>
        <p:nvSpPr>
          <p:cNvPr id="28" name="Text 26">
            <a:extLst>
              <a:ext uri="{FF2B5EF4-FFF2-40B4-BE49-F238E27FC236}">
                <a16:creationId xmlns:a16="http://schemas.microsoft.com/office/drawing/2014/main" id="{39EAD97E-ACE2-4547-A6C7-EC305192AC81}"/>
              </a:ext>
            </a:extLst>
          </p:cNvPr>
          <p:cNvSpPr>
            <a:spLocks noGrp="1"/>
          </p:cNvSpPr>
          <p:nvPr/>
        </p:nvSpPr>
        <p:spPr>
          <a:xfrm>
            <a:off x="882396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Objetivos</a:t>
            </a:r>
          </a:p>
        </p:txBody>
      </p:sp>
      <p:sp>
        <p:nvSpPr>
          <p:cNvPr id="29" name="Shape 27">
            <a:extLst>
              <a:ext uri="{FF2B5EF4-FFF2-40B4-BE49-F238E27FC236}">
                <a16:creationId xmlns:a16="http://schemas.microsoft.com/office/drawing/2014/main" id="{FCA73888-782F-4505-B3DD-DA63AA7D156F}"/>
              </a:ext>
            </a:extLst>
          </p:cNvPr>
          <p:cNvSpPr>
            <a:spLocks noGrp="1"/>
          </p:cNvSpPr>
          <p:nvPr/>
        </p:nvSpPr>
        <p:spPr>
          <a:xfrm>
            <a:off x="8823960" y="2313432"/>
            <a:ext cx="411480" cy="0"/>
          </a:xfrm>
          <a:prstGeom prst="line">
            <a:avLst/>
          </a:prstGeom>
          <a:noFill/>
          <a:ln w="22860">
            <a:solidFill>
              <a:srgbClr val="17B7D7"/>
            </a:solidFill>
            <a:prstDash val="solid"/>
          </a:ln>
        </p:spPr>
        <p:txBody>
          <a:bodyPr/>
          <a:lstStyle/>
          <a:p>
            <a:endParaRPr/>
          </a:p>
        </p:txBody>
      </p:sp>
      <p:sp>
        <p:nvSpPr>
          <p:cNvPr id="30" name="Text 28">
            <a:extLst>
              <a:ext uri="{FF2B5EF4-FFF2-40B4-BE49-F238E27FC236}">
                <a16:creationId xmlns:a16="http://schemas.microsoft.com/office/drawing/2014/main" id="{DD936180-33BC-4320-BA9F-81FA74FC0275}"/>
              </a:ext>
            </a:extLst>
          </p:cNvPr>
          <p:cNvSpPr>
            <a:spLocks noGrp="1"/>
          </p:cNvSpPr>
          <p:nvPr/>
        </p:nvSpPr>
        <p:spPr>
          <a:xfrm>
            <a:off x="833932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Frecuencia, concurrencia y tiempo requerido.</a:t>
            </a:r>
          </a:p>
        </p:txBody>
      </p:sp>
      <p:sp>
        <p:nvSpPr>
          <p:cNvPr id="31" name="Text 29">
            <a:extLst>
              <a:ext uri="{FF2B5EF4-FFF2-40B4-BE49-F238E27FC236}">
                <a16:creationId xmlns:a16="http://schemas.microsoft.com/office/drawing/2014/main" id="{5BD4C6CA-B995-4864-9406-0372256BA931}"/>
              </a:ext>
            </a:extLst>
          </p:cNvPr>
          <p:cNvSpPr>
            <a:spLocks noGrp="1"/>
          </p:cNvSpPr>
          <p:nvPr/>
        </p:nvSpPr>
        <p:spPr>
          <a:xfrm>
            <a:off x="914400" y="4800600"/>
            <a:ext cx="10332720" cy="411480"/>
          </a:xfrm>
          <a:prstGeom prst="rect">
            <a:avLst/>
          </a:prstGeom>
          <a:noFill/>
        </p:spPr>
        <p:txBody>
          <a:bodyPr wrap="square" anchor="ctr"/>
          <a:lstStyle/>
          <a:p>
            <a:pPr marL="0" indent="0" algn="ctr">
              <a:buNone/>
            </a:pPr>
            <a:r>
              <a:rPr sz="1800" b="1">
                <a:solidFill>
                  <a:srgbClr val="07245A"/>
                </a:solidFill>
              </a:rPr>
              <a:t>Diseñar es responder a un uso esperado, no acumular estructuras.</a:t>
            </a:r>
          </a:p>
        </p:txBody>
      </p:sp>
      <p:sp>
        <p:nvSpPr>
          <p:cNvPr id="32" name="Shape 30">
            <a:extLst>
              <a:ext uri="{FF2B5EF4-FFF2-40B4-BE49-F238E27FC236}">
                <a16:creationId xmlns:a16="http://schemas.microsoft.com/office/drawing/2014/main" id="{48DEFDF8-4233-43D1-ABC6-22926B0A171A}"/>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33" name="Text 31">
            <a:extLst>
              <a:ext uri="{FF2B5EF4-FFF2-40B4-BE49-F238E27FC236}">
                <a16:creationId xmlns:a16="http://schemas.microsoft.com/office/drawing/2014/main" id="{B6AAE201-650E-4F2F-8FFF-27F1A0DEDA4A}"/>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Tree>
    <p:extLst>
      <p:ext uri="{BB962C8B-B14F-4D97-AF65-F5344CB8AC3E}">
        <p14:creationId xmlns:p14="http://schemas.microsoft.com/office/powerpoint/2010/main" val="968378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05CF088-86D1-4237-A8B6-86340931FA7C}"/>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847F890F-7C13-4F2A-84C6-BDC693CD35C7}"/>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7BB5CAB5-B296-4B90-B816-7720A845B7AF}"/>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93315444-6A06-4975-AAB4-F93BEAD99811}"/>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2FCAFC4E-8771-4726-B3C7-8BB4CF1BA10D}"/>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924EE4AA-ADBB-4B97-B2B8-D00FB2CB1693}"/>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7658BA90-9699-4AD7-B234-9BA2DF0BB11E}"/>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7F04B3A0-9ED9-4019-A5D3-4CE94D0DEC95}"/>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08</a:t>
            </a:r>
          </a:p>
        </p:txBody>
      </p:sp>
      <p:sp>
        <p:nvSpPr>
          <p:cNvPr id="10" name="Text 8">
            <a:extLst>
              <a:ext uri="{FF2B5EF4-FFF2-40B4-BE49-F238E27FC236}">
                <a16:creationId xmlns:a16="http://schemas.microsoft.com/office/drawing/2014/main" id="{BDFECAF7-7624-4B06-8A6D-78057E0F3E84}"/>
              </a:ext>
            </a:extLst>
          </p:cNvPr>
          <p:cNvSpPr>
            <a:spLocks noGrp="1"/>
          </p:cNvSpPr>
          <p:nvPr/>
        </p:nvSpPr>
        <p:spPr>
          <a:xfrm>
            <a:off x="658368" y="868680"/>
            <a:ext cx="10698480" cy="411480"/>
          </a:xfrm>
          <a:prstGeom prst="rect">
            <a:avLst/>
          </a:prstGeom>
          <a:noFill/>
        </p:spPr>
        <p:txBody>
          <a:bodyPr wrap="square" lIns="0" tIns="0" rIns="0" bIns="0" anchor="ctr">
            <a:normAutofit fontScale="88235" lnSpcReduction="20000"/>
          </a:bodyPr>
          <a:lstStyle/>
          <a:p>
            <a:pPr marL="0" indent="0">
              <a:buNone/>
            </a:pPr>
            <a:r>
              <a:rPr sz="3400" b="1">
                <a:solidFill>
                  <a:srgbClr val="07245A"/>
                </a:solidFill>
                <a:latin typeface="Aptos Display"/>
                <a:ea typeface="Aptos Display"/>
                <a:cs typeface="Aptos Display"/>
              </a:rPr>
              <a:t>Diseñar para el volumen esperado</a:t>
            </a:r>
          </a:p>
        </p:txBody>
      </p:sp>
      <p:sp>
        <p:nvSpPr>
          <p:cNvPr id="11" name="Shape 9">
            <a:extLst>
              <a:ext uri="{FF2B5EF4-FFF2-40B4-BE49-F238E27FC236}">
                <a16:creationId xmlns:a16="http://schemas.microsoft.com/office/drawing/2014/main" id="{E235F766-8095-40E7-8FB7-7BAB365E9F39}"/>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DCA4F053-8464-4768-A38C-A17DBDE4DE3E}"/>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El tamaño actual puede ser engañoso.</a:t>
            </a:r>
          </a:p>
        </p:txBody>
      </p:sp>
      <p:sp>
        <p:nvSpPr>
          <p:cNvPr id="13" name="Shape 11">
            <a:extLst>
              <a:ext uri="{FF2B5EF4-FFF2-40B4-BE49-F238E27FC236}">
                <a16:creationId xmlns:a16="http://schemas.microsoft.com/office/drawing/2014/main" id="{C63EEA6D-0E00-40F3-9341-1FF53F90E8CA}"/>
              </a:ext>
            </a:extLst>
          </p:cNvPr>
          <p:cNvSpPr>
            <a:spLocks noGrp="1"/>
          </p:cNvSpPr>
          <p:nvPr/>
        </p:nvSpPr>
        <p:spPr>
          <a:xfrm>
            <a:off x="91440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14" name="Shape 12">
            <a:extLst>
              <a:ext uri="{FF2B5EF4-FFF2-40B4-BE49-F238E27FC236}">
                <a16:creationId xmlns:a16="http://schemas.microsoft.com/office/drawing/2014/main" id="{27906FF5-28C3-4BCE-9230-D8D754E343A5}"/>
              </a:ext>
            </a:extLst>
          </p:cNvPr>
          <p:cNvSpPr>
            <a:spLocks noGrp="1"/>
          </p:cNvSpPr>
          <p:nvPr/>
        </p:nvSpPr>
        <p:spPr>
          <a:xfrm>
            <a:off x="1078992" y="1984248"/>
            <a:ext cx="438912" cy="438912"/>
          </a:xfrm>
          <a:prstGeom prst="ellipse">
            <a:avLst/>
          </a:prstGeom>
          <a:solidFill>
            <a:srgbClr val="EAF8FC"/>
          </a:solidFill>
          <a:ln w="10160">
            <a:solidFill>
              <a:srgbClr val="D5EEF7"/>
            </a:solidFill>
            <a:prstDash val="solid"/>
          </a:ln>
        </p:spPr>
        <p:txBody>
          <a:bodyPr/>
          <a:lstStyle/>
          <a:p>
            <a:endParaRPr/>
          </a:p>
        </p:txBody>
      </p:sp>
      <p:sp>
        <p:nvSpPr>
          <p:cNvPr id="15" name="Text 13">
            <a:extLst>
              <a:ext uri="{FF2B5EF4-FFF2-40B4-BE49-F238E27FC236}">
                <a16:creationId xmlns:a16="http://schemas.microsoft.com/office/drawing/2014/main" id="{8E110575-9924-4A24-8884-A28E9FB4DF15}"/>
              </a:ext>
            </a:extLst>
          </p:cNvPr>
          <p:cNvSpPr>
            <a:spLocks noGrp="1"/>
          </p:cNvSpPr>
          <p:nvPr/>
        </p:nvSpPr>
        <p:spPr>
          <a:xfrm>
            <a:off x="1078992" y="2043684"/>
            <a:ext cx="438912" cy="228600"/>
          </a:xfrm>
          <a:prstGeom prst="rect">
            <a:avLst/>
          </a:prstGeom>
          <a:noFill/>
        </p:spPr>
        <p:txBody>
          <a:bodyPr wrap="square" lIns="0" tIns="0" rIns="0" bIns="0" anchor="ctr"/>
          <a:lstStyle/>
          <a:p>
            <a:pPr marL="0" indent="0" algn="ctr">
              <a:buNone/>
            </a:pPr>
            <a:r>
              <a:rPr sz="1550">
                <a:solidFill>
                  <a:srgbClr val="17B7D7"/>
                </a:solidFill>
              </a:rPr>
              <a:t>1</a:t>
            </a:r>
          </a:p>
        </p:txBody>
      </p:sp>
      <p:sp>
        <p:nvSpPr>
          <p:cNvPr id="16" name="Text 14">
            <a:extLst>
              <a:ext uri="{FF2B5EF4-FFF2-40B4-BE49-F238E27FC236}">
                <a16:creationId xmlns:a16="http://schemas.microsoft.com/office/drawing/2014/main" id="{1F68C214-B521-4066-9D3A-42A47BEA2852}"/>
              </a:ext>
            </a:extLst>
          </p:cNvPr>
          <p:cNvSpPr>
            <a:spLocks noGrp="1"/>
          </p:cNvSpPr>
          <p:nvPr/>
        </p:nvSpPr>
        <p:spPr>
          <a:xfrm>
            <a:off x="160020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Volumen</a:t>
            </a:r>
          </a:p>
        </p:txBody>
      </p:sp>
      <p:sp>
        <p:nvSpPr>
          <p:cNvPr id="17" name="Shape 15">
            <a:extLst>
              <a:ext uri="{FF2B5EF4-FFF2-40B4-BE49-F238E27FC236}">
                <a16:creationId xmlns:a16="http://schemas.microsoft.com/office/drawing/2014/main" id="{520B91C2-EF3C-4B81-A26F-17D73073C2AE}"/>
              </a:ext>
            </a:extLst>
          </p:cNvPr>
          <p:cNvSpPr>
            <a:spLocks noGrp="1"/>
          </p:cNvSpPr>
          <p:nvPr/>
        </p:nvSpPr>
        <p:spPr>
          <a:xfrm>
            <a:off x="1600200" y="2313432"/>
            <a:ext cx="411480" cy="0"/>
          </a:xfrm>
          <a:prstGeom prst="line">
            <a:avLst/>
          </a:prstGeom>
          <a:noFill/>
          <a:ln w="22860">
            <a:solidFill>
              <a:srgbClr val="17B7D7"/>
            </a:solidFill>
            <a:prstDash val="solid"/>
          </a:ln>
        </p:spPr>
        <p:txBody>
          <a:bodyPr/>
          <a:lstStyle/>
          <a:p>
            <a:endParaRPr/>
          </a:p>
        </p:txBody>
      </p:sp>
      <p:sp>
        <p:nvSpPr>
          <p:cNvPr id="18" name="Text 16">
            <a:extLst>
              <a:ext uri="{FF2B5EF4-FFF2-40B4-BE49-F238E27FC236}">
                <a16:creationId xmlns:a16="http://schemas.microsoft.com/office/drawing/2014/main" id="{B4396596-5CDA-4DBE-8878-C0F74DCD22B4}"/>
              </a:ext>
            </a:extLst>
          </p:cNvPr>
          <p:cNvSpPr>
            <a:spLocks noGrp="1"/>
          </p:cNvSpPr>
          <p:nvPr/>
        </p:nvSpPr>
        <p:spPr>
          <a:xfrm>
            <a:off x="111556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Filas, bytes y tamaño promedio.</a:t>
            </a:r>
          </a:p>
        </p:txBody>
      </p:sp>
      <p:sp>
        <p:nvSpPr>
          <p:cNvPr id="19" name="Shape 17">
            <a:extLst>
              <a:ext uri="{FF2B5EF4-FFF2-40B4-BE49-F238E27FC236}">
                <a16:creationId xmlns:a16="http://schemas.microsoft.com/office/drawing/2014/main" id="{8147991A-6C9F-439E-B048-C7F909634508}"/>
              </a:ext>
            </a:extLst>
          </p:cNvPr>
          <p:cNvSpPr>
            <a:spLocks noGrp="1"/>
          </p:cNvSpPr>
          <p:nvPr/>
        </p:nvSpPr>
        <p:spPr>
          <a:xfrm>
            <a:off x="452628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0" name="Shape 18">
            <a:extLst>
              <a:ext uri="{FF2B5EF4-FFF2-40B4-BE49-F238E27FC236}">
                <a16:creationId xmlns:a16="http://schemas.microsoft.com/office/drawing/2014/main" id="{9EF733E9-A002-4C96-90E6-E896672B3CFD}"/>
              </a:ext>
            </a:extLst>
          </p:cNvPr>
          <p:cNvSpPr>
            <a:spLocks noGrp="1"/>
          </p:cNvSpPr>
          <p:nvPr/>
        </p:nvSpPr>
        <p:spPr>
          <a:xfrm>
            <a:off x="4690872" y="1984248"/>
            <a:ext cx="438912" cy="438912"/>
          </a:xfrm>
          <a:prstGeom prst="ellipse">
            <a:avLst/>
          </a:prstGeom>
          <a:solidFill>
            <a:srgbClr val="EAF8FC"/>
          </a:solidFill>
          <a:ln w="10160">
            <a:solidFill>
              <a:srgbClr val="D5EEF7"/>
            </a:solidFill>
            <a:prstDash val="solid"/>
          </a:ln>
        </p:spPr>
        <p:txBody>
          <a:bodyPr/>
          <a:lstStyle/>
          <a:p>
            <a:endParaRPr/>
          </a:p>
        </p:txBody>
      </p:sp>
      <p:sp>
        <p:nvSpPr>
          <p:cNvPr id="21" name="Text 19">
            <a:extLst>
              <a:ext uri="{FF2B5EF4-FFF2-40B4-BE49-F238E27FC236}">
                <a16:creationId xmlns:a16="http://schemas.microsoft.com/office/drawing/2014/main" id="{9D24A6A4-8B9E-4BFB-81F6-61A64001216C}"/>
              </a:ext>
            </a:extLst>
          </p:cNvPr>
          <p:cNvSpPr>
            <a:spLocks noGrp="1"/>
          </p:cNvSpPr>
          <p:nvPr/>
        </p:nvSpPr>
        <p:spPr>
          <a:xfrm>
            <a:off x="4690872" y="2043684"/>
            <a:ext cx="438912" cy="228600"/>
          </a:xfrm>
          <a:prstGeom prst="rect">
            <a:avLst/>
          </a:prstGeom>
          <a:noFill/>
        </p:spPr>
        <p:txBody>
          <a:bodyPr wrap="square" lIns="0" tIns="0" rIns="0" bIns="0" anchor="ctr"/>
          <a:lstStyle/>
          <a:p>
            <a:pPr marL="0" indent="0" algn="ctr">
              <a:buNone/>
            </a:pPr>
            <a:r>
              <a:rPr sz="1550">
                <a:solidFill>
                  <a:srgbClr val="17B7D7"/>
                </a:solidFill>
              </a:rPr>
              <a:t>2</a:t>
            </a:r>
          </a:p>
        </p:txBody>
      </p:sp>
      <p:sp>
        <p:nvSpPr>
          <p:cNvPr id="22" name="Text 20">
            <a:extLst>
              <a:ext uri="{FF2B5EF4-FFF2-40B4-BE49-F238E27FC236}">
                <a16:creationId xmlns:a16="http://schemas.microsoft.com/office/drawing/2014/main" id="{53B490FB-80F7-46A0-9B9C-886B1DD8EBF9}"/>
              </a:ext>
            </a:extLst>
          </p:cNvPr>
          <p:cNvSpPr>
            <a:spLocks noGrp="1"/>
          </p:cNvSpPr>
          <p:nvPr/>
        </p:nvSpPr>
        <p:spPr>
          <a:xfrm>
            <a:off x="521208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Crecimiento</a:t>
            </a:r>
          </a:p>
        </p:txBody>
      </p:sp>
      <p:sp>
        <p:nvSpPr>
          <p:cNvPr id="23" name="Shape 21">
            <a:extLst>
              <a:ext uri="{FF2B5EF4-FFF2-40B4-BE49-F238E27FC236}">
                <a16:creationId xmlns:a16="http://schemas.microsoft.com/office/drawing/2014/main" id="{D3F3A3F9-DEBD-4625-95BC-DAAAB52868A2}"/>
              </a:ext>
            </a:extLst>
          </p:cNvPr>
          <p:cNvSpPr>
            <a:spLocks noGrp="1"/>
          </p:cNvSpPr>
          <p:nvPr/>
        </p:nvSpPr>
        <p:spPr>
          <a:xfrm>
            <a:off x="5212080" y="2313432"/>
            <a:ext cx="411480" cy="0"/>
          </a:xfrm>
          <a:prstGeom prst="line">
            <a:avLst/>
          </a:prstGeom>
          <a:noFill/>
          <a:ln w="22860">
            <a:solidFill>
              <a:srgbClr val="17B7D7"/>
            </a:solidFill>
            <a:prstDash val="solid"/>
          </a:ln>
        </p:spPr>
        <p:txBody>
          <a:bodyPr/>
          <a:lstStyle/>
          <a:p>
            <a:endParaRPr/>
          </a:p>
        </p:txBody>
      </p:sp>
      <p:sp>
        <p:nvSpPr>
          <p:cNvPr id="24" name="Text 22">
            <a:extLst>
              <a:ext uri="{FF2B5EF4-FFF2-40B4-BE49-F238E27FC236}">
                <a16:creationId xmlns:a16="http://schemas.microsoft.com/office/drawing/2014/main" id="{E9610762-B4D3-4DD8-9CCD-A0F730F6ECB5}"/>
              </a:ext>
            </a:extLst>
          </p:cNvPr>
          <p:cNvSpPr>
            <a:spLocks noGrp="1"/>
          </p:cNvSpPr>
          <p:nvPr/>
        </p:nvSpPr>
        <p:spPr>
          <a:xfrm>
            <a:off x="472744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Altas diarias, retención e histórico.</a:t>
            </a:r>
          </a:p>
        </p:txBody>
      </p:sp>
      <p:sp>
        <p:nvSpPr>
          <p:cNvPr id="25" name="Shape 23">
            <a:extLst>
              <a:ext uri="{FF2B5EF4-FFF2-40B4-BE49-F238E27FC236}">
                <a16:creationId xmlns:a16="http://schemas.microsoft.com/office/drawing/2014/main" id="{CCEF4718-176D-45F0-B2D4-BF2C7E320CBA}"/>
              </a:ext>
            </a:extLst>
          </p:cNvPr>
          <p:cNvSpPr>
            <a:spLocks noGrp="1"/>
          </p:cNvSpPr>
          <p:nvPr/>
        </p:nvSpPr>
        <p:spPr>
          <a:xfrm>
            <a:off x="813816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6" name="Shape 24">
            <a:extLst>
              <a:ext uri="{FF2B5EF4-FFF2-40B4-BE49-F238E27FC236}">
                <a16:creationId xmlns:a16="http://schemas.microsoft.com/office/drawing/2014/main" id="{8D44E5AE-8A67-4853-B244-F81052A007F4}"/>
              </a:ext>
            </a:extLst>
          </p:cNvPr>
          <p:cNvSpPr>
            <a:spLocks noGrp="1"/>
          </p:cNvSpPr>
          <p:nvPr/>
        </p:nvSpPr>
        <p:spPr>
          <a:xfrm>
            <a:off x="8302752" y="1984248"/>
            <a:ext cx="438912" cy="438912"/>
          </a:xfrm>
          <a:prstGeom prst="ellipse">
            <a:avLst/>
          </a:prstGeom>
          <a:solidFill>
            <a:srgbClr val="EAF8FC"/>
          </a:solidFill>
          <a:ln w="10160">
            <a:solidFill>
              <a:srgbClr val="D5EEF7"/>
            </a:solidFill>
            <a:prstDash val="solid"/>
          </a:ln>
        </p:spPr>
        <p:txBody>
          <a:bodyPr/>
          <a:lstStyle/>
          <a:p>
            <a:endParaRPr/>
          </a:p>
        </p:txBody>
      </p:sp>
      <p:sp>
        <p:nvSpPr>
          <p:cNvPr id="27" name="Text 25">
            <a:extLst>
              <a:ext uri="{FF2B5EF4-FFF2-40B4-BE49-F238E27FC236}">
                <a16:creationId xmlns:a16="http://schemas.microsoft.com/office/drawing/2014/main" id="{1E839E76-0723-4E97-92D6-AA1B56FF2E71}"/>
              </a:ext>
            </a:extLst>
          </p:cNvPr>
          <p:cNvSpPr>
            <a:spLocks noGrp="1"/>
          </p:cNvSpPr>
          <p:nvPr/>
        </p:nvSpPr>
        <p:spPr>
          <a:xfrm>
            <a:off x="8302752" y="2043684"/>
            <a:ext cx="438912" cy="228600"/>
          </a:xfrm>
          <a:prstGeom prst="rect">
            <a:avLst/>
          </a:prstGeom>
          <a:noFill/>
        </p:spPr>
        <p:txBody>
          <a:bodyPr wrap="square" lIns="0" tIns="0" rIns="0" bIns="0" anchor="ctr"/>
          <a:lstStyle/>
          <a:p>
            <a:pPr marL="0" indent="0" algn="ctr">
              <a:buNone/>
            </a:pPr>
            <a:r>
              <a:rPr sz="1550">
                <a:solidFill>
                  <a:srgbClr val="17B7D7"/>
                </a:solidFill>
              </a:rPr>
              <a:t>3</a:t>
            </a:r>
          </a:p>
        </p:txBody>
      </p:sp>
      <p:sp>
        <p:nvSpPr>
          <p:cNvPr id="28" name="Text 26">
            <a:extLst>
              <a:ext uri="{FF2B5EF4-FFF2-40B4-BE49-F238E27FC236}">
                <a16:creationId xmlns:a16="http://schemas.microsoft.com/office/drawing/2014/main" id="{39EAD97E-ACE2-4547-A6C7-EC305192AC81}"/>
              </a:ext>
            </a:extLst>
          </p:cNvPr>
          <p:cNvSpPr>
            <a:spLocks noGrp="1"/>
          </p:cNvSpPr>
          <p:nvPr/>
        </p:nvSpPr>
        <p:spPr>
          <a:xfrm>
            <a:off x="882396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Distribución</a:t>
            </a:r>
          </a:p>
        </p:txBody>
      </p:sp>
      <p:sp>
        <p:nvSpPr>
          <p:cNvPr id="29" name="Shape 27">
            <a:extLst>
              <a:ext uri="{FF2B5EF4-FFF2-40B4-BE49-F238E27FC236}">
                <a16:creationId xmlns:a16="http://schemas.microsoft.com/office/drawing/2014/main" id="{FCA73888-782F-4505-B3DD-DA63AA7D156F}"/>
              </a:ext>
            </a:extLst>
          </p:cNvPr>
          <p:cNvSpPr>
            <a:spLocks noGrp="1"/>
          </p:cNvSpPr>
          <p:nvPr/>
        </p:nvSpPr>
        <p:spPr>
          <a:xfrm>
            <a:off x="8823960" y="2313432"/>
            <a:ext cx="411480" cy="0"/>
          </a:xfrm>
          <a:prstGeom prst="line">
            <a:avLst/>
          </a:prstGeom>
          <a:noFill/>
          <a:ln w="22860">
            <a:solidFill>
              <a:srgbClr val="17B7D7"/>
            </a:solidFill>
            <a:prstDash val="solid"/>
          </a:ln>
        </p:spPr>
        <p:txBody>
          <a:bodyPr/>
          <a:lstStyle/>
          <a:p>
            <a:endParaRPr/>
          </a:p>
        </p:txBody>
      </p:sp>
      <p:sp>
        <p:nvSpPr>
          <p:cNvPr id="30" name="Text 28">
            <a:extLst>
              <a:ext uri="{FF2B5EF4-FFF2-40B4-BE49-F238E27FC236}">
                <a16:creationId xmlns:a16="http://schemas.microsoft.com/office/drawing/2014/main" id="{DD936180-33BC-4320-BA9F-81FA74FC0275}"/>
              </a:ext>
            </a:extLst>
          </p:cNvPr>
          <p:cNvSpPr>
            <a:spLocks noGrp="1"/>
          </p:cNvSpPr>
          <p:nvPr/>
        </p:nvSpPr>
        <p:spPr>
          <a:xfrm>
            <a:off x="833932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Valores frecuentes, sesgos y nulos.</a:t>
            </a:r>
          </a:p>
        </p:txBody>
      </p:sp>
      <p:sp>
        <p:nvSpPr>
          <p:cNvPr id="31" name="Text 29">
            <a:extLst>
              <a:ext uri="{FF2B5EF4-FFF2-40B4-BE49-F238E27FC236}">
                <a16:creationId xmlns:a16="http://schemas.microsoft.com/office/drawing/2014/main" id="{5BD4C6CA-B995-4864-9406-0372256BA931}"/>
              </a:ext>
            </a:extLst>
          </p:cNvPr>
          <p:cNvSpPr>
            <a:spLocks noGrp="1"/>
          </p:cNvSpPr>
          <p:nvPr/>
        </p:nvSpPr>
        <p:spPr>
          <a:xfrm>
            <a:off x="914400" y="4800600"/>
            <a:ext cx="10332720" cy="411480"/>
          </a:xfrm>
          <a:prstGeom prst="rect">
            <a:avLst/>
          </a:prstGeom>
          <a:noFill/>
        </p:spPr>
        <p:txBody>
          <a:bodyPr wrap="square" anchor="ctr"/>
          <a:lstStyle/>
          <a:p>
            <a:pPr marL="0" indent="0" algn="ctr">
              <a:buNone/>
            </a:pPr>
            <a:r>
              <a:rPr sz="1800" b="1">
                <a:solidFill>
                  <a:srgbClr val="07245A"/>
                </a:solidFill>
              </a:rPr>
              <a:t>El laboratorio valida conceptos; la proyección valida el diseño.</a:t>
            </a:r>
          </a:p>
        </p:txBody>
      </p:sp>
      <p:sp>
        <p:nvSpPr>
          <p:cNvPr id="32" name="Shape 30">
            <a:extLst>
              <a:ext uri="{FF2B5EF4-FFF2-40B4-BE49-F238E27FC236}">
                <a16:creationId xmlns:a16="http://schemas.microsoft.com/office/drawing/2014/main" id="{48DEFDF8-4233-43D1-ABC6-22926B0A171A}"/>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33" name="Text 31">
            <a:extLst>
              <a:ext uri="{FF2B5EF4-FFF2-40B4-BE49-F238E27FC236}">
                <a16:creationId xmlns:a16="http://schemas.microsoft.com/office/drawing/2014/main" id="{B6AAE201-650E-4F2F-8FFF-27F1A0DEDA4A}"/>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Tree>
    <p:extLst>
      <p:ext uri="{BB962C8B-B14F-4D97-AF65-F5344CB8AC3E}">
        <p14:creationId xmlns:p14="http://schemas.microsoft.com/office/powerpoint/2010/main" val="9683784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05CF088-86D1-4237-A8B6-86340931FA7C}"/>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847F890F-7C13-4F2A-84C6-BDC693CD35C7}"/>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7BB5CAB5-B296-4B90-B816-7720A845B7AF}"/>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93315444-6A06-4975-AAB4-F93BEAD99811}"/>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2FCAFC4E-8771-4726-B3C7-8BB4CF1BA10D}"/>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924EE4AA-ADBB-4B97-B2B8-D00FB2CB1693}"/>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7658BA90-9699-4AD7-B234-9BA2DF0BB11E}"/>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7F04B3A0-9ED9-4019-A5D3-4CE94D0DEC95}"/>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09</a:t>
            </a:r>
          </a:p>
        </p:txBody>
      </p:sp>
      <p:sp>
        <p:nvSpPr>
          <p:cNvPr id="10" name="Text 8">
            <a:extLst>
              <a:ext uri="{FF2B5EF4-FFF2-40B4-BE49-F238E27FC236}">
                <a16:creationId xmlns:a16="http://schemas.microsoft.com/office/drawing/2014/main" id="{BDFECAF7-7624-4B06-8A6D-78057E0F3E84}"/>
              </a:ext>
            </a:extLst>
          </p:cNvPr>
          <p:cNvSpPr>
            <a:spLocks noGrp="1"/>
          </p:cNvSpPr>
          <p:nvPr/>
        </p:nvSpPr>
        <p:spPr>
          <a:xfrm>
            <a:off x="658368" y="868680"/>
            <a:ext cx="10698480" cy="411480"/>
          </a:xfrm>
          <a:prstGeom prst="rect">
            <a:avLst/>
          </a:prstGeom>
          <a:noFill/>
        </p:spPr>
        <p:txBody>
          <a:bodyPr wrap="square" lIns="0" tIns="0" rIns="0" bIns="0" anchor="ctr">
            <a:normAutofit fontScale="88235" lnSpcReduction="20000"/>
          </a:bodyPr>
          <a:lstStyle/>
          <a:p>
            <a:pPr marL="0" indent="0">
              <a:buNone/>
            </a:pPr>
            <a:r>
              <a:rPr sz="3400" b="1">
                <a:solidFill>
                  <a:srgbClr val="07245A"/>
                </a:solidFill>
                <a:latin typeface="Aptos Display"/>
                <a:ea typeface="Aptos Display"/>
                <a:cs typeface="Aptos Display"/>
              </a:rPr>
              <a:t>Frecuencia y criticidad</a:t>
            </a:r>
          </a:p>
        </p:txBody>
      </p:sp>
      <p:sp>
        <p:nvSpPr>
          <p:cNvPr id="11" name="Shape 9">
            <a:extLst>
              <a:ext uri="{FF2B5EF4-FFF2-40B4-BE49-F238E27FC236}">
                <a16:creationId xmlns:a16="http://schemas.microsoft.com/office/drawing/2014/main" id="{E235F766-8095-40E7-8FB7-7BAB365E9F39}"/>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DCA4F053-8464-4768-A38C-A17DBDE4DE3E}"/>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Dos consultas lentas no tienen la misma prioridad.</a:t>
            </a:r>
          </a:p>
        </p:txBody>
      </p:sp>
      <p:sp>
        <p:nvSpPr>
          <p:cNvPr id="13" name="Shape 11">
            <a:extLst>
              <a:ext uri="{FF2B5EF4-FFF2-40B4-BE49-F238E27FC236}">
                <a16:creationId xmlns:a16="http://schemas.microsoft.com/office/drawing/2014/main" id="{C63EEA6D-0E00-40F3-9341-1FF53F90E8CA}"/>
              </a:ext>
            </a:extLst>
          </p:cNvPr>
          <p:cNvSpPr>
            <a:spLocks noGrp="1"/>
          </p:cNvSpPr>
          <p:nvPr/>
        </p:nvSpPr>
        <p:spPr>
          <a:xfrm>
            <a:off x="91440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14" name="Shape 12">
            <a:extLst>
              <a:ext uri="{FF2B5EF4-FFF2-40B4-BE49-F238E27FC236}">
                <a16:creationId xmlns:a16="http://schemas.microsoft.com/office/drawing/2014/main" id="{27906FF5-28C3-4BCE-9230-D8D754E343A5}"/>
              </a:ext>
            </a:extLst>
          </p:cNvPr>
          <p:cNvSpPr>
            <a:spLocks noGrp="1"/>
          </p:cNvSpPr>
          <p:nvPr/>
        </p:nvSpPr>
        <p:spPr>
          <a:xfrm>
            <a:off x="1078992" y="1984248"/>
            <a:ext cx="438912" cy="438912"/>
          </a:xfrm>
          <a:prstGeom prst="ellipse">
            <a:avLst/>
          </a:prstGeom>
          <a:solidFill>
            <a:srgbClr val="EAF8FC"/>
          </a:solidFill>
          <a:ln w="10160">
            <a:solidFill>
              <a:srgbClr val="D5EEF7"/>
            </a:solidFill>
            <a:prstDash val="solid"/>
          </a:ln>
        </p:spPr>
        <p:txBody>
          <a:bodyPr/>
          <a:lstStyle/>
          <a:p>
            <a:endParaRPr/>
          </a:p>
        </p:txBody>
      </p:sp>
      <p:sp>
        <p:nvSpPr>
          <p:cNvPr id="15" name="Text 13">
            <a:extLst>
              <a:ext uri="{FF2B5EF4-FFF2-40B4-BE49-F238E27FC236}">
                <a16:creationId xmlns:a16="http://schemas.microsoft.com/office/drawing/2014/main" id="{8E110575-9924-4A24-8884-A28E9FB4DF15}"/>
              </a:ext>
            </a:extLst>
          </p:cNvPr>
          <p:cNvSpPr>
            <a:spLocks noGrp="1"/>
          </p:cNvSpPr>
          <p:nvPr/>
        </p:nvSpPr>
        <p:spPr>
          <a:xfrm>
            <a:off x="1078992" y="2043684"/>
            <a:ext cx="438912" cy="228600"/>
          </a:xfrm>
          <a:prstGeom prst="rect">
            <a:avLst/>
          </a:prstGeom>
          <a:noFill/>
        </p:spPr>
        <p:txBody>
          <a:bodyPr wrap="square" lIns="0" tIns="0" rIns="0" bIns="0" anchor="ctr"/>
          <a:lstStyle/>
          <a:p>
            <a:pPr marL="0" indent="0" algn="ctr">
              <a:buNone/>
            </a:pPr>
            <a:r>
              <a:rPr sz="1550">
                <a:solidFill>
                  <a:srgbClr val="17B7D7"/>
                </a:solidFill>
              </a:rPr>
              <a:t>1</a:t>
            </a:r>
          </a:p>
        </p:txBody>
      </p:sp>
      <p:sp>
        <p:nvSpPr>
          <p:cNvPr id="16" name="Text 14">
            <a:extLst>
              <a:ext uri="{FF2B5EF4-FFF2-40B4-BE49-F238E27FC236}">
                <a16:creationId xmlns:a16="http://schemas.microsoft.com/office/drawing/2014/main" id="{1F68C214-B521-4066-9D3A-42A47BEA2852}"/>
              </a:ext>
            </a:extLst>
          </p:cNvPr>
          <p:cNvSpPr>
            <a:spLocks noGrp="1"/>
          </p:cNvSpPr>
          <p:nvPr/>
        </p:nvSpPr>
        <p:spPr>
          <a:xfrm>
            <a:off x="160020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Frecuencia</a:t>
            </a:r>
          </a:p>
        </p:txBody>
      </p:sp>
      <p:sp>
        <p:nvSpPr>
          <p:cNvPr id="17" name="Shape 15">
            <a:extLst>
              <a:ext uri="{FF2B5EF4-FFF2-40B4-BE49-F238E27FC236}">
                <a16:creationId xmlns:a16="http://schemas.microsoft.com/office/drawing/2014/main" id="{520B91C2-EF3C-4B81-A26F-17D73073C2AE}"/>
              </a:ext>
            </a:extLst>
          </p:cNvPr>
          <p:cNvSpPr>
            <a:spLocks noGrp="1"/>
          </p:cNvSpPr>
          <p:nvPr/>
        </p:nvSpPr>
        <p:spPr>
          <a:xfrm>
            <a:off x="1600200" y="2313432"/>
            <a:ext cx="411480" cy="0"/>
          </a:xfrm>
          <a:prstGeom prst="line">
            <a:avLst/>
          </a:prstGeom>
          <a:noFill/>
          <a:ln w="22860">
            <a:solidFill>
              <a:srgbClr val="17B7D7"/>
            </a:solidFill>
            <a:prstDash val="solid"/>
          </a:ln>
        </p:spPr>
        <p:txBody>
          <a:bodyPr/>
          <a:lstStyle/>
          <a:p>
            <a:endParaRPr/>
          </a:p>
        </p:txBody>
      </p:sp>
      <p:sp>
        <p:nvSpPr>
          <p:cNvPr id="18" name="Text 16">
            <a:extLst>
              <a:ext uri="{FF2B5EF4-FFF2-40B4-BE49-F238E27FC236}">
                <a16:creationId xmlns:a16="http://schemas.microsoft.com/office/drawing/2014/main" id="{B4396596-5CDA-4DBE-8878-C0F74DCD22B4}"/>
              </a:ext>
            </a:extLst>
          </p:cNvPr>
          <p:cNvSpPr>
            <a:spLocks noGrp="1"/>
          </p:cNvSpPr>
          <p:nvPr/>
        </p:nvSpPr>
        <p:spPr>
          <a:xfrm>
            <a:off x="111556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Cuántas veces y en qué horario.</a:t>
            </a:r>
          </a:p>
        </p:txBody>
      </p:sp>
      <p:sp>
        <p:nvSpPr>
          <p:cNvPr id="19" name="Shape 17">
            <a:extLst>
              <a:ext uri="{FF2B5EF4-FFF2-40B4-BE49-F238E27FC236}">
                <a16:creationId xmlns:a16="http://schemas.microsoft.com/office/drawing/2014/main" id="{8147991A-6C9F-439E-B048-C7F909634508}"/>
              </a:ext>
            </a:extLst>
          </p:cNvPr>
          <p:cNvSpPr>
            <a:spLocks noGrp="1"/>
          </p:cNvSpPr>
          <p:nvPr/>
        </p:nvSpPr>
        <p:spPr>
          <a:xfrm>
            <a:off x="452628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0" name="Shape 18">
            <a:extLst>
              <a:ext uri="{FF2B5EF4-FFF2-40B4-BE49-F238E27FC236}">
                <a16:creationId xmlns:a16="http://schemas.microsoft.com/office/drawing/2014/main" id="{9EF733E9-A002-4C96-90E6-E896672B3CFD}"/>
              </a:ext>
            </a:extLst>
          </p:cNvPr>
          <p:cNvSpPr>
            <a:spLocks noGrp="1"/>
          </p:cNvSpPr>
          <p:nvPr/>
        </p:nvSpPr>
        <p:spPr>
          <a:xfrm>
            <a:off x="4690872" y="1984248"/>
            <a:ext cx="438912" cy="438912"/>
          </a:xfrm>
          <a:prstGeom prst="ellipse">
            <a:avLst/>
          </a:prstGeom>
          <a:solidFill>
            <a:srgbClr val="EAF8FC"/>
          </a:solidFill>
          <a:ln w="10160">
            <a:solidFill>
              <a:srgbClr val="D5EEF7"/>
            </a:solidFill>
            <a:prstDash val="solid"/>
          </a:ln>
        </p:spPr>
        <p:txBody>
          <a:bodyPr/>
          <a:lstStyle/>
          <a:p>
            <a:endParaRPr/>
          </a:p>
        </p:txBody>
      </p:sp>
      <p:sp>
        <p:nvSpPr>
          <p:cNvPr id="21" name="Text 19">
            <a:extLst>
              <a:ext uri="{FF2B5EF4-FFF2-40B4-BE49-F238E27FC236}">
                <a16:creationId xmlns:a16="http://schemas.microsoft.com/office/drawing/2014/main" id="{9D24A6A4-8B9E-4BFB-81F6-61A64001216C}"/>
              </a:ext>
            </a:extLst>
          </p:cNvPr>
          <p:cNvSpPr>
            <a:spLocks noGrp="1"/>
          </p:cNvSpPr>
          <p:nvPr/>
        </p:nvSpPr>
        <p:spPr>
          <a:xfrm>
            <a:off x="4690872" y="2043684"/>
            <a:ext cx="438912" cy="228600"/>
          </a:xfrm>
          <a:prstGeom prst="rect">
            <a:avLst/>
          </a:prstGeom>
          <a:noFill/>
        </p:spPr>
        <p:txBody>
          <a:bodyPr wrap="square" lIns="0" tIns="0" rIns="0" bIns="0" anchor="ctr"/>
          <a:lstStyle/>
          <a:p>
            <a:pPr marL="0" indent="0" algn="ctr">
              <a:buNone/>
            </a:pPr>
            <a:r>
              <a:rPr sz="1550">
                <a:solidFill>
                  <a:srgbClr val="17B7D7"/>
                </a:solidFill>
              </a:rPr>
              <a:t>2</a:t>
            </a:r>
          </a:p>
        </p:txBody>
      </p:sp>
      <p:sp>
        <p:nvSpPr>
          <p:cNvPr id="22" name="Text 20">
            <a:extLst>
              <a:ext uri="{FF2B5EF4-FFF2-40B4-BE49-F238E27FC236}">
                <a16:creationId xmlns:a16="http://schemas.microsoft.com/office/drawing/2014/main" id="{53B490FB-80F7-46A0-9B9C-886B1DD8EBF9}"/>
              </a:ext>
            </a:extLst>
          </p:cNvPr>
          <p:cNvSpPr>
            <a:spLocks noGrp="1"/>
          </p:cNvSpPr>
          <p:nvPr/>
        </p:nvSpPr>
        <p:spPr>
          <a:xfrm>
            <a:off x="521208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Criticidad</a:t>
            </a:r>
          </a:p>
        </p:txBody>
      </p:sp>
      <p:sp>
        <p:nvSpPr>
          <p:cNvPr id="23" name="Shape 21">
            <a:extLst>
              <a:ext uri="{FF2B5EF4-FFF2-40B4-BE49-F238E27FC236}">
                <a16:creationId xmlns:a16="http://schemas.microsoft.com/office/drawing/2014/main" id="{D3F3A3F9-DEBD-4625-95BC-DAAAB52868A2}"/>
              </a:ext>
            </a:extLst>
          </p:cNvPr>
          <p:cNvSpPr>
            <a:spLocks noGrp="1"/>
          </p:cNvSpPr>
          <p:nvPr/>
        </p:nvSpPr>
        <p:spPr>
          <a:xfrm>
            <a:off x="5212080" y="2313432"/>
            <a:ext cx="411480" cy="0"/>
          </a:xfrm>
          <a:prstGeom prst="line">
            <a:avLst/>
          </a:prstGeom>
          <a:noFill/>
          <a:ln w="22860">
            <a:solidFill>
              <a:srgbClr val="17B7D7"/>
            </a:solidFill>
            <a:prstDash val="solid"/>
          </a:ln>
        </p:spPr>
        <p:txBody>
          <a:bodyPr/>
          <a:lstStyle/>
          <a:p>
            <a:endParaRPr/>
          </a:p>
        </p:txBody>
      </p:sp>
      <p:sp>
        <p:nvSpPr>
          <p:cNvPr id="24" name="Text 22">
            <a:extLst>
              <a:ext uri="{FF2B5EF4-FFF2-40B4-BE49-F238E27FC236}">
                <a16:creationId xmlns:a16="http://schemas.microsoft.com/office/drawing/2014/main" id="{E9610762-B4D3-4DD8-9CCD-A0F730F6ECB5}"/>
              </a:ext>
            </a:extLst>
          </p:cNvPr>
          <p:cNvSpPr>
            <a:spLocks noGrp="1"/>
          </p:cNvSpPr>
          <p:nvPr/>
        </p:nvSpPr>
        <p:spPr>
          <a:xfrm>
            <a:off x="472744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Impacto si no cumple el tiempo.</a:t>
            </a:r>
          </a:p>
        </p:txBody>
      </p:sp>
      <p:sp>
        <p:nvSpPr>
          <p:cNvPr id="25" name="Shape 23">
            <a:extLst>
              <a:ext uri="{FF2B5EF4-FFF2-40B4-BE49-F238E27FC236}">
                <a16:creationId xmlns:a16="http://schemas.microsoft.com/office/drawing/2014/main" id="{CCEF4718-176D-45F0-B2D4-BF2C7E320CBA}"/>
              </a:ext>
            </a:extLst>
          </p:cNvPr>
          <p:cNvSpPr>
            <a:spLocks noGrp="1"/>
          </p:cNvSpPr>
          <p:nvPr/>
        </p:nvSpPr>
        <p:spPr>
          <a:xfrm>
            <a:off x="813816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6" name="Shape 24">
            <a:extLst>
              <a:ext uri="{FF2B5EF4-FFF2-40B4-BE49-F238E27FC236}">
                <a16:creationId xmlns:a16="http://schemas.microsoft.com/office/drawing/2014/main" id="{8D44E5AE-8A67-4853-B244-F81052A007F4}"/>
              </a:ext>
            </a:extLst>
          </p:cNvPr>
          <p:cNvSpPr>
            <a:spLocks noGrp="1"/>
          </p:cNvSpPr>
          <p:nvPr/>
        </p:nvSpPr>
        <p:spPr>
          <a:xfrm>
            <a:off x="8302752" y="1984248"/>
            <a:ext cx="438912" cy="438912"/>
          </a:xfrm>
          <a:prstGeom prst="ellipse">
            <a:avLst/>
          </a:prstGeom>
          <a:solidFill>
            <a:srgbClr val="EAF8FC"/>
          </a:solidFill>
          <a:ln w="10160">
            <a:solidFill>
              <a:srgbClr val="D5EEF7"/>
            </a:solidFill>
            <a:prstDash val="solid"/>
          </a:ln>
        </p:spPr>
        <p:txBody>
          <a:bodyPr/>
          <a:lstStyle/>
          <a:p>
            <a:endParaRPr/>
          </a:p>
        </p:txBody>
      </p:sp>
      <p:sp>
        <p:nvSpPr>
          <p:cNvPr id="27" name="Text 25">
            <a:extLst>
              <a:ext uri="{FF2B5EF4-FFF2-40B4-BE49-F238E27FC236}">
                <a16:creationId xmlns:a16="http://schemas.microsoft.com/office/drawing/2014/main" id="{1E839E76-0723-4E97-92D6-AA1B56FF2E71}"/>
              </a:ext>
            </a:extLst>
          </p:cNvPr>
          <p:cNvSpPr>
            <a:spLocks noGrp="1"/>
          </p:cNvSpPr>
          <p:nvPr/>
        </p:nvSpPr>
        <p:spPr>
          <a:xfrm>
            <a:off x="8302752" y="2043684"/>
            <a:ext cx="438912" cy="228600"/>
          </a:xfrm>
          <a:prstGeom prst="rect">
            <a:avLst/>
          </a:prstGeom>
          <a:noFill/>
        </p:spPr>
        <p:txBody>
          <a:bodyPr wrap="square" lIns="0" tIns="0" rIns="0" bIns="0" anchor="ctr"/>
          <a:lstStyle/>
          <a:p>
            <a:pPr marL="0" indent="0" algn="ctr">
              <a:buNone/>
            </a:pPr>
            <a:r>
              <a:rPr sz="1550">
                <a:solidFill>
                  <a:srgbClr val="17B7D7"/>
                </a:solidFill>
              </a:rPr>
              <a:t>3</a:t>
            </a:r>
          </a:p>
        </p:txBody>
      </p:sp>
      <p:sp>
        <p:nvSpPr>
          <p:cNvPr id="28" name="Text 26">
            <a:extLst>
              <a:ext uri="{FF2B5EF4-FFF2-40B4-BE49-F238E27FC236}">
                <a16:creationId xmlns:a16="http://schemas.microsoft.com/office/drawing/2014/main" id="{39EAD97E-ACE2-4547-A6C7-EC305192AC81}"/>
              </a:ext>
            </a:extLst>
          </p:cNvPr>
          <p:cNvSpPr>
            <a:spLocks noGrp="1"/>
          </p:cNvSpPr>
          <p:nvPr/>
        </p:nvSpPr>
        <p:spPr>
          <a:xfrm>
            <a:off x="882396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Concurrencia</a:t>
            </a:r>
          </a:p>
        </p:txBody>
      </p:sp>
      <p:sp>
        <p:nvSpPr>
          <p:cNvPr id="29" name="Shape 27">
            <a:extLst>
              <a:ext uri="{FF2B5EF4-FFF2-40B4-BE49-F238E27FC236}">
                <a16:creationId xmlns:a16="http://schemas.microsoft.com/office/drawing/2014/main" id="{FCA73888-782F-4505-B3DD-DA63AA7D156F}"/>
              </a:ext>
            </a:extLst>
          </p:cNvPr>
          <p:cNvSpPr>
            <a:spLocks noGrp="1"/>
          </p:cNvSpPr>
          <p:nvPr/>
        </p:nvSpPr>
        <p:spPr>
          <a:xfrm>
            <a:off x="8823960" y="2313432"/>
            <a:ext cx="411480" cy="0"/>
          </a:xfrm>
          <a:prstGeom prst="line">
            <a:avLst/>
          </a:prstGeom>
          <a:noFill/>
          <a:ln w="22860">
            <a:solidFill>
              <a:srgbClr val="17B7D7"/>
            </a:solidFill>
            <a:prstDash val="solid"/>
          </a:ln>
        </p:spPr>
        <p:txBody>
          <a:bodyPr/>
          <a:lstStyle/>
          <a:p>
            <a:endParaRPr/>
          </a:p>
        </p:txBody>
      </p:sp>
      <p:sp>
        <p:nvSpPr>
          <p:cNvPr id="30" name="Text 28">
            <a:extLst>
              <a:ext uri="{FF2B5EF4-FFF2-40B4-BE49-F238E27FC236}">
                <a16:creationId xmlns:a16="http://schemas.microsoft.com/office/drawing/2014/main" id="{DD936180-33BC-4320-BA9F-81FA74FC0275}"/>
              </a:ext>
            </a:extLst>
          </p:cNvPr>
          <p:cNvSpPr>
            <a:spLocks noGrp="1"/>
          </p:cNvSpPr>
          <p:nvPr/>
        </p:nvSpPr>
        <p:spPr>
          <a:xfrm>
            <a:off x="833932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Cuántas ejecuciones compiten por recursos.</a:t>
            </a:r>
          </a:p>
        </p:txBody>
      </p:sp>
      <p:sp>
        <p:nvSpPr>
          <p:cNvPr id="31" name="Text 29">
            <a:extLst>
              <a:ext uri="{FF2B5EF4-FFF2-40B4-BE49-F238E27FC236}">
                <a16:creationId xmlns:a16="http://schemas.microsoft.com/office/drawing/2014/main" id="{5BD4C6CA-B995-4864-9406-0372256BA931}"/>
              </a:ext>
            </a:extLst>
          </p:cNvPr>
          <p:cNvSpPr>
            <a:spLocks noGrp="1"/>
          </p:cNvSpPr>
          <p:nvPr/>
        </p:nvSpPr>
        <p:spPr>
          <a:xfrm>
            <a:off x="914400" y="4800600"/>
            <a:ext cx="10332720" cy="411480"/>
          </a:xfrm>
          <a:prstGeom prst="rect">
            <a:avLst/>
          </a:prstGeom>
          <a:noFill/>
        </p:spPr>
        <p:txBody>
          <a:bodyPr wrap="square" anchor="ctr"/>
          <a:lstStyle/>
          <a:p>
            <a:pPr marL="0" indent="0" algn="ctr">
              <a:buNone/>
            </a:pPr>
            <a:r>
              <a:rPr sz="1800" b="1">
                <a:solidFill>
                  <a:srgbClr val="07245A"/>
                </a:solidFill>
              </a:rPr>
              <a:t>Priorizar combinando uso, impacto y condiciones pico.</a:t>
            </a:r>
          </a:p>
        </p:txBody>
      </p:sp>
      <p:sp>
        <p:nvSpPr>
          <p:cNvPr id="32" name="Shape 30">
            <a:extLst>
              <a:ext uri="{FF2B5EF4-FFF2-40B4-BE49-F238E27FC236}">
                <a16:creationId xmlns:a16="http://schemas.microsoft.com/office/drawing/2014/main" id="{48DEFDF8-4233-43D1-ABC6-22926B0A171A}"/>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33" name="Text 31">
            <a:extLst>
              <a:ext uri="{FF2B5EF4-FFF2-40B4-BE49-F238E27FC236}">
                <a16:creationId xmlns:a16="http://schemas.microsoft.com/office/drawing/2014/main" id="{B6AAE201-650E-4F2F-8FFF-27F1A0DEDA4A}"/>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Tree>
    <p:extLst>
      <p:ext uri="{BB962C8B-B14F-4D97-AF65-F5344CB8AC3E}">
        <p14:creationId xmlns:p14="http://schemas.microsoft.com/office/powerpoint/2010/main" val="9683784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05CF088-86D1-4237-A8B6-86340931FA7C}"/>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847F890F-7C13-4F2A-84C6-BDC693CD35C7}"/>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7BB5CAB5-B296-4B90-B816-7720A845B7AF}"/>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93315444-6A06-4975-AAB4-F93BEAD99811}"/>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2FCAFC4E-8771-4726-B3C7-8BB4CF1BA10D}"/>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924EE4AA-ADBB-4B97-B2B8-D00FB2CB1693}"/>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7658BA90-9699-4AD7-B234-9BA2DF0BB11E}"/>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7F04B3A0-9ED9-4019-A5D3-4CE94D0DEC95}"/>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10</a:t>
            </a:r>
          </a:p>
        </p:txBody>
      </p:sp>
      <p:sp>
        <p:nvSpPr>
          <p:cNvPr id="10" name="Text 8">
            <a:extLst>
              <a:ext uri="{FF2B5EF4-FFF2-40B4-BE49-F238E27FC236}">
                <a16:creationId xmlns:a16="http://schemas.microsoft.com/office/drawing/2014/main" id="{BDFECAF7-7624-4B06-8A6D-78057E0F3E84}"/>
              </a:ext>
            </a:extLst>
          </p:cNvPr>
          <p:cNvSpPr>
            <a:spLocks noGrp="1"/>
          </p:cNvSpPr>
          <p:nvPr/>
        </p:nvSpPr>
        <p:spPr>
          <a:xfrm>
            <a:off x="658368" y="868680"/>
            <a:ext cx="10698480" cy="411480"/>
          </a:xfrm>
          <a:prstGeom prst="rect">
            <a:avLst/>
          </a:prstGeom>
          <a:noFill/>
        </p:spPr>
        <p:txBody>
          <a:bodyPr wrap="square" lIns="0" tIns="0" rIns="0" bIns="0" anchor="ctr">
            <a:normAutofit fontScale="88235" lnSpcReduction="20000"/>
          </a:bodyPr>
          <a:lstStyle/>
          <a:p>
            <a:pPr marL="0" indent="0">
              <a:buNone/>
            </a:pPr>
            <a:r>
              <a:rPr sz="3400" b="1">
                <a:solidFill>
                  <a:srgbClr val="07245A"/>
                </a:solidFill>
                <a:latin typeface="Aptos Display"/>
                <a:ea typeface="Aptos Display"/>
                <a:cs typeface="Aptos Display"/>
              </a:rPr>
              <a:t>Lecturas y escrituras compiten</a:t>
            </a:r>
          </a:p>
        </p:txBody>
      </p:sp>
      <p:sp>
        <p:nvSpPr>
          <p:cNvPr id="11" name="Shape 9">
            <a:extLst>
              <a:ext uri="{FF2B5EF4-FFF2-40B4-BE49-F238E27FC236}">
                <a16:creationId xmlns:a16="http://schemas.microsoft.com/office/drawing/2014/main" id="{E235F766-8095-40E7-8FB7-7BAB365E9F39}"/>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DCA4F053-8464-4768-A38C-A17DBDE4DE3E}"/>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Toda mejora introduce un costo.</a:t>
            </a:r>
          </a:p>
        </p:txBody>
      </p:sp>
      <p:sp>
        <p:nvSpPr>
          <p:cNvPr id="13" name="Shape 11">
            <a:extLst>
              <a:ext uri="{FF2B5EF4-FFF2-40B4-BE49-F238E27FC236}">
                <a16:creationId xmlns:a16="http://schemas.microsoft.com/office/drawing/2014/main" id="{C63EEA6D-0E00-40F3-9341-1FF53F90E8CA}"/>
              </a:ext>
            </a:extLst>
          </p:cNvPr>
          <p:cNvSpPr>
            <a:spLocks noGrp="1"/>
          </p:cNvSpPr>
          <p:nvPr/>
        </p:nvSpPr>
        <p:spPr>
          <a:xfrm>
            <a:off x="91440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14" name="Shape 12">
            <a:extLst>
              <a:ext uri="{FF2B5EF4-FFF2-40B4-BE49-F238E27FC236}">
                <a16:creationId xmlns:a16="http://schemas.microsoft.com/office/drawing/2014/main" id="{27906FF5-28C3-4BCE-9230-D8D754E343A5}"/>
              </a:ext>
            </a:extLst>
          </p:cNvPr>
          <p:cNvSpPr>
            <a:spLocks noGrp="1"/>
          </p:cNvSpPr>
          <p:nvPr/>
        </p:nvSpPr>
        <p:spPr>
          <a:xfrm>
            <a:off x="1078992" y="1984248"/>
            <a:ext cx="438912" cy="438912"/>
          </a:xfrm>
          <a:prstGeom prst="ellipse">
            <a:avLst/>
          </a:prstGeom>
          <a:solidFill>
            <a:srgbClr val="EAF8FC"/>
          </a:solidFill>
          <a:ln w="10160">
            <a:solidFill>
              <a:srgbClr val="D5EEF7"/>
            </a:solidFill>
            <a:prstDash val="solid"/>
          </a:ln>
        </p:spPr>
        <p:txBody>
          <a:bodyPr/>
          <a:lstStyle/>
          <a:p>
            <a:endParaRPr/>
          </a:p>
        </p:txBody>
      </p:sp>
      <p:sp>
        <p:nvSpPr>
          <p:cNvPr id="15" name="Text 13">
            <a:extLst>
              <a:ext uri="{FF2B5EF4-FFF2-40B4-BE49-F238E27FC236}">
                <a16:creationId xmlns:a16="http://schemas.microsoft.com/office/drawing/2014/main" id="{8E110575-9924-4A24-8884-A28E9FB4DF15}"/>
              </a:ext>
            </a:extLst>
          </p:cNvPr>
          <p:cNvSpPr>
            <a:spLocks noGrp="1"/>
          </p:cNvSpPr>
          <p:nvPr/>
        </p:nvSpPr>
        <p:spPr>
          <a:xfrm>
            <a:off x="1078992" y="2043684"/>
            <a:ext cx="438912" cy="228600"/>
          </a:xfrm>
          <a:prstGeom prst="rect">
            <a:avLst/>
          </a:prstGeom>
          <a:noFill/>
        </p:spPr>
        <p:txBody>
          <a:bodyPr wrap="square" lIns="0" tIns="0" rIns="0" bIns="0" anchor="ctr"/>
          <a:lstStyle/>
          <a:p>
            <a:pPr marL="0" indent="0" algn="ctr">
              <a:buNone/>
            </a:pPr>
            <a:r>
              <a:rPr sz="1550">
                <a:solidFill>
                  <a:srgbClr val="17B7D7"/>
                </a:solidFill>
              </a:rPr>
              <a:t>1</a:t>
            </a:r>
          </a:p>
        </p:txBody>
      </p:sp>
      <p:sp>
        <p:nvSpPr>
          <p:cNvPr id="16" name="Text 14">
            <a:extLst>
              <a:ext uri="{FF2B5EF4-FFF2-40B4-BE49-F238E27FC236}">
                <a16:creationId xmlns:a16="http://schemas.microsoft.com/office/drawing/2014/main" id="{1F68C214-B521-4066-9D3A-42A47BEA2852}"/>
              </a:ext>
            </a:extLst>
          </p:cNvPr>
          <p:cNvSpPr>
            <a:spLocks noGrp="1"/>
          </p:cNvSpPr>
          <p:nvPr/>
        </p:nvSpPr>
        <p:spPr>
          <a:xfrm>
            <a:off x="160020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Lecturas</a:t>
            </a:r>
          </a:p>
        </p:txBody>
      </p:sp>
      <p:sp>
        <p:nvSpPr>
          <p:cNvPr id="17" name="Shape 15">
            <a:extLst>
              <a:ext uri="{FF2B5EF4-FFF2-40B4-BE49-F238E27FC236}">
                <a16:creationId xmlns:a16="http://schemas.microsoft.com/office/drawing/2014/main" id="{520B91C2-EF3C-4B81-A26F-17D73073C2AE}"/>
              </a:ext>
            </a:extLst>
          </p:cNvPr>
          <p:cNvSpPr>
            <a:spLocks noGrp="1"/>
          </p:cNvSpPr>
          <p:nvPr/>
        </p:nvSpPr>
        <p:spPr>
          <a:xfrm>
            <a:off x="1600200" y="2313432"/>
            <a:ext cx="411480" cy="0"/>
          </a:xfrm>
          <a:prstGeom prst="line">
            <a:avLst/>
          </a:prstGeom>
          <a:noFill/>
          <a:ln w="22860">
            <a:solidFill>
              <a:srgbClr val="17B7D7"/>
            </a:solidFill>
            <a:prstDash val="solid"/>
          </a:ln>
        </p:spPr>
        <p:txBody>
          <a:bodyPr/>
          <a:lstStyle/>
          <a:p>
            <a:endParaRPr/>
          </a:p>
        </p:txBody>
      </p:sp>
      <p:sp>
        <p:nvSpPr>
          <p:cNvPr id="18" name="Text 16">
            <a:extLst>
              <a:ext uri="{FF2B5EF4-FFF2-40B4-BE49-F238E27FC236}">
                <a16:creationId xmlns:a16="http://schemas.microsoft.com/office/drawing/2014/main" id="{B4396596-5CDA-4DBE-8878-C0F74DCD22B4}"/>
              </a:ext>
            </a:extLst>
          </p:cNvPr>
          <p:cNvSpPr>
            <a:spLocks noGrp="1"/>
          </p:cNvSpPr>
          <p:nvPr/>
        </p:nvSpPr>
        <p:spPr>
          <a:xfrm>
            <a:off x="111556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Índices pueden reducir páginas procesadas.</a:t>
            </a:r>
          </a:p>
        </p:txBody>
      </p:sp>
      <p:sp>
        <p:nvSpPr>
          <p:cNvPr id="19" name="Shape 17">
            <a:extLst>
              <a:ext uri="{FF2B5EF4-FFF2-40B4-BE49-F238E27FC236}">
                <a16:creationId xmlns:a16="http://schemas.microsoft.com/office/drawing/2014/main" id="{8147991A-6C9F-439E-B048-C7F909634508}"/>
              </a:ext>
            </a:extLst>
          </p:cNvPr>
          <p:cNvSpPr>
            <a:spLocks noGrp="1"/>
          </p:cNvSpPr>
          <p:nvPr/>
        </p:nvSpPr>
        <p:spPr>
          <a:xfrm>
            <a:off x="452628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0" name="Shape 18">
            <a:extLst>
              <a:ext uri="{FF2B5EF4-FFF2-40B4-BE49-F238E27FC236}">
                <a16:creationId xmlns:a16="http://schemas.microsoft.com/office/drawing/2014/main" id="{9EF733E9-A002-4C96-90E6-E896672B3CFD}"/>
              </a:ext>
            </a:extLst>
          </p:cNvPr>
          <p:cNvSpPr>
            <a:spLocks noGrp="1"/>
          </p:cNvSpPr>
          <p:nvPr/>
        </p:nvSpPr>
        <p:spPr>
          <a:xfrm>
            <a:off x="4690872" y="1984248"/>
            <a:ext cx="438912" cy="438912"/>
          </a:xfrm>
          <a:prstGeom prst="ellipse">
            <a:avLst/>
          </a:prstGeom>
          <a:solidFill>
            <a:srgbClr val="EAF8FC"/>
          </a:solidFill>
          <a:ln w="10160">
            <a:solidFill>
              <a:srgbClr val="D5EEF7"/>
            </a:solidFill>
            <a:prstDash val="solid"/>
          </a:ln>
        </p:spPr>
        <p:txBody>
          <a:bodyPr/>
          <a:lstStyle/>
          <a:p>
            <a:endParaRPr/>
          </a:p>
        </p:txBody>
      </p:sp>
      <p:sp>
        <p:nvSpPr>
          <p:cNvPr id="21" name="Text 19">
            <a:extLst>
              <a:ext uri="{FF2B5EF4-FFF2-40B4-BE49-F238E27FC236}">
                <a16:creationId xmlns:a16="http://schemas.microsoft.com/office/drawing/2014/main" id="{9D24A6A4-8B9E-4BFB-81F6-61A64001216C}"/>
              </a:ext>
            </a:extLst>
          </p:cNvPr>
          <p:cNvSpPr>
            <a:spLocks noGrp="1"/>
          </p:cNvSpPr>
          <p:nvPr/>
        </p:nvSpPr>
        <p:spPr>
          <a:xfrm>
            <a:off x="4690872" y="2043684"/>
            <a:ext cx="438912" cy="228600"/>
          </a:xfrm>
          <a:prstGeom prst="rect">
            <a:avLst/>
          </a:prstGeom>
          <a:noFill/>
        </p:spPr>
        <p:txBody>
          <a:bodyPr wrap="square" lIns="0" tIns="0" rIns="0" bIns="0" anchor="ctr"/>
          <a:lstStyle/>
          <a:p>
            <a:pPr marL="0" indent="0" algn="ctr">
              <a:buNone/>
            </a:pPr>
            <a:r>
              <a:rPr sz="1550">
                <a:solidFill>
                  <a:srgbClr val="17B7D7"/>
                </a:solidFill>
              </a:rPr>
              <a:t>2</a:t>
            </a:r>
          </a:p>
        </p:txBody>
      </p:sp>
      <p:sp>
        <p:nvSpPr>
          <p:cNvPr id="22" name="Text 20">
            <a:extLst>
              <a:ext uri="{FF2B5EF4-FFF2-40B4-BE49-F238E27FC236}">
                <a16:creationId xmlns:a16="http://schemas.microsoft.com/office/drawing/2014/main" id="{53B490FB-80F7-46A0-9B9C-886B1DD8EBF9}"/>
              </a:ext>
            </a:extLst>
          </p:cNvPr>
          <p:cNvSpPr>
            <a:spLocks noGrp="1"/>
          </p:cNvSpPr>
          <p:nvPr/>
        </p:nvSpPr>
        <p:spPr>
          <a:xfrm>
            <a:off x="521208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Escrituras</a:t>
            </a:r>
          </a:p>
        </p:txBody>
      </p:sp>
      <p:sp>
        <p:nvSpPr>
          <p:cNvPr id="23" name="Shape 21">
            <a:extLst>
              <a:ext uri="{FF2B5EF4-FFF2-40B4-BE49-F238E27FC236}">
                <a16:creationId xmlns:a16="http://schemas.microsoft.com/office/drawing/2014/main" id="{D3F3A3F9-DEBD-4625-95BC-DAAAB52868A2}"/>
              </a:ext>
            </a:extLst>
          </p:cNvPr>
          <p:cNvSpPr>
            <a:spLocks noGrp="1"/>
          </p:cNvSpPr>
          <p:nvPr/>
        </p:nvSpPr>
        <p:spPr>
          <a:xfrm>
            <a:off x="5212080" y="2313432"/>
            <a:ext cx="411480" cy="0"/>
          </a:xfrm>
          <a:prstGeom prst="line">
            <a:avLst/>
          </a:prstGeom>
          <a:noFill/>
          <a:ln w="22860">
            <a:solidFill>
              <a:srgbClr val="17B7D7"/>
            </a:solidFill>
            <a:prstDash val="solid"/>
          </a:ln>
        </p:spPr>
        <p:txBody>
          <a:bodyPr/>
          <a:lstStyle/>
          <a:p>
            <a:endParaRPr/>
          </a:p>
        </p:txBody>
      </p:sp>
      <p:sp>
        <p:nvSpPr>
          <p:cNvPr id="24" name="Text 22">
            <a:extLst>
              <a:ext uri="{FF2B5EF4-FFF2-40B4-BE49-F238E27FC236}">
                <a16:creationId xmlns:a16="http://schemas.microsoft.com/office/drawing/2014/main" id="{E9610762-B4D3-4DD8-9CCD-A0F730F6ECB5}"/>
              </a:ext>
            </a:extLst>
          </p:cNvPr>
          <p:cNvSpPr>
            <a:spLocks noGrp="1"/>
          </p:cNvSpPr>
          <p:nvPr/>
        </p:nvSpPr>
        <p:spPr>
          <a:xfrm>
            <a:off x="472744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INSERT, UPDATE y DELETE mantienen estructuras.</a:t>
            </a:r>
          </a:p>
        </p:txBody>
      </p:sp>
      <p:sp>
        <p:nvSpPr>
          <p:cNvPr id="25" name="Shape 23">
            <a:extLst>
              <a:ext uri="{FF2B5EF4-FFF2-40B4-BE49-F238E27FC236}">
                <a16:creationId xmlns:a16="http://schemas.microsoft.com/office/drawing/2014/main" id="{CCEF4718-176D-45F0-B2D4-BF2C7E320CBA}"/>
              </a:ext>
            </a:extLst>
          </p:cNvPr>
          <p:cNvSpPr>
            <a:spLocks noGrp="1"/>
          </p:cNvSpPr>
          <p:nvPr/>
        </p:nvSpPr>
        <p:spPr>
          <a:xfrm>
            <a:off x="813816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6" name="Shape 24">
            <a:extLst>
              <a:ext uri="{FF2B5EF4-FFF2-40B4-BE49-F238E27FC236}">
                <a16:creationId xmlns:a16="http://schemas.microsoft.com/office/drawing/2014/main" id="{8D44E5AE-8A67-4853-B244-F81052A007F4}"/>
              </a:ext>
            </a:extLst>
          </p:cNvPr>
          <p:cNvSpPr>
            <a:spLocks noGrp="1"/>
          </p:cNvSpPr>
          <p:nvPr/>
        </p:nvSpPr>
        <p:spPr>
          <a:xfrm>
            <a:off x="8302752" y="1984248"/>
            <a:ext cx="438912" cy="438912"/>
          </a:xfrm>
          <a:prstGeom prst="ellipse">
            <a:avLst/>
          </a:prstGeom>
          <a:solidFill>
            <a:srgbClr val="EAF8FC"/>
          </a:solidFill>
          <a:ln w="10160">
            <a:solidFill>
              <a:srgbClr val="D5EEF7"/>
            </a:solidFill>
            <a:prstDash val="solid"/>
          </a:ln>
        </p:spPr>
        <p:txBody>
          <a:bodyPr/>
          <a:lstStyle/>
          <a:p>
            <a:endParaRPr/>
          </a:p>
        </p:txBody>
      </p:sp>
      <p:sp>
        <p:nvSpPr>
          <p:cNvPr id="27" name="Text 25">
            <a:extLst>
              <a:ext uri="{FF2B5EF4-FFF2-40B4-BE49-F238E27FC236}">
                <a16:creationId xmlns:a16="http://schemas.microsoft.com/office/drawing/2014/main" id="{1E839E76-0723-4E97-92D6-AA1B56FF2E71}"/>
              </a:ext>
            </a:extLst>
          </p:cNvPr>
          <p:cNvSpPr>
            <a:spLocks noGrp="1"/>
          </p:cNvSpPr>
          <p:nvPr/>
        </p:nvSpPr>
        <p:spPr>
          <a:xfrm>
            <a:off x="8302752" y="2043684"/>
            <a:ext cx="438912" cy="228600"/>
          </a:xfrm>
          <a:prstGeom prst="rect">
            <a:avLst/>
          </a:prstGeom>
          <a:noFill/>
        </p:spPr>
        <p:txBody>
          <a:bodyPr wrap="square" lIns="0" tIns="0" rIns="0" bIns="0" anchor="ctr"/>
          <a:lstStyle/>
          <a:p>
            <a:pPr marL="0" indent="0" algn="ctr">
              <a:buNone/>
            </a:pPr>
            <a:r>
              <a:rPr sz="1550">
                <a:solidFill>
                  <a:srgbClr val="17B7D7"/>
                </a:solidFill>
              </a:rPr>
              <a:t>3</a:t>
            </a:r>
          </a:p>
        </p:txBody>
      </p:sp>
      <p:sp>
        <p:nvSpPr>
          <p:cNvPr id="28" name="Text 26">
            <a:extLst>
              <a:ext uri="{FF2B5EF4-FFF2-40B4-BE49-F238E27FC236}">
                <a16:creationId xmlns:a16="http://schemas.microsoft.com/office/drawing/2014/main" id="{39EAD97E-ACE2-4547-A6C7-EC305192AC81}"/>
              </a:ext>
            </a:extLst>
          </p:cNvPr>
          <p:cNvSpPr>
            <a:spLocks noGrp="1"/>
          </p:cNvSpPr>
          <p:nvPr/>
        </p:nvSpPr>
        <p:spPr>
          <a:xfrm>
            <a:off x="882396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Equilibrio</a:t>
            </a:r>
          </a:p>
        </p:txBody>
      </p:sp>
      <p:sp>
        <p:nvSpPr>
          <p:cNvPr id="29" name="Shape 27">
            <a:extLst>
              <a:ext uri="{FF2B5EF4-FFF2-40B4-BE49-F238E27FC236}">
                <a16:creationId xmlns:a16="http://schemas.microsoft.com/office/drawing/2014/main" id="{FCA73888-782F-4505-B3DD-DA63AA7D156F}"/>
              </a:ext>
            </a:extLst>
          </p:cNvPr>
          <p:cNvSpPr>
            <a:spLocks noGrp="1"/>
          </p:cNvSpPr>
          <p:nvPr/>
        </p:nvSpPr>
        <p:spPr>
          <a:xfrm>
            <a:off x="8823960" y="2313432"/>
            <a:ext cx="411480" cy="0"/>
          </a:xfrm>
          <a:prstGeom prst="line">
            <a:avLst/>
          </a:prstGeom>
          <a:noFill/>
          <a:ln w="22860">
            <a:solidFill>
              <a:srgbClr val="17B7D7"/>
            </a:solidFill>
            <a:prstDash val="solid"/>
          </a:ln>
        </p:spPr>
        <p:txBody>
          <a:bodyPr/>
          <a:lstStyle/>
          <a:p>
            <a:endParaRPr/>
          </a:p>
        </p:txBody>
      </p:sp>
      <p:sp>
        <p:nvSpPr>
          <p:cNvPr id="30" name="Text 28">
            <a:extLst>
              <a:ext uri="{FF2B5EF4-FFF2-40B4-BE49-F238E27FC236}">
                <a16:creationId xmlns:a16="http://schemas.microsoft.com/office/drawing/2014/main" id="{DD936180-33BC-4320-BA9F-81FA74FC0275}"/>
              </a:ext>
            </a:extLst>
          </p:cNvPr>
          <p:cNvSpPr>
            <a:spLocks noGrp="1"/>
          </p:cNvSpPr>
          <p:nvPr/>
        </p:nvSpPr>
        <p:spPr>
          <a:xfrm>
            <a:off x="833932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Evaluar el costo global de la carga.</a:t>
            </a:r>
          </a:p>
        </p:txBody>
      </p:sp>
      <p:sp>
        <p:nvSpPr>
          <p:cNvPr id="31" name="Text 29">
            <a:extLst>
              <a:ext uri="{FF2B5EF4-FFF2-40B4-BE49-F238E27FC236}">
                <a16:creationId xmlns:a16="http://schemas.microsoft.com/office/drawing/2014/main" id="{5BD4C6CA-B995-4864-9406-0372256BA931}"/>
              </a:ext>
            </a:extLst>
          </p:cNvPr>
          <p:cNvSpPr>
            <a:spLocks noGrp="1"/>
          </p:cNvSpPr>
          <p:nvPr/>
        </p:nvSpPr>
        <p:spPr>
          <a:xfrm>
            <a:off x="914400" y="4800600"/>
            <a:ext cx="10332720" cy="411480"/>
          </a:xfrm>
          <a:prstGeom prst="rect">
            <a:avLst/>
          </a:prstGeom>
          <a:noFill/>
        </p:spPr>
        <p:txBody>
          <a:bodyPr wrap="square" anchor="ctr"/>
          <a:lstStyle/>
          <a:p>
            <a:pPr marL="0" indent="0" algn="ctr">
              <a:buNone/>
            </a:pPr>
            <a:r>
              <a:rPr sz="1800" b="1">
                <a:solidFill>
                  <a:srgbClr val="07245A"/>
                </a:solidFill>
              </a:rPr>
              <a:t>Optimizar una consulta aislada puede degradar el sistema completo.</a:t>
            </a:r>
          </a:p>
        </p:txBody>
      </p:sp>
      <p:sp>
        <p:nvSpPr>
          <p:cNvPr id="32" name="Shape 30">
            <a:extLst>
              <a:ext uri="{FF2B5EF4-FFF2-40B4-BE49-F238E27FC236}">
                <a16:creationId xmlns:a16="http://schemas.microsoft.com/office/drawing/2014/main" id="{48DEFDF8-4233-43D1-ABC6-22926B0A171A}"/>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33" name="Text 31">
            <a:extLst>
              <a:ext uri="{FF2B5EF4-FFF2-40B4-BE49-F238E27FC236}">
                <a16:creationId xmlns:a16="http://schemas.microsoft.com/office/drawing/2014/main" id="{B6AAE201-650E-4F2F-8FFF-27F1A0DEDA4A}"/>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Tree>
    <p:extLst>
      <p:ext uri="{BB962C8B-B14F-4D97-AF65-F5344CB8AC3E}">
        <p14:creationId xmlns:p14="http://schemas.microsoft.com/office/powerpoint/2010/main" val="9683784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05CF088-86D1-4237-A8B6-86340931FA7C}"/>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847F890F-7C13-4F2A-84C6-BDC693CD35C7}"/>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7BB5CAB5-B296-4B90-B816-7720A845B7AF}"/>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93315444-6A06-4975-AAB4-F93BEAD99811}"/>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2FCAFC4E-8771-4726-B3C7-8BB4CF1BA10D}"/>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924EE4AA-ADBB-4B97-B2B8-D00FB2CB1693}"/>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7658BA90-9699-4AD7-B234-9BA2DF0BB11E}"/>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7F04B3A0-9ED9-4019-A5D3-4CE94D0DEC95}"/>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11</a:t>
            </a:r>
          </a:p>
        </p:txBody>
      </p:sp>
      <p:sp>
        <p:nvSpPr>
          <p:cNvPr id="10" name="Text 8">
            <a:extLst>
              <a:ext uri="{FF2B5EF4-FFF2-40B4-BE49-F238E27FC236}">
                <a16:creationId xmlns:a16="http://schemas.microsoft.com/office/drawing/2014/main" id="{BDFECAF7-7624-4B06-8A6D-78057E0F3E84}"/>
              </a:ext>
            </a:extLst>
          </p:cNvPr>
          <p:cNvSpPr>
            <a:spLocks noGrp="1"/>
          </p:cNvSpPr>
          <p:nvPr/>
        </p:nvSpPr>
        <p:spPr>
          <a:xfrm>
            <a:off x="658368" y="868680"/>
            <a:ext cx="10698480" cy="411480"/>
          </a:xfrm>
          <a:prstGeom prst="rect">
            <a:avLst/>
          </a:prstGeom>
          <a:noFill/>
        </p:spPr>
        <p:txBody>
          <a:bodyPr wrap="square" lIns="0" tIns="0" rIns="0" bIns="0" anchor="ctr">
            <a:normAutofit fontScale="88235" lnSpcReduction="20000"/>
          </a:bodyPr>
          <a:lstStyle/>
          <a:p>
            <a:pPr marL="0" indent="0">
              <a:buNone/>
            </a:pPr>
            <a:r>
              <a:rPr sz="3400" b="1">
                <a:solidFill>
                  <a:srgbClr val="07245A"/>
                </a:solidFill>
                <a:latin typeface="Aptos Display"/>
                <a:ea typeface="Aptos Display"/>
                <a:cs typeface="Aptos Display"/>
              </a:rPr>
              <a:t>Matriz de carga de trabajo</a:t>
            </a:r>
          </a:p>
        </p:txBody>
      </p:sp>
      <p:sp>
        <p:nvSpPr>
          <p:cNvPr id="11" name="Shape 9">
            <a:extLst>
              <a:ext uri="{FF2B5EF4-FFF2-40B4-BE49-F238E27FC236}">
                <a16:creationId xmlns:a16="http://schemas.microsoft.com/office/drawing/2014/main" id="{E235F766-8095-40E7-8FB7-7BAB365E9F39}"/>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DCA4F053-8464-4768-A38C-A17DBDE4DE3E}"/>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La decisión necesita información mínima.</a:t>
            </a:r>
          </a:p>
        </p:txBody>
      </p:sp>
      <p:sp>
        <p:nvSpPr>
          <p:cNvPr id="13" name="Shape 11">
            <a:extLst>
              <a:ext uri="{FF2B5EF4-FFF2-40B4-BE49-F238E27FC236}">
                <a16:creationId xmlns:a16="http://schemas.microsoft.com/office/drawing/2014/main" id="{C63EEA6D-0E00-40F3-9341-1FF53F90E8CA}"/>
              </a:ext>
            </a:extLst>
          </p:cNvPr>
          <p:cNvSpPr>
            <a:spLocks noGrp="1"/>
          </p:cNvSpPr>
          <p:nvPr/>
        </p:nvSpPr>
        <p:spPr>
          <a:xfrm>
            <a:off x="91440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14" name="Shape 12">
            <a:extLst>
              <a:ext uri="{FF2B5EF4-FFF2-40B4-BE49-F238E27FC236}">
                <a16:creationId xmlns:a16="http://schemas.microsoft.com/office/drawing/2014/main" id="{27906FF5-28C3-4BCE-9230-D8D754E343A5}"/>
              </a:ext>
            </a:extLst>
          </p:cNvPr>
          <p:cNvSpPr>
            <a:spLocks noGrp="1"/>
          </p:cNvSpPr>
          <p:nvPr/>
        </p:nvSpPr>
        <p:spPr>
          <a:xfrm>
            <a:off x="1078992" y="1984248"/>
            <a:ext cx="438912" cy="438912"/>
          </a:xfrm>
          <a:prstGeom prst="ellipse">
            <a:avLst/>
          </a:prstGeom>
          <a:solidFill>
            <a:srgbClr val="EAF8FC"/>
          </a:solidFill>
          <a:ln w="10160">
            <a:solidFill>
              <a:srgbClr val="D5EEF7"/>
            </a:solidFill>
            <a:prstDash val="solid"/>
          </a:ln>
        </p:spPr>
        <p:txBody>
          <a:bodyPr/>
          <a:lstStyle/>
          <a:p>
            <a:endParaRPr/>
          </a:p>
        </p:txBody>
      </p:sp>
      <p:sp>
        <p:nvSpPr>
          <p:cNvPr id="15" name="Text 13">
            <a:extLst>
              <a:ext uri="{FF2B5EF4-FFF2-40B4-BE49-F238E27FC236}">
                <a16:creationId xmlns:a16="http://schemas.microsoft.com/office/drawing/2014/main" id="{8E110575-9924-4A24-8884-A28E9FB4DF15}"/>
              </a:ext>
            </a:extLst>
          </p:cNvPr>
          <p:cNvSpPr>
            <a:spLocks noGrp="1"/>
          </p:cNvSpPr>
          <p:nvPr/>
        </p:nvSpPr>
        <p:spPr>
          <a:xfrm>
            <a:off x="1078992" y="2043684"/>
            <a:ext cx="438912" cy="228600"/>
          </a:xfrm>
          <a:prstGeom prst="rect">
            <a:avLst/>
          </a:prstGeom>
          <a:noFill/>
        </p:spPr>
        <p:txBody>
          <a:bodyPr wrap="square" lIns="0" tIns="0" rIns="0" bIns="0" anchor="ctr"/>
          <a:lstStyle/>
          <a:p>
            <a:pPr marL="0" indent="0" algn="ctr">
              <a:buNone/>
            </a:pPr>
            <a:r>
              <a:rPr sz="1550">
                <a:solidFill>
                  <a:srgbClr val="17B7D7"/>
                </a:solidFill>
              </a:rPr>
              <a:t>1</a:t>
            </a:r>
          </a:p>
        </p:txBody>
      </p:sp>
      <p:sp>
        <p:nvSpPr>
          <p:cNvPr id="16" name="Text 14">
            <a:extLst>
              <a:ext uri="{FF2B5EF4-FFF2-40B4-BE49-F238E27FC236}">
                <a16:creationId xmlns:a16="http://schemas.microsoft.com/office/drawing/2014/main" id="{1F68C214-B521-4066-9D3A-42A47BEA2852}"/>
              </a:ext>
            </a:extLst>
          </p:cNvPr>
          <p:cNvSpPr>
            <a:spLocks noGrp="1"/>
          </p:cNvSpPr>
          <p:nvPr/>
        </p:nvSpPr>
        <p:spPr>
          <a:xfrm>
            <a:off x="160020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Operación</a:t>
            </a:r>
          </a:p>
        </p:txBody>
      </p:sp>
      <p:sp>
        <p:nvSpPr>
          <p:cNvPr id="17" name="Shape 15">
            <a:extLst>
              <a:ext uri="{FF2B5EF4-FFF2-40B4-BE49-F238E27FC236}">
                <a16:creationId xmlns:a16="http://schemas.microsoft.com/office/drawing/2014/main" id="{520B91C2-EF3C-4B81-A26F-17D73073C2AE}"/>
              </a:ext>
            </a:extLst>
          </p:cNvPr>
          <p:cNvSpPr>
            <a:spLocks noGrp="1"/>
          </p:cNvSpPr>
          <p:nvPr/>
        </p:nvSpPr>
        <p:spPr>
          <a:xfrm>
            <a:off x="1600200" y="2313432"/>
            <a:ext cx="411480" cy="0"/>
          </a:xfrm>
          <a:prstGeom prst="line">
            <a:avLst/>
          </a:prstGeom>
          <a:noFill/>
          <a:ln w="22860">
            <a:solidFill>
              <a:srgbClr val="17B7D7"/>
            </a:solidFill>
            <a:prstDash val="solid"/>
          </a:ln>
        </p:spPr>
        <p:txBody>
          <a:bodyPr/>
          <a:lstStyle/>
          <a:p>
            <a:endParaRPr/>
          </a:p>
        </p:txBody>
      </p:sp>
      <p:sp>
        <p:nvSpPr>
          <p:cNvPr id="18" name="Text 16">
            <a:extLst>
              <a:ext uri="{FF2B5EF4-FFF2-40B4-BE49-F238E27FC236}">
                <a16:creationId xmlns:a16="http://schemas.microsoft.com/office/drawing/2014/main" id="{B4396596-5CDA-4DBE-8878-C0F74DCD22B4}"/>
              </a:ext>
            </a:extLst>
          </p:cNvPr>
          <p:cNvSpPr>
            <a:spLocks noGrp="1"/>
          </p:cNvSpPr>
          <p:nvPr/>
        </p:nvSpPr>
        <p:spPr>
          <a:xfrm>
            <a:off x="111556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SQL o transacción relevante.</a:t>
            </a:r>
          </a:p>
        </p:txBody>
      </p:sp>
      <p:sp>
        <p:nvSpPr>
          <p:cNvPr id="19" name="Shape 17">
            <a:extLst>
              <a:ext uri="{FF2B5EF4-FFF2-40B4-BE49-F238E27FC236}">
                <a16:creationId xmlns:a16="http://schemas.microsoft.com/office/drawing/2014/main" id="{8147991A-6C9F-439E-B048-C7F909634508}"/>
              </a:ext>
            </a:extLst>
          </p:cNvPr>
          <p:cNvSpPr>
            <a:spLocks noGrp="1"/>
          </p:cNvSpPr>
          <p:nvPr/>
        </p:nvSpPr>
        <p:spPr>
          <a:xfrm>
            <a:off x="452628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0" name="Shape 18">
            <a:extLst>
              <a:ext uri="{FF2B5EF4-FFF2-40B4-BE49-F238E27FC236}">
                <a16:creationId xmlns:a16="http://schemas.microsoft.com/office/drawing/2014/main" id="{9EF733E9-A002-4C96-90E6-E896672B3CFD}"/>
              </a:ext>
            </a:extLst>
          </p:cNvPr>
          <p:cNvSpPr>
            <a:spLocks noGrp="1"/>
          </p:cNvSpPr>
          <p:nvPr/>
        </p:nvSpPr>
        <p:spPr>
          <a:xfrm>
            <a:off x="4690872" y="1984248"/>
            <a:ext cx="438912" cy="438912"/>
          </a:xfrm>
          <a:prstGeom prst="ellipse">
            <a:avLst/>
          </a:prstGeom>
          <a:solidFill>
            <a:srgbClr val="EAF8FC"/>
          </a:solidFill>
          <a:ln w="10160">
            <a:solidFill>
              <a:srgbClr val="D5EEF7"/>
            </a:solidFill>
            <a:prstDash val="solid"/>
          </a:ln>
        </p:spPr>
        <p:txBody>
          <a:bodyPr/>
          <a:lstStyle/>
          <a:p>
            <a:endParaRPr/>
          </a:p>
        </p:txBody>
      </p:sp>
      <p:sp>
        <p:nvSpPr>
          <p:cNvPr id="21" name="Text 19">
            <a:extLst>
              <a:ext uri="{FF2B5EF4-FFF2-40B4-BE49-F238E27FC236}">
                <a16:creationId xmlns:a16="http://schemas.microsoft.com/office/drawing/2014/main" id="{9D24A6A4-8B9E-4BFB-81F6-61A64001216C}"/>
              </a:ext>
            </a:extLst>
          </p:cNvPr>
          <p:cNvSpPr>
            <a:spLocks noGrp="1"/>
          </p:cNvSpPr>
          <p:nvPr/>
        </p:nvSpPr>
        <p:spPr>
          <a:xfrm>
            <a:off x="4690872" y="2043684"/>
            <a:ext cx="438912" cy="228600"/>
          </a:xfrm>
          <a:prstGeom prst="rect">
            <a:avLst/>
          </a:prstGeom>
          <a:noFill/>
        </p:spPr>
        <p:txBody>
          <a:bodyPr wrap="square" lIns="0" tIns="0" rIns="0" bIns="0" anchor="ctr"/>
          <a:lstStyle/>
          <a:p>
            <a:pPr marL="0" indent="0" algn="ctr">
              <a:buNone/>
            </a:pPr>
            <a:r>
              <a:rPr sz="1550">
                <a:solidFill>
                  <a:srgbClr val="17B7D7"/>
                </a:solidFill>
              </a:rPr>
              <a:t>2</a:t>
            </a:r>
          </a:p>
        </p:txBody>
      </p:sp>
      <p:sp>
        <p:nvSpPr>
          <p:cNvPr id="22" name="Text 20">
            <a:extLst>
              <a:ext uri="{FF2B5EF4-FFF2-40B4-BE49-F238E27FC236}">
                <a16:creationId xmlns:a16="http://schemas.microsoft.com/office/drawing/2014/main" id="{53B490FB-80F7-46A0-9B9C-886B1DD8EBF9}"/>
              </a:ext>
            </a:extLst>
          </p:cNvPr>
          <p:cNvSpPr>
            <a:spLocks noGrp="1"/>
          </p:cNvSpPr>
          <p:nvPr/>
        </p:nvSpPr>
        <p:spPr>
          <a:xfrm>
            <a:off x="521208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Acceso</a:t>
            </a:r>
          </a:p>
        </p:txBody>
      </p:sp>
      <p:sp>
        <p:nvSpPr>
          <p:cNvPr id="23" name="Shape 21">
            <a:extLst>
              <a:ext uri="{FF2B5EF4-FFF2-40B4-BE49-F238E27FC236}">
                <a16:creationId xmlns:a16="http://schemas.microsoft.com/office/drawing/2014/main" id="{D3F3A3F9-DEBD-4625-95BC-DAAAB52868A2}"/>
              </a:ext>
            </a:extLst>
          </p:cNvPr>
          <p:cNvSpPr>
            <a:spLocks noGrp="1"/>
          </p:cNvSpPr>
          <p:nvPr/>
        </p:nvSpPr>
        <p:spPr>
          <a:xfrm>
            <a:off x="5212080" y="2313432"/>
            <a:ext cx="411480" cy="0"/>
          </a:xfrm>
          <a:prstGeom prst="line">
            <a:avLst/>
          </a:prstGeom>
          <a:noFill/>
          <a:ln w="22860">
            <a:solidFill>
              <a:srgbClr val="17B7D7"/>
            </a:solidFill>
            <a:prstDash val="solid"/>
          </a:ln>
        </p:spPr>
        <p:txBody>
          <a:bodyPr/>
          <a:lstStyle/>
          <a:p>
            <a:endParaRPr/>
          </a:p>
        </p:txBody>
      </p:sp>
      <p:sp>
        <p:nvSpPr>
          <p:cNvPr id="24" name="Text 22">
            <a:extLst>
              <a:ext uri="{FF2B5EF4-FFF2-40B4-BE49-F238E27FC236}">
                <a16:creationId xmlns:a16="http://schemas.microsoft.com/office/drawing/2014/main" id="{E9610762-B4D3-4DD8-9CCD-A0F730F6ECB5}"/>
              </a:ext>
            </a:extLst>
          </p:cNvPr>
          <p:cNvSpPr>
            <a:spLocks noGrp="1"/>
          </p:cNvSpPr>
          <p:nvPr/>
        </p:nvSpPr>
        <p:spPr>
          <a:xfrm>
            <a:off x="472744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Tablas, columnas, filtros, joins y orden.</a:t>
            </a:r>
          </a:p>
        </p:txBody>
      </p:sp>
      <p:sp>
        <p:nvSpPr>
          <p:cNvPr id="25" name="Shape 23">
            <a:extLst>
              <a:ext uri="{FF2B5EF4-FFF2-40B4-BE49-F238E27FC236}">
                <a16:creationId xmlns:a16="http://schemas.microsoft.com/office/drawing/2014/main" id="{CCEF4718-176D-45F0-B2D4-BF2C7E320CBA}"/>
              </a:ext>
            </a:extLst>
          </p:cNvPr>
          <p:cNvSpPr>
            <a:spLocks noGrp="1"/>
          </p:cNvSpPr>
          <p:nvPr/>
        </p:nvSpPr>
        <p:spPr>
          <a:xfrm>
            <a:off x="813816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6" name="Shape 24">
            <a:extLst>
              <a:ext uri="{FF2B5EF4-FFF2-40B4-BE49-F238E27FC236}">
                <a16:creationId xmlns:a16="http://schemas.microsoft.com/office/drawing/2014/main" id="{8D44E5AE-8A67-4853-B244-F81052A007F4}"/>
              </a:ext>
            </a:extLst>
          </p:cNvPr>
          <p:cNvSpPr>
            <a:spLocks noGrp="1"/>
          </p:cNvSpPr>
          <p:nvPr/>
        </p:nvSpPr>
        <p:spPr>
          <a:xfrm>
            <a:off x="8302752" y="1984248"/>
            <a:ext cx="438912" cy="438912"/>
          </a:xfrm>
          <a:prstGeom prst="ellipse">
            <a:avLst/>
          </a:prstGeom>
          <a:solidFill>
            <a:srgbClr val="EAF8FC"/>
          </a:solidFill>
          <a:ln w="10160">
            <a:solidFill>
              <a:srgbClr val="D5EEF7"/>
            </a:solidFill>
            <a:prstDash val="solid"/>
          </a:ln>
        </p:spPr>
        <p:txBody>
          <a:bodyPr/>
          <a:lstStyle/>
          <a:p>
            <a:endParaRPr/>
          </a:p>
        </p:txBody>
      </p:sp>
      <p:sp>
        <p:nvSpPr>
          <p:cNvPr id="27" name="Text 25">
            <a:extLst>
              <a:ext uri="{FF2B5EF4-FFF2-40B4-BE49-F238E27FC236}">
                <a16:creationId xmlns:a16="http://schemas.microsoft.com/office/drawing/2014/main" id="{1E839E76-0723-4E97-92D6-AA1B56FF2E71}"/>
              </a:ext>
            </a:extLst>
          </p:cNvPr>
          <p:cNvSpPr>
            <a:spLocks noGrp="1"/>
          </p:cNvSpPr>
          <p:nvPr/>
        </p:nvSpPr>
        <p:spPr>
          <a:xfrm>
            <a:off x="8302752" y="2043684"/>
            <a:ext cx="438912" cy="228600"/>
          </a:xfrm>
          <a:prstGeom prst="rect">
            <a:avLst/>
          </a:prstGeom>
          <a:noFill/>
        </p:spPr>
        <p:txBody>
          <a:bodyPr wrap="square" lIns="0" tIns="0" rIns="0" bIns="0" anchor="ctr"/>
          <a:lstStyle/>
          <a:p>
            <a:pPr marL="0" indent="0" algn="ctr">
              <a:buNone/>
            </a:pPr>
            <a:r>
              <a:rPr sz="1550">
                <a:solidFill>
                  <a:srgbClr val="17B7D7"/>
                </a:solidFill>
              </a:rPr>
              <a:t>3</a:t>
            </a:r>
          </a:p>
        </p:txBody>
      </p:sp>
      <p:sp>
        <p:nvSpPr>
          <p:cNvPr id="28" name="Text 26">
            <a:extLst>
              <a:ext uri="{FF2B5EF4-FFF2-40B4-BE49-F238E27FC236}">
                <a16:creationId xmlns:a16="http://schemas.microsoft.com/office/drawing/2014/main" id="{39EAD97E-ACE2-4547-A6C7-EC305192AC81}"/>
              </a:ext>
            </a:extLst>
          </p:cNvPr>
          <p:cNvSpPr>
            <a:spLocks noGrp="1"/>
          </p:cNvSpPr>
          <p:nvPr/>
        </p:nvSpPr>
        <p:spPr>
          <a:xfrm>
            <a:off x="882396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Servicio</a:t>
            </a:r>
          </a:p>
        </p:txBody>
      </p:sp>
      <p:sp>
        <p:nvSpPr>
          <p:cNvPr id="29" name="Shape 27">
            <a:extLst>
              <a:ext uri="{FF2B5EF4-FFF2-40B4-BE49-F238E27FC236}">
                <a16:creationId xmlns:a16="http://schemas.microsoft.com/office/drawing/2014/main" id="{FCA73888-782F-4505-B3DD-DA63AA7D156F}"/>
              </a:ext>
            </a:extLst>
          </p:cNvPr>
          <p:cNvSpPr>
            <a:spLocks noGrp="1"/>
          </p:cNvSpPr>
          <p:nvPr/>
        </p:nvSpPr>
        <p:spPr>
          <a:xfrm>
            <a:off x="8823960" y="2313432"/>
            <a:ext cx="411480" cy="0"/>
          </a:xfrm>
          <a:prstGeom prst="line">
            <a:avLst/>
          </a:prstGeom>
          <a:noFill/>
          <a:ln w="22860">
            <a:solidFill>
              <a:srgbClr val="17B7D7"/>
            </a:solidFill>
            <a:prstDash val="solid"/>
          </a:ln>
        </p:spPr>
        <p:txBody>
          <a:bodyPr/>
          <a:lstStyle/>
          <a:p>
            <a:endParaRPr/>
          </a:p>
        </p:txBody>
      </p:sp>
      <p:sp>
        <p:nvSpPr>
          <p:cNvPr id="30" name="Text 28">
            <a:extLst>
              <a:ext uri="{FF2B5EF4-FFF2-40B4-BE49-F238E27FC236}">
                <a16:creationId xmlns:a16="http://schemas.microsoft.com/office/drawing/2014/main" id="{DD936180-33BC-4320-BA9F-81FA74FC0275}"/>
              </a:ext>
            </a:extLst>
          </p:cNvPr>
          <p:cNvSpPr>
            <a:spLocks noGrp="1"/>
          </p:cNvSpPr>
          <p:nvPr/>
        </p:nvSpPr>
        <p:spPr>
          <a:xfrm>
            <a:off x="833932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Frecuencia, filas esperadas y tiempo objetivo.</a:t>
            </a:r>
          </a:p>
        </p:txBody>
      </p:sp>
      <p:sp>
        <p:nvSpPr>
          <p:cNvPr id="31" name="Text 29">
            <a:extLst>
              <a:ext uri="{FF2B5EF4-FFF2-40B4-BE49-F238E27FC236}">
                <a16:creationId xmlns:a16="http://schemas.microsoft.com/office/drawing/2014/main" id="{5BD4C6CA-B995-4864-9406-0372256BA931}"/>
              </a:ext>
            </a:extLst>
          </p:cNvPr>
          <p:cNvSpPr>
            <a:spLocks noGrp="1"/>
          </p:cNvSpPr>
          <p:nvPr/>
        </p:nvSpPr>
        <p:spPr>
          <a:xfrm>
            <a:off x="914400" y="4800600"/>
            <a:ext cx="10332720" cy="411480"/>
          </a:xfrm>
          <a:prstGeom prst="rect">
            <a:avLst/>
          </a:prstGeom>
          <a:noFill/>
        </p:spPr>
        <p:txBody>
          <a:bodyPr wrap="square" anchor="ctr"/>
          <a:lstStyle/>
          <a:p>
            <a:pPr marL="0" indent="0" algn="ctr">
              <a:buNone/>
            </a:pPr>
            <a:r>
              <a:rPr sz="1800" b="1">
                <a:solidFill>
                  <a:srgbClr val="07245A"/>
                </a:solidFill>
              </a:rPr>
              <a:t>La matriz convierte percepciones en requisitos analizables.</a:t>
            </a:r>
          </a:p>
        </p:txBody>
      </p:sp>
      <p:sp>
        <p:nvSpPr>
          <p:cNvPr id="32" name="Shape 30">
            <a:extLst>
              <a:ext uri="{FF2B5EF4-FFF2-40B4-BE49-F238E27FC236}">
                <a16:creationId xmlns:a16="http://schemas.microsoft.com/office/drawing/2014/main" id="{48DEFDF8-4233-43D1-ABC6-22926B0A171A}"/>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33" name="Text 31">
            <a:extLst>
              <a:ext uri="{FF2B5EF4-FFF2-40B4-BE49-F238E27FC236}">
                <a16:creationId xmlns:a16="http://schemas.microsoft.com/office/drawing/2014/main" id="{B6AAE201-650E-4F2F-8FFF-27F1A0DEDA4A}"/>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Tree>
    <p:extLst>
      <p:ext uri="{BB962C8B-B14F-4D97-AF65-F5344CB8AC3E}">
        <p14:creationId xmlns:p14="http://schemas.microsoft.com/office/powerpoint/2010/main" val="9683784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05CF088-86D1-4237-A8B6-86340931FA7C}"/>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847F890F-7C13-4F2A-84C6-BDC693CD35C7}"/>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7BB5CAB5-B296-4B90-B816-7720A845B7AF}"/>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93315444-6A06-4975-AAB4-F93BEAD99811}"/>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2FCAFC4E-8771-4726-B3C7-8BB4CF1BA10D}"/>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924EE4AA-ADBB-4B97-B2B8-D00FB2CB1693}"/>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7658BA90-9699-4AD7-B234-9BA2DF0BB11E}"/>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7F04B3A0-9ED9-4019-A5D3-4CE94D0DEC95}"/>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12</a:t>
            </a:r>
          </a:p>
        </p:txBody>
      </p:sp>
      <p:sp>
        <p:nvSpPr>
          <p:cNvPr id="10" name="Text 8">
            <a:extLst>
              <a:ext uri="{FF2B5EF4-FFF2-40B4-BE49-F238E27FC236}">
                <a16:creationId xmlns:a16="http://schemas.microsoft.com/office/drawing/2014/main" id="{BDFECAF7-7624-4B06-8A6D-78057E0F3E84}"/>
              </a:ext>
            </a:extLst>
          </p:cNvPr>
          <p:cNvSpPr>
            <a:spLocks noGrp="1"/>
          </p:cNvSpPr>
          <p:nvPr/>
        </p:nvSpPr>
        <p:spPr>
          <a:xfrm>
            <a:off x="658368" y="868680"/>
            <a:ext cx="10698480" cy="411480"/>
          </a:xfrm>
          <a:prstGeom prst="rect">
            <a:avLst/>
          </a:prstGeom>
          <a:noFill/>
        </p:spPr>
        <p:txBody>
          <a:bodyPr wrap="square" lIns="0" tIns="0" rIns="0" bIns="0" anchor="ctr">
            <a:normAutofit fontScale="88235" lnSpcReduction="20000"/>
          </a:bodyPr>
          <a:lstStyle/>
          <a:p>
            <a:pPr marL="0" indent="0">
              <a:buNone/>
            </a:pPr>
            <a:r>
              <a:rPr sz="3400" b="1">
                <a:solidFill>
                  <a:srgbClr val="07245A"/>
                </a:solidFill>
                <a:latin typeface="Aptos Display"/>
                <a:ea typeface="Aptos Display"/>
                <a:cs typeface="Aptos Display"/>
              </a:rPr>
              <a:t>Los datos se leen en páginas</a:t>
            </a:r>
          </a:p>
        </p:txBody>
      </p:sp>
      <p:sp>
        <p:nvSpPr>
          <p:cNvPr id="11" name="Shape 9">
            <a:extLst>
              <a:ext uri="{FF2B5EF4-FFF2-40B4-BE49-F238E27FC236}">
                <a16:creationId xmlns:a16="http://schemas.microsoft.com/office/drawing/2014/main" id="{E235F766-8095-40E7-8FB7-7BAB365E9F39}"/>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DCA4F053-8464-4768-A38C-A17DBDE4DE3E}"/>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dirty="0">
                <a:solidFill>
                  <a:srgbClr val="34495E"/>
                </a:solidFill>
              </a:rPr>
              <a:t>El motor </a:t>
            </a:r>
            <a:r>
              <a:rPr sz="1550" dirty="0" err="1">
                <a:solidFill>
                  <a:srgbClr val="34495E"/>
                </a:solidFill>
              </a:rPr>
              <a:t>mueve</a:t>
            </a:r>
            <a:r>
              <a:rPr sz="1550" dirty="0">
                <a:solidFill>
                  <a:srgbClr val="34495E"/>
                </a:solidFill>
              </a:rPr>
              <a:t> </a:t>
            </a:r>
            <a:r>
              <a:rPr sz="1550" dirty="0" err="1">
                <a:solidFill>
                  <a:srgbClr val="34495E"/>
                </a:solidFill>
              </a:rPr>
              <a:t>unidades</a:t>
            </a:r>
            <a:r>
              <a:rPr sz="1550" dirty="0">
                <a:solidFill>
                  <a:srgbClr val="34495E"/>
                </a:solidFill>
              </a:rPr>
              <a:t> </a:t>
            </a:r>
            <a:r>
              <a:rPr sz="1550" dirty="0" err="1">
                <a:solidFill>
                  <a:srgbClr val="34495E"/>
                </a:solidFill>
              </a:rPr>
              <a:t>físicas</a:t>
            </a:r>
            <a:r>
              <a:rPr sz="1550" dirty="0">
                <a:solidFill>
                  <a:srgbClr val="34495E"/>
                </a:solidFill>
              </a:rPr>
              <a:t>, no </a:t>
            </a:r>
            <a:r>
              <a:rPr sz="1550" dirty="0" err="1">
                <a:solidFill>
                  <a:srgbClr val="34495E"/>
                </a:solidFill>
              </a:rPr>
              <a:t>filas</a:t>
            </a:r>
            <a:r>
              <a:rPr sz="1550" dirty="0">
                <a:solidFill>
                  <a:srgbClr val="34495E"/>
                </a:solidFill>
              </a:rPr>
              <a:t> </a:t>
            </a:r>
            <a:r>
              <a:rPr sz="1550" dirty="0" err="1">
                <a:solidFill>
                  <a:srgbClr val="34495E"/>
                </a:solidFill>
              </a:rPr>
              <a:t>aisladas</a:t>
            </a:r>
            <a:r>
              <a:rPr sz="1550" dirty="0">
                <a:solidFill>
                  <a:srgbClr val="34495E"/>
                </a:solidFill>
              </a:rPr>
              <a:t>.</a:t>
            </a:r>
          </a:p>
        </p:txBody>
      </p:sp>
      <p:sp>
        <p:nvSpPr>
          <p:cNvPr id="13" name="Shape 11">
            <a:extLst>
              <a:ext uri="{FF2B5EF4-FFF2-40B4-BE49-F238E27FC236}">
                <a16:creationId xmlns:a16="http://schemas.microsoft.com/office/drawing/2014/main" id="{C63EEA6D-0E00-40F3-9341-1FF53F90E8CA}"/>
              </a:ext>
            </a:extLst>
          </p:cNvPr>
          <p:cNvSpPr>
            <a:spLocks noGrp="1"/>
          </p:cNvSpPr>
          <p:nvPr/>
        </p:nvSpPr>
        <p:spPr>
          <a:xfrm>
            <a:off x="91440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14" name="Shape 12">
            <a:extLst>
              <a:ext uri="{FF2B5EF4-FFF2-40B4-BE49-F238E27FC236}">
                <a16:creationId xmlns:a16="http://schemas.microsoft.com/office/drawing/2014/main" id="{27906FF5-28C3-4BCE-9230-D8D754E343A5}"/>
              </a:ext>
            </a:extLst>
          </p:cNvPr>
          <p:cNvSpPr>
            <a:spLocks noGrp="1"/>
          </p:cNvSpPr>
          <p:nvPr/>
        </p:nvSpPr>
        <p:spPr>
          <a:xfrm>
            <a:off x="1078992" y="1984248"/>
            <a:ext cx="438912" cy="438912"/>
          </a:xfrm>
          <a:prstGeom prst="ellipse">
            <a:avLst/>
          </a:prstGeom>
          <a:solidFill>
            <a:srgbClr val="EAF8FC"/>
          </a:solidFill>
          <a:ln w="10160">
            <a:solidFill>
              <a:srgbClr val="D5EEF7"/>
            </a:solidFill>
            <a:prstDash val="solid"/>
          </a:ln>
        </p:spPr>
        <p:txBody>
          <a:bodyPr/>
          <a:lstStyle/>
          <a:p>
            <a:endParaRPr/>
          </a:p>
        </p:txBody>
      </p:sp>
      <p:sp>
        <p:nvSpPr>
          <p:cNvPr id="15" name="Text 13">
            <a:extLst>
              <a:ext uri="{FF2B5EF4-FFF2-40B4-BE49-F238E27FC236}">
                <a16:creationId xmlns:a16="http://schemas.microsoft.com/office/drawing/2014/main" id="{8E110575-9924-4A24-8884-A28E9FB4DF15}"/>
              </a:ext>
            </a:extLst>
          </p:cNvPr>
          <p:cNvSpPr>
            <a:spLocks noGrp="1"/>
          </p:cNvSpPr>
          <p:nvPr/>
        </p:nvSpPr>
        <p:spPr>
          <a:xfrm>
            <a:off x="1078992" y="2043684"/>
            <a:ext cx="438912" cy="228600"/>
          </a:xfrm>
          <a:prstGeom prst="rect">
            <a:avLst/>
          </a:prstGeom>
          <a:noFill/>
        </p:spPr>
        <p:txBody>
          <a:bodyPr wrap="square" lIns="0" tIns="0" rIns="0" bIns="0" anchor="ctr"/>
          <a:lstStyle/>
          <a:p>
            <a:pPr marL="0" indent="0" algn="ctr">
              <a:buNone/>
            </a:pPr>
            <a:r>
              <a:rPr sz="1550">
                <a:solidFill>
                  <a:srgbClr val="17B7D7"/>
                </a:solidFill>
              </a:rPr>
              <a:t>1</a:t>
            </a:r>
          </a:p>
        </p:txBody>
      </p:sp>
      <p:sp>
        <p:nvSpPr>
          <p:cNvPr id="16" name="Text 14">
            <a:extLst>
              <a:ext uri="{FF2B5EF4-FFF2-40B4-BE49-F238E27FC236}">
                <a16:creationId xmlns:a16="http://schemas.microsoft.com/office/drawing/2014/main" id="{1F68C214-B521-4066-9D3A-42A47BEA2852}"/>
              </a:ext>
            </a:extLst>
          </p:cNvPr>
          <p:cNvSpPr>
            <a:spLocks noGrp="1"/>
          </p:cNvSpPr>
          <p:nvPr/>
        </p:nvSpPr>
        <p:spPr>
          <a:xfrm>
            <a:off x="160020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Página</a:t>
            </a:r>
          </a:p>
        </p:txBody>
      </p:sp>
      <p:sp>
        <p:nvSpPr>
          <p:cNvPr id="17" name="Shape 15">
            <a:extLst>
              <a:ext uri="{FF2B5EF4-FFF2-40B4-BE49-F238E27FC236}">
                <a16:creationId xmlns:a16="http://schemas.microsoft.com/office/drawing/2014/main" id="{520B91C2-EF3C-4B81-A26F-17D73073C2AE}"/>
              </a:ext>
            </a:extLst>
          </p:cNvPr>
          <p:cNvSpPr>
            <a:spLocks noGrp="1"/>
          </p:cNvSpPr>
          <p:nvPr/>
        </p:nvSpPr>
        <p:spPr>
          <a:xfrm>
            <a:off x="1600200" y="2313432"/>
            <a:ext cx="411480" cy="0"/>
          </a:xfrm>
          <a:prstGeom prst="line">
            <a:avLst/>
          </a:prstGeom>
          <a:noFill/>
          <a:ln w="22860">
            <a:solidFill>
              <a:srgbClr val="17B7D7"/>
            </a:solidFill>
            <a:prstDash val="solid"/>
          </a:ln>
        </p:spPr>
        <p:txBody>
          <a:bodyPr/>
          <a:lstStyle/>
          <a:p>
            <a:endParaRPr/>
          </a:p>
        </p:txBody>
      </p:sp>
      <p:sp>
        <p:nvSpPr>
          <p:cNvPr id="18" name="Text 16">
            <a:extLst>
              <a:ext uri="{FF2B5EF4-FFF2-40B4-BE49-F238E27FC236}">
                <a16:creationId xmlns:a16="http://schemas.microsoft.com/office/drawing/2014/main" id="{B4396596-5CDA-4DBE-8878-C0F74DCD22B4}"/>
              </a:ext>
            </a:extLst>
          </p:cNvPr>
          <p:cNvSpPr>
            <a:spLocks noGrp="1"/>
          </p:cNvSpPr>
          <p:nvPr/>
        </p:nvSpPr>
        <p:spPr>
          <a:xfrm>
            <a:off x="111556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Unidad básica de lectura y escritura.</a:t>
            </a:r>
          </a:p>
        </p:txBody>
      </p:sp>
      <p:sp>
        <p:nvSpPr>
          <p:cNvPr id="19" name="Shape 17">
            <a:extLst>
              <a:ext uri="{FF2B5EF4-FFF2-40B4-BE49-F238E27FC236}">
                <a16:creationId xmlns:a16="http://schemas.microsoft.com/office/drawing/2014/main" id="{8147991A-6C9F-439E-B048-C7F909634508}"/>
              </a:ext>
            </a:extLst>
          </p:cNvPr>
          <p:cNvSpPr>
            <a:spLocks noGrp="1"/>
          </p:cNvSpPr>
          <p:nvPr/>
        </p:nvSpPr>
        <p:spPr>
          <a:xfrm>
            <a:off x="452628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0" name="Shape 18">
            <a:extLst>
              <a:ext uri="{FF2B5EF4-FFF2-40B4-BE49-F238E27FC236}">
                <a16:creationId xmlns:a16="http://schemas.microsoft.com/office/drawing/2014/main" id="{9EF733E9-A002-4C96-90E6-E896672B3CFD}"/>
              </a:ext>
            </a:extLst>
          </p:cNvPr>
          <p:cNvSpPr>
            <a:spLocks noGrp="1"/>
          </p:cNvSpPr>
          <p:nvPr/>
        </p:nvSpPr>
        <p:spPr>
          <a:xfrm>
            <a:off x="4690872" y="1984248"/>
            <a:ext cx="438912" cy="438912"/>
          </a:xfrm>
          <a:prstGeom prst="ellipse">
            <a:avLst/>
          </a:prstGeom>
          <a:solidFill>
            <a:srgbClr val="EAF8FC"/>
          </a:solidFill>
          <a:ln w="10160">
            <a:solidFill>
              <a:srgbClr val="D5EEF7"/>
            </a:solidFill>
            <a:prstDash val="solid"/>
          </a:ln>
        </p:spPr>
        <p:txBody>
          <a:bodyPr/>
          <a:lstStyle/>
          <a:p>
            <a:endParaRPr/>
          </a:p>
        </p:txBody>
      </p:sp>
      <p:sp>
        <p:nvSpPr>
          <p:cNvPr id="21" name="Text 19">
            <a:extLst>
              <a:ext uri="{FF2B5EF4-FFF2-40B4-BE49-F238E27FC236}">
                <a16:creationId xmlns:a16="http://schemas.microsoft.com/office/drawing/2014/main" id="{9D24A6A4-8B9E-4BFB-81F6-61A64001216C}"/>
              </a:ext>
            </a:extLst>
          </p:cNvPr>
          <p:cNvSpPr>
            <a:spLocks noGrp="1"/>
          </p:cNvSpPr>
          <p:nvPr/>
        </p:nvSpPr>
        <p:spPr>
          <a:xfrm>
            <a:off x="4690872" y="2043684"/>
            <a:ext cx="438912" cy="228600"/>
          </a:xfrm>
          <a:prstGeom prst="rect">
            <a:avLst/>
          </a:prstGeom>
          <a:noFill/>
        </p:spPr>
        <p:txBody>
          <a:bodyPr wrap="square" lIns="0" tIns="0" rIns="0" bIns="0" anchor="ctr"/>
          <a:lstStyle/>
          <a:p>
            <a:pPr marL="0" indent="0" algn="ctr">
              <a:buNone/>
            </a:pPr>
            <a:r>
              <a:rPr sz="1550">
                <a:solidFill>
                  <a:srgbClr val="17B7D7"/>
                </a:solidFill>
              </a:rPr>
              <a:t>2</a:t>
            </a:r>
          </a:p>
        </p:txBody>
      </p:sp>
      <p:sp>
        <p:nvSpPr>
          <p:cNvPr id="22" name="Text 20">
            <a:extLst>
              <a:ext uri="{FF2B5EF4-FFF2-40B4-BE49-F238E27FC236}">
                <a16:creationId xmlns:a16="http://schemas.microsoft.com/office/drawing/2014/main" id="{53B490FB-80F7-46A0-9B9C-886B1DD8EBF9}"/>
              </a:ext>
            </a:extLst>
          </p:cNvPr>
          <p:cNvSpPr>
            <a:spLocks noGrp="1"/>
          </p:cNvSpPr>
          <p:nvPr/>
        </p:nvSpPr>
        <p:spPr>
          <a:xfrm>
            <a:off x="521208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Bloques</a:t>
            </a:r>
          </a:p>
        </p:txBody>
      </p:sp>
      <p:sp>
        <p:nvSpPr>
          <p:cNvPr id="23" name="Shape 21">
            <a:extLst>
              <a:ext uri="{FF2B5EF4-FFF2-40B4-BE49-F238E27FC236}">
                <a16:creationId xmlns:a16="http://schemas.microsoft.com/office/drawing/2014/main" id="{D3F3A3F9-DEBD-4625-95BC-DAAAB52868A2}"/>
              </a:ext>
            </a:extLst>
          </p:cNvPr>
          <p:cNvSpPr>
            <a:spLocks noGrp="1"/>
          </p:cNvSpPr>
          <p:nvPr/>
        </p:nvSpPr>
        <p:spPr>
          <a:xfrm>
            <a:off x="5212080" y="2313432"/>
            <a:ext cx="411480" cy="0"/>
          </a:xfrm>
          <a:prstGeom prst="line">
            <a:avLst/>
          </a:prstGeom>
          <a:noFill/>
          <a:ln w="22860">
            <a:solidFill>
              <a:srgbClr val="17B7D7"/>
            </a:solidFill>
            <a:prstDash val="solid"/>
          </a:ln>
        </p:spPr>
        <p:txBody>
          <a:bodyPr/>
          <a:lstStyle/>
          <a:p>
            <a:endParaRPr/>
          </a:p>
        </p:txBody>
      </p:sp>
      <p:sp>
        <p:nvSpPr>
          <p:cNvPr id="24" name="Text 22">
            <a:extLst>
              <a:ext uri="{FF2B5EF4-FFF2-40B4-BE49-F238E27FC236}">
                <a16:creationId xmlns:a16="http://schemas.microsoft.com/office/drawing/2014/main" id="{E9610762-B4D3-4DD8-9CCD-A0F730F6ECB5}"/>
              </a:ext>
            </a:extLst>
          </p:cNvPr>
          <p:cNvSpPr>
            <a:spLocks noGrp="1"/>
          </p:cNvSpPr>
          <p:nvPr/>
        </p:nvSpPr>
        <p:spPr>
          <a:xfrm>
            <a:off x="472744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Varias filas comparten una unidad de E/S.</a:t>
            </a:r>
          </a:p>
        </p:txBody>
      </p:sp>
      <p:sp>
        <p:nvSpPr>
          <p:cNvPr id="25" name="Shape 23">
            <a:extLst>
              <a:ext uri="{FF2B5EF4-FFF2-40B4-BE49-F238E27FC236}">
                <a16:creationId xmlns:a16="http://schemas.microsoft.com/office/drawing/2014/main" id="{CCEF4718-176D-45F0-B2D4-BF2C7E320CBA}"/>
              </a:ext>
            </a:extLst>
          </p:cNvPr>
          <p:cNvSpPr>
            <a:spLocks noGrp="1"/>
          </p:cNvSpPr>
          <p:nvPr/>
        </p:nvSpPr>
        <p:spPr>
          <a:xfrm>
            <a:off x="813816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6" name="Shape 24">
            <a:extLst>
              <a:ext uri="{FF2B5EF4-FFF2-40B4-BE49-F238E27FC236}">
                <a16:creationId xmlns:a16="http://schemas.microsoft.com/office/drawing/2014/main" id="{8D44E5AE-8A67-4853-B244-F81052A007F4}"/>
              </a:ext>
            </a:extLst>
          </p:cNvPr>
          <p:cNvSpPr>
            <a:spLocks noGrp="1"/>
          </p:cNvSpPr>
          <p:nvPr/>
        </p:nvSpPr>
        <p:spPr>
          <a:xfrm>
            <a:off x="8302752" y="1984248"/>
            <a:ext cx="438912" cy="438912"/>
          </a:xfrm>
          <a:prstGeom prst="ellipse">
            <a:avLst/>
          </a:prstGeom>
          <a:solidFill>
            <a:srgbClr val="EAF8FC"/>
          </a:solidFill>
          <a:ln w="10160">
            <a:solidFill>
              <a:srgbClr val="D5EEF7"/>
            </a:solidFill>
            <a:prstDash val="solid"/>
          </a:ln>
        </p:spPr>
        <p:txBody>
          <a:bodyPr/>
          <a:lstStyle/>
          <a:p>
            <a:endParaRPr/>
          </a:p>
        </p:txBody>
      </p:sp>
      <p:sp>
        <p:nvSpPr>
          <p:cNvPr id="27" name="Text 25">
            <a:extLst>
              <a:ext uri="{FF2B5EF4-FFF2-40B4-BE49-F238E27FC236}">
                <a16:creationId xmlns:a16="http://schemas.microsoft.com/office/drawing/2014/main" id="{1E839E76-0723-4E97-92D6-AA1B56FF2E71}"/>
              </a:ext>
            </a:extLst>
          </p:cNvPr>
          <p:cNvSpPr>
            <a:spLocks noGrp="1"/>
          </p:cNvSpPr>
          <p:nvPr/>
        </p:nvSpPr>
        <p:spPr>
          <a:xfrm>
            <a:off x="8302752" y="2043684"/>
            <a:ext cx="438912" cy="228600"/>
          </a:xfrm>
          <a:prstGeom prst="rect">
            <a:avLst/>
          </a:prstGeom>
          <a:noFill/>
        </p:spPr>
        <p:txBody>
          <a:bodyPr wrap="square" lIns="0" tIns="0" rIns="0" bIns="0" anchor="ctr"/>
          <a:lstStyle/>
          <a:p>
            <a:pPr marL="0" indent="0" algn="ctr">
              <a:buNone/>
            </a:pPr>
            <a:r>
              <a:rPr sz="1550">
                <a:solidFill>
                  <a:srgbClr val="17B7D7"/>
                </a:solidFill>
              </a:rPr>
              <a:t>3</a:t>
            </a:r>
          </a:p>
        </p:txBody>
      </p:sp>
      <p:sp>
        <p:nvSpPr>
          <p:cNvPr id="28" name="Text 26">
            <a:extLst>
              <a:ext uri="{FF2B5EF4-FFF2-40B4-BE49-F238E27FC236}">
                <a16:creationId xmlns:a16="http://schemas.microsoft.com/office/drawing/2014/main" id="{39EAD97E-ACE2-4547-A6C7-EC305192AC81}"/>
              </a:ext>
            </a:extLst>
          </p:cNvPr>
          <p:cNvSpPr>
            <a:spLocks noGrp="1"/>
          </p:cNvSpPr>
          <p:nvPr/>
        </p:nvSpPr>
        <p:spPr>
          <a:xfrm>
            <a:off x="882396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Objetivo</a:t>
            </a:r>
          </a:p>
        </p:txBody>
      </p:sp>
      <p:sp>
        <p:nvSpPr>
          <p:cNvPr id="29" name="Shape 27">
            <a:extLst>
              <a:ext uri="{FF2B5EF4-FFF2-40B4-BE49-F238E27FC236}">
                <a16:creationId xmlns:a16="http://schemas.microsoft.com/office/drawing/2014/main" id="{FCA73888-782F-4505-B3DD-DA63AA7D156F}"/>
              </a:ext>
            </a:extLst>
          </p:cNvPr>
          <p:cNvSpPr>
            <a:spLocks noGrp="1"/>
          </p:cNvSpPr>
          <p:nvPr/>
        </p:nvSpPr>
        <p:spPr>
          <a:xfrm>
            <a:off x="8823960" y="2313432"/>
            <a:ext cx="411480" cy="0"/>
          </a:xfrm>
          <a:prstGeom prst="line">
            <a:avLst/>
          </a:prstGeom>
          <a:noFill/>
          <a:ln w="22860">
            <a:solidFill>
              <a:srgbClr val="17B7D7"/>
            </a:solidFill>
            <a:prstDash val="solid"/>
          </a:ln>
        </p:spPr>
        <p:txBody>
          <a:bodyPr/>
          <a:lstStyle/>
          <a:p>
            <a:endParaRPr/>
          </a:p>
        </p:txBody>
      </p:sp>
      <p:sp>
        <p:nvSpPr>
          <p:cNvPr id="30" name="Text 28">
            <a:extLst>
              <a:ext uri="{FF2B5EF4-FFF2-40B4-BE49-F238E27FC236}">
                <a16:creationId xmlns:a16="http://schemas.microsoft.com/office/drawing/2014/main" id="{DD936180-33BC-4320-BA9F-81FA74FC0275}"/>
              </a:ext>
            </a:extLst>
          </p:cNvPr>
          <p:cNvSpPr>
            <a:spLocks noGrp="1"/>
          </p:cNvSpPr>
          <p:nvPr/>
        </p:nvSpPr>
        <p:spPr>
          <a:xfrm>
            <a:off x="833932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Reducir trabajo y páginas procesadas.</a:t>
            </a:r>
          </a:p>
        </p:txBody>
      </p:sp>
      <p:sp>
        <p:nvSpPr>
          <p:cNvPr id="31" name="Text 29">
            <a:extLst>
              <a:ext uri="{FF2B5EF4-FFF2-40B4-BE49-F238E27FC236}">
                <a16:creationId xmlns:a16="http://schemas.microsoft.com/office/drawing/2014/main" id="{5BD4C6CA-B995-4864-9406-0372256BA931}"/>
              </a:ext>
            </a:extLst>
          </p:cNvPr>
          <p:cNvSpPr>
            <a:spLocks noGrp="1"/>
          </p:cNvSpPr>
          <p:nvPr/>
        </p:nvSpPr>
        <p:spPr>
          <a:xfrm>
            <a:off x="914400" y="4800600"/>
            <a:ext cx="10332720" cy="411480"/>
          </a:xfrm>
          <a:prstGeom prst="rect">
            <a:avLst/>
          </a:prstGeom>
          <a:noFill/>
        </p:spPr>
        <p:txBody>
          <a:bodyPr wrap="square" anchor="ctr"/>
          <a:lstStyle/>
          <a:p>
            <a:pPr marL="0" indent="0" algn="ctr">
              <a:buNone/>
            </a:pPr>
            <a:r>
              <a:rPr sz="1800" b="1">
                <a:solidFill>
                  <a:srgbClr val="07245A"/>
                </a:solidFill>
              </a:rPr>
              <a:t>Menos instrucciones SQL no siempre significa menos E/S.</a:t>
            </a:r>
          </a:p>
        </p:txBody>
      </p:sp>
      <p:sp>
        <p:nvSpPr>
          <p:cNvPr id="32" name="Shape 30">
            <a:extLst>
              <a:ext uri="{FF2B5EF4-FFF2-40B4-BE49-F238E27FC236}">
                <a16:creationId xmlns:a16="http://schemas.microsoft.com/office/drawing/2014/main" id="{48DEFDF8-4233-43D1-ABC6-22926B0A171A}"/>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33" name="Text 31">
            <a:extLst>
              <a:ext uri="{FF2B5EF4-FFF2-40B4-BE49-F238E27FC236}">
                <a16:creationId xmlns:a16="http://schemas.microsoft.com/office/drawing/2014/main" id="{B6AAE201-650E-4F2F-8FFF-27F1A0DEDA4A}"/>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Tree>
    <p:extLst>
      <p:ext uri="{BB962C8B-B14F-4D97-AF65-F5344CB8AC3E}">
        <p14:creationId xmlns:p14="http://schemas.microsoft.com/office/powerpoint/2010/main" val="9683784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B375714-6743-4FDC-A32E-4FD12319994B}"/>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8B8D7FA2-63C9-4E91-B28C-19F47BAF07B8}"/>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30B36A17-40A2-40C9-8037-1C82D6E287C8}"/>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C607416F-F447-443F-9866-50DAE7A770F3}"/>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E8A1AD9F-9EA6-4137-B545-426C030B8582}"/>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FB08DFC8-A9B7-4389-B4E1-7FBDF8A9087D}"/>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381C5A80-83F0-44EC-BACE-476F9926966A}"/>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4B37DBAD-D141-433C-B395-2CC958F11DA7}"/>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13</a:t>
            </a:r>
          </a:p>
        </p:txBody>
      </p:sp>
      <p:sp>
        <p:nvSpPr>
          <p:cNvPr id="10" name="Text 8">
            <a:extLst>
              <a:ext uri="{FF2B5EF4-FFF2-40B4-BE49-F238E27FC236}">
                <a16:creationId xmlns:a16="http://schemas.microsoft.com/office/drawing/2014/main" id="{84D95DCB-4624-4C65-AED4-E8E5109A6C5D}"/>
              </a:ext>
            </a:extLst>
          </p:cNvPr>
          <p:cNvSpPr>
            <a:spLocks noGrp="1"/>
          </p:cNvSpPr>
          <p:nvPr/>
        </p:nvSpPr>
        <p:spPr>
          <a:xfrm>
            <a:off x="658368" y="868680"/>
            <a:ext cx="10698480" cy="411480"/>
          </a:xfrm>
          <a:prstGeom prst="rect">
            <a:avLst/>
          </a:prstGeom>
          <a:noFill/>
        </p:spPr>
        <p:txBody>
          <a:bodyPr wrap="square" lIns="0" tIns="0" rIns="0" bIns="0" anchor="ctr">
            <a:normAutofit fontScale="92500"/>
          </a:bodyPr>
          <a:lstStyle/>
          <a:p>
            <a:pPr marL="0" indent="0">
              <a:buNone/>
            </a:pPr>
            <a:r>
              <a:rPr sz="3000" b="1">
                <a:solidFill>
                  <a:srgbClr val="07245A"/>
                </a:solidFill>
                <a:latin typeface="Aptos Display"/>
                <a:ea typeface="Aptos Display"/>
                <a:cs typeface="Aptos Display"/>
              </a:rPr>
              <a:t>El ancho de la fila multiplica el trabajo</a:t>
            </a:r>
          </a:p>
        </p:txBody>
      </p:sp>
      <p:sp>
        <p:nvSpPr>
          <p:cNvPr id="11" name="Shape 9">
            <a:extLst>
              <a:ext uri="{FF2B5EF4-FFF2-40B4-BE49-F238E27FC236}">
                <a16:creationId xmlns:a16="http://schemas.microsoft.com/office/drawing/2014/main" id="{AF755394-459F-4F4E-B0E3-4F509DF87373}"/>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FFBBFD7C-9570-405B-8240-67736547FC39}"/>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Una elección lógica termina afectando páginas, caché y E/S.</a:t>
            </a:r>
          </a:p>
        </p:txBody>
      </p:sp>
      <p:sp>
        <p:nvSpPr>
          <p:cNvPr id="13" name="Shape 11">
            <a:extLst>
              <a:ext uri="{FF2B5EF4-FFF2-40B4-BE49-F238E27FC236}">
                <a16:creationId xmlns:a16="http://schemas.microsoft.com/office/drawing/2014/main" id="{2F7230F0-F624-489A-AD82-F00C809B47BE}"/>
              </a:ext>
            </a:extLst>
          </p:cNvPr>
          <p:cNvSpPr>
            <a:spLocks noGrp="1"/>
          </p:cNvSpPr>
          <p:nvPr/>
        </p:nvSpPr>
        <p:spPr>
          <a:xfrm>
            <a:off x="914400" y="1965963"/>
            <a:ext cx="10332720" cy="1874520"/>
          </a:xfrm>
          <a:prstGeom prst="roundRect">
            <a:avLst>
              <a:gd name="adj" fmla="val 3902"/>
            </a:avLst>
          </a:prstGeom>
          <a:solidFill>
            <a:srgbClr val="EAF8FC"/>
          </a:solidFill>
          <a:ln w="12700">
            <a:solidFill>
              <a:srgbClr val="BFE9F4"/>
            </a:solidFill>
            <a:prstDash val="solid"/>
          </a:ln>
        </p:spPr>
        <p:txBody>
          <a:bodyPr/>
          <a:lstStyle/>
          <a:p>
            <a:endParaRPr/>
          </a:p>
        </p:txBody>
      </p:sp>
      <p:sp>
        <p:nvSpPr>
          <p:cNvPr id="14" name="Text 12">
            <a:extLst>
              <a:ext uri="{FF2B5EF4-FFF2-40B4-BE49-F238E27FC236}">
                <a16:creationId xmlns:a16="http://schemas.microsoft.com/office/drawing/2014/main" id="{E2F5AB8B-6919-4F9C-8594-9C9A36907F9C}"/>
              </a:ext>
            </a:extLst>
          </p:cNvPr>
          <p:cNvSpPr>
            <a:spLocks noGrp="1"/>
          </p:cNvSpPr>
          <p:nvPr/>
        </p:nvSpPr>
        <p:spPr>
          <a:xfrm>
            <a:off x="1280160" y="2331723"/>
            <a:ext cx="9601200" cy="594360"/>
          </a:xfrm>
          <a:prstGeom prst="rect">
            <a:avLst/>
          </a:prstGeom>
          <a:noFill/>
        </p:spPr>
        <p:txBody>
          <a:bodyPr wrap="square" anchor="ctr">
            <a:normAutofit fontScale="83715" lnSpcReduction="10000"/>
          </a:bodyPr>
          <a:lstStyle/>
          <a:p>
            <a:pPr marL="0" indent="0" algn="ctr">
              <a:buNone/>
            </a:pPr>
            <a:r>
              <a:rPr sz="2800" b="1">
                <a:solidFill>
                  <a:srgbClr val="07245A"/>
                </a:solidFill>
              </a:rPr>
              <a:t>Tipo de dato → ancho de fila → filas por página → páginas procesadas</a:t>
            </a:r>
          </a:p>
        </p:txBody>
      </p:sp>
      <p:sp>
        <p:nvSpPr>
          <p:cNvPr id="15" name="Text 13">
            <a:extLst>
              <a:ext uri="{FF2B5EF4-FFF2-40B4-BE49-F238E27FC236}">
                <a16:creationId xmlns:a16="http://schemas.microsoft.com/office/drawing/2014/main" id="{6BD72E30-B334-45B0-8C20-88A8C0BEB72D}"/>
              </a:ext>
            </a:extLst>
          </p:cNvPr>
          <p:cNvSpPr>
            <a:spLocks noGrp="1"/>
          </p:cNvSpPr>
          <p:nvPr/>
        </p:nvSpPr>
        <p:spPr>
          <a:xfrm>
            <a:off x="1828800" y="3090675"/>
            <a:ext cx="8686800" cy="320040"/>
          </a:xfrm>
          <a:prstGeom prst="rect">
            <a:avLst/>
          </a:prstGeom>
          <a:noFill/>
        </p:spPr>
        <p:txBody>
          <a:bodyPr wrap="square" anchor="ctr"/>
          <a:lstStyle/>
          <a:p>
            <a:pPr marL="0" indent="0" algn="ctr">
              <a:buNone/>
            </a:pPr>
            <a:r>
              <a:rPr sz="1700" i="1">
                <a:solidFill>
                  <a:srgbClr val="34495E"/>
                </a:solidFill>
              </a:rPr>
              <a:t>Mismo resultado lógico, diferente costo físico</a:t>
            </a:r>
          </a:p>
        </p:txBody>
      </p:sp>
      <p:sp>
        <p:nvSpPr>
          <p:cNvPr id="16" name="Shape 14">
            <a:extLst>
              <a:ext uri="{FF2B5EF4-FFF2-40B4-BE49-F238E27FC236}">
                <a16:creationId xmlns:a16="http://schemas.microsoft.com/office/drawing/2014/main" id="{4382CB66-89A2-4505-97F5-C996BF6D9DCC}"/>
              </a:ext>
            </a:extLst>
          </p:cNvPr>
          <p:cNvSpPr>
            <a:spLocks noGrp="1"/>
          </p:cNvSpPr>
          <p:nvPr/>
        </p:nvSpPr>
        <p:spPr>
          <a:xfrm>
            <a:off x="822960" y="4069080"/>
            <a:ext cx="2423160" cy="1005840"/>
          </a:xfrm>
          <a:prstGeom prst="roundRect">
            <a:avLst>
              <a:gd name="adj" fmla="val 7273"/>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17" name="Text 15">
            <a:extLst>
              <a:ext uri="{FF2B5EF4-FFF2-40B4-BE49-F238E27FC236}">
                <a16:creationId xmlns:a16="http://schemas.microsoft.com/office/drawing/2014/main" id="{490AC556-4101-4FA6-AD49-7BD1D24584E9}"/>
              </a:ext>
            </a:extLst>
          </p:cNvPr>
          <p:cNvSpPr>
            <a:spLocks noGrp="1"/>
          </p:cNvSpPr>
          <p:nvPr/>
        </p:nvSpPr>
        <p:spPr>
          <a:xfrm>
            <a:off x="1508760" y="4233672"/>
            <a:ext cx="1600200" cy="256032"/>
          </a:xfrm>
          <a:prstGeom prst="rect">
            <a:avLst/>
          </a:prstGeom>
          <a:noFill/>
        </p:spPr>
        <p:txBody>
          <a:bodyPr wrap="square" lIns="0" tIns="0" rIns="0" bIns="0" anchor="ctr">
            <a:normAutofit/>
          </a:bodyPr>
          <a:lstStyle/>
          <a:p>
            <a:pPr marL="0" indent="0">
              <a:buNone/>
            </a:pPr>
            <a:r>
              <a:rPr sz="1600" b="1">
                <a:solidFill>
                  <a:srgbClr val="07245A"/>
                </a:solidFill>
              </a:rPr>
              <a:t>1</a:t>
            </a:r>
          </a:p>
        </p:txBody>
      </p:sp>
      <p:sp>
        <p:nvSpPr>
          <p:cNvPr id="18" name="Shape 16">
            <a:extLst>
              <a:ext uri="{FF2B5EF4-FFF2-40B4-BE49-F238E27FC236}">
                <a16:creationId xmlns:a16="http://schemas.microsoft.com/office/drawing/2014/main" id="{8E82512D-C8A9-4910-AD5D-8CB5CF210951}"/>
              </a:ext>
            </a:extLst>
          </p:cNvPr>
          <p:cNvSpPr>
            <a:spLocks noGrp="1"/>
          </p:cNvSpPr>
          <p:nvPr/>
        </p:nvSpPr>
        <p:spPr>
          <a:xfrm>
            <a:off x="1508760" y="4553712"/>
            <a:ext cx="411480" cy="0"/>
          </a:xfrm>
          <a:prstGeom prst="line">
            <a:avLst/>
          </a:prstGeom>
          <a:noFill/>
          <a:ln w="22860">
            <a:solidFill>
              <a:srgbClr val="17B7D7"/>
            </a:solidFill>
            <a:prstDash val="solid"/>
          </a:ln>
        </p:spPr>
        <p:txBody>
          <a:bodyPr/>
          <a:lstStyle/>
          <a:p>
            <a:endParaRPr/>
          </a:p>
        </p:txBody>
      </p:sp>
      <p:sp>
        <p:nvSpPr>
          <p:cNvPr id="19" name="Text 17">
            <a:extLst>
              <a:ext uri="{FF2B5EF4-FFF2-40B4-BE49-F238E27FC236}">
                <a16:creationId xmlns:a16="http://schemas.microsoft.com/office/drawing/2014/main" id="{7A2A6FD3-A2B6-446E-992F-C049FA9E2406}"/>
              </a:ext>
            </a:extLst>
          </p:cNvPr>
          <p:cNvSpPr>
            <a:spLocks noGrp="1"/>
          </p:cNvSpPr>
          <p:nvPr/>
        </p:nvSpPr>
        <p:spPr>
          <a:xfrm>
            <a:off x="1024128" y="4727448"/>
            <a:ext cx="2020824" cy="256032"/>
          </a:xfrm>
          <a:prstGeom prst="rect">
            <a:avLst/>
          </a:prstGeom>
          <a:noFill/>
        </p:spPr>
        <p:txBody>
          <a:bodyPr wrap="square" lIns="381" tIns="381" rIns="381" bIns="381" anchor="ctr">
            <a:normAutofit/>
          </a:bodyPr>
          <a:lstStyle/>
          <a:p>
            <a:pPr marL="0" indent="0">
              <a:buNone/>
            </a:pPr>
            <a:r>
              <a:rPr sz="1400">
                <a:solidFill>
                  <a:srgbClr val="17212B"/>
                </a:solidFill>
              </a:rPr>
              <a:t>Tipos adecuados</a:t>
            </a:r>
          </a:p>
        </p:txBody>
      </p:sp>
      <p:sp>
        <p:nvSpPr>
          <p:cNvPr id="20" name="Shape 18">
            <a:extLst>
              <a:ext uri="{FF2B5EF4-FFF2-40B4-BE49-F238E27FC236}">
                <a16:creationId xmlns:a16="http://schemas.microsoft.com/office/drawing/2014/main" id="{C9E63C32-059F-4454-A994-8878F93BE541}"/>
              </a:ext>
            </a:extLst>
          </p:cNvPr>
          <p:cNvSpPr>
            <a:spLocks noGrp="1"/>
          </p:cNvSpPr>
          <p:nvPr/>
        </p:nvSpPr>
        <p:spPr>
          <a:xfrm>
            <a:off x="3657600" y="4069080"/>
            <a:ext cx="2423160" cy="1005840"/>
          </a:xfrm>
          <a:prstGeom prst="roundRect">
            <a:avLst>
              <a:gd name="adj" fmla="val 7273"/>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1" name="Text 19">
            <a:extLst>
              <a:ext uri="{FF2B5EF4-FFF2-40B4-BE49-F238E27FC236}">
                <a16:creationId xmlns:a16="http://schemas.microsoft.com/office/drawing/2014/main" id="{EAB0C665-E2FF-4854-994B-DA9ED62E551F}"/>
              </a:ext>
            </a:extLst>
          </p:cNvPr>
          <p:cNvSpPr>
            <a:spLocks noGrp="1"/>
          </p:cNvSpPr>
          <p:nvPr/>
        </p:nvSpPr>
        <p:spPr>
          <a:xfrm>
            <a:off x="4343400" y="4233672"/>
            <a:ext cx="1600200" cy="256032"/>
          </a:xfrm>
          <a:prstGeom prst="rect">
            <a:avLst/>
          </a:prstGeom>
          <a:noFill/>
        </p:spPr>
        <p:txBody>
          <a:bodyPr wrap="square" lIns="0" tIns="0" rIns="0" bIns="0" anchor="ctr">
            <a:normAutofit/>
          </a:bodyPr>
          <a:lstStyle/>
          <a:p>
            <a:pPr marL="0" indent="0">
              <a:buNone/>
            </a:pPr>
            <a:r>
              <a:rPr sz="1600" b="1">
                <a:solidFill>
                  <a:srgbClr val="07245A"/>
                </a:solidFill>
              </a:rPr>
              <a:t>2</a:t>
            </a:r>
          </a:p>
        </p:txBody>
      </p:sp>
      <p:sp>
        <p:nvSpPr>
          <p:cNvPr id="22" name="Shape 20">
            <a:extLst>
              <a:ext uri="{FF2B5EF4-FFF2-40B4-BE49-F238E27FC236}">
                <a16:creationId xmlns:a16="http://schemas.microsoft.com/office/drawing/2014/main" id="{0EDDFEDA-CF40-4C87-9DA4-DD8410696C61}"/>
              </a:ext>
            </a:extLst>
          </p:cNvPr>
          <p:cNvSpPr>
            <a:spLocks noGrp="1"/>
          </p:cNvSpPr>
          <p:nvPr/>
        </p:nvSpPr>
        <p:spPr>
          <a:xfrm>
            <a:off x="4343400" y="4553712"/>
            <a:ext cx="411480" cy="0"/>
          </a:xfrm>
          <a:prstGeom prst="line">
            <a:avLst/>
          </a:prstGeom>
          <a:noFill/>
          <a:ln w="22860">
            <a:solidFill>
              <a:srgbClr val="17B7D7"/>
            </a:solidFill>
            <a:prstDash val="solid"/>
          </a:ln>
        </p:spPr>
        <p:txBody>
          <a:bodyPr/>
          <a:lstStyle/>
          <a:p>
            <a:endParaRPr/>
          </a:p>
        </p:txBody>
      </p:sp>
      <p:sp>
        <p:nvSpPr>
          <p:cNvPr id="23" name="Text 21">
            <a:extLst>
              <a:ext uri="{FF2B5EF4-FFF2-40B4-BE49-F238E27FC236}">
                <a16:creationId xmlns:a16="http://schemas.microsoft.com/office/drawing/2014/main" id="{FB8898C2-FAEE-4805-9949-6DE0724DBD32}"/>
              </a:ext>
            </a:extLst>
          </p:cNvPr>
          <p:cNvSpPr>
            <a:spLocks noGrp="1"/>
          </p:cNvSpPr>
          <p:nvPr/>
        </p:nvSpPr>
        <p:spPr>
          <a:xfrm>
            <a:off x="3858768" y="4727448"/>
            <a:ext cx="2020824" cy="256032"/>
          </a:xfrm>
          <a:prstGeom prst="rect">
            <a:avLst/>
          </a:prstGeom>
          <a:noFill/>
        </p:spPr>
        <p:txBody>
          <a:bodyPr wrap="square" lIns="381" tIns="381" rIns="381" bIns="381" anchor="ctr">
            <a:normAutofit/>
          </a:bodyPr>
          <a:lstStyle/>
          <a:p>
            <a:pPr marL="0" indent="0">
              <a:buNone/>
            </a:pPr>
            <a:r>
              <a:rPr sz="1400">
                <a:solidFill>
                  <a:srgbClr val="17212B"/>
                </a:solidFill>
              </a:rPr>
              <a:t>Más filas por página</a:t>
            </a:r>
          </a:p>
        </p:txBody>
      </p:sp>
      <p:sp>
        <p:nvSpPr>
          <p:cNvPr id="24" name="Shape 22">
            <a:extLst>
              <a:ext uri="{FF2B5EF4-FFF2-40B4-BE49-F238E27FC236}">
                <a16:creationId xmlns:a16="http://schemas.microsoft.com/office/drawing/2014/main" id="{C0E9403F-D68C-48D4-93F8-FBB8A75444A2}"/>
              </a:ext>
            </a:extLst>
          </p:cNvPr>
          <p:cNvSpPr>
            <a:spLocks noGrp="1"/>
          </p:cNvSpPr>
          <p:nvPr/>
        </p:nvSpPr>
        <p:spPr>
          <a:xfrm>
            <a:off x="6492240" y="4069080"/>
            <a:ext cx="2423160" cy="1005840"/>
          </a:xfrm>
          <a:prstGeom prst="roundRect">
            <a:avLst>
              <a:gd name="adj" fmla="val 7273"/>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5" name="Text 23">
            <a:extLst>
              <a:ext uri="{FF2B5EF4-FFF2-40B4-BE49-F238E27FC236}">
                <a16:creationId xmlns:a16="http://schemas.microsoft.com/office/drawing/2014/main" id="{AF211E41-7A6F-4AFE-B045-18B95D7A4645}"/>
              </a:ext>
            </a:extLst>
          </p:cNvPr>
          <p:cNvSpPr>
            <a:spLocks noGrp="1"/>
          </p:cNvSpPr>
          <p:nvPr/>
        </p:nvSpPr>
        <p:spPr>
          <a:xfrm>
            <a:off x="7178040" y="4233672"/>
            <a:ext cx="1600200" cy="256032"/>
          </a:xfrm>
          <a:prstGeom prst="rect">
            <a:avLst/>
          </a:prstGeom>
          <a:noFill/>
        </p:spPr>
        <p:txBody>
          <a:bodyPr wrap="square" lIns="0" tIns="0" rIns="0" bIns="0" anchor="ctr">
            <a:normAutofit/>
          </a:bodyPr>
          <a:lstStyle/>
          <a:p>
            <a:pPr marL="0" indent="0">
              <a:buNone/>
            </a:pPr>
            <a:r>
              <a:rPr sz="1600" b="1">
                <a:solidFill>
                  <a:srgbClr val="07245A"/>
                </a:solidFill>
              </a:rPr>
              <a:t>3</a:t>
            </a:r>
          </a:p>
        </p:txBody>
      </p:sp>
      <p:sp>
        <p:nvSpPr>
          <p:cNvPr id="26" name="Shape 24">
            <a:extLst>
              <a:ext uri="{FF2B5EF4-FFF2-40B4-BE49-F238E27FC236}">
                <a16:creationId xmlns:a16="http://schemas.microsoft.com/office/drawing/2014/main" id="{9DF1B041-E7E9-43D5-B025-5CD335B320E9}"/>
              </a:ext>
            </a:extLst>
          </p:cNvPr>
          <p:cNvSpPr>
            <a:spLocks noGrp="1"/>
          </p:cNvSpPr>
          <p:nvPr/>
        </p:nvSpPr>
        <p:spPr>
          <a:xfrm>
            <a:off x="7178040" y="4553712"/>
            <a:ext cx="411480" cy="0"/>
          </a:xfrm>
          <a:prstGeom prst="line">
            <a:avLst/>
          </a:prstGeom>
          <a:noFill/>
          <a:ln w="22860">
            <a:solidFill>
              <a:srgbClr val="17B7D7"/>
            </a:solidFill>
            <a:prstDash val="solid"/>
          </a:ln>
        </p:spPr>
        <p:txBody>
          <a:bodyPr/>
          <a:lstStyle/>
          <a:p>
            <a:endParaRPr/>
          </a:p>
        </p:txBody>
      </p:sp>
      <p:sp>
        <p:nvSpPr>
          <p:cNvPr id="27" name="Text 25">
            <a:extLst>
              <a:ext uri="{FF2B5EF4-FFF2-40B4-BE49-F238E27FC236}">
                <a16:creationId xmlns:a16="http://schemas.microsoft.com/office/drawing/2014/main" id="{26F6DC83-B1D3-432B-86FE-19E529060708}"/>
              </a:ext>
            </a:extLst>
          </p:cNvPr>
          <p:cNvSpPr>
            <a:spLocks noGrp="1"/>
          </p:cNvSpPr>
          <p:nvPr/>
        </p:nvSpPr>
        <p:spPr>
          <a:xfrm>
            <a:off x="6693408" y="4727448"/>
            <a:ext cx="2020824" cy="256032"/>
          </a:xfrm>
          <a:prstGeom prst="rect">
            <a:avLst/>
          </a:prstGeom>
          <a:noFill/>
        </p:spPr>
        <p:txBody>
          <a:bodyPr wrap="square" lIns="381" tIns="381" rIns="381" bIns="381" anchor="ctr">
            <a:normAutofit/>
          </a:bodyPr>
          <a:lstStyle/>
          <a:p>
            <a:pPr marL="0" indent="0">
              <a:buNone/>
            </a:pPr>
            <a:r>
              <a:rPr sz="1400">
                <a:solidFill>
                  <a:srgbClr val="17212B"/>
                </a:solidFill>
              </a:rPr>
              <a:t>Mejor uso de caché</a:t>
            </a:r>
          </a:p>
        </p:txBody>
      </p:sp>
      <p:sp>
        <p:nvSpPr>
          <p:cNvPr id="28" name="Shape 26">
            <a:extLst>
              <a:ext uri="{FF2B5EF4-FFF2-40B4-BE49-F238E27FC236}">
                <a16:creationId xmlns:a16="http://schemas.microsoft.com/office/drawing/2014/main" id="{3BC2058F-49EE-41FA-AC9C-2A90FF4F2B10}"/>
              </a:ext>
            </a:extLst>
          </p:cNvPr>
          <p:cNvSpPr>
            <a:spLocks noGrp="1"/>
          </p:cNvSpPr>
          <p:nvPr/>
        </p:nvSpPr>
        <p:spPr>
          <a:xfrm>
            <a:off x="9326880" y="4069080"/>
            <a:ext cx="2423160" cy="1005840"/>
          </a:xfrm>
          <a:prstGeom prst="roundRect">
            <a:avLst>
              <a:gd name="adj" fmla="val 7273"/>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9" name="Text 27">
            <a:extLst>
              <a:ext uri="{FF2B5EF4-FFF2-40B4-BE49-F238E27FC236}">
                <a16:creationId xmlns:a16="http://schemas.microsoft.com/office/drawing/2014/main" id="{ACA65986-EC1A-406E-9AB4-23CD09363262}"/>
              </a:ext>
            </a:extLst>
          </p:cNvPr>
          <p:cNvSpPr>
            <a:spLocks noGrp="1"/>
          </p:cNvSpPr>
          <p:nvPr/>
        </p:nvSpPr>
        <p:spPr>
          <a:xfrm>
            <a:off x="10012680" y="4233672"/>
            <a:ext cx="1600200" cy="256032"/>
          </a:xfrm>
          <a:prstGeom prst="rect">
            <a:avLst/>
          </a:prstGeom>
          <a:noFill/>
        </p:spPr>
        <p:txBody>
          <a:bodyPr wrap="square" lIns="0" tIns="0" rIns="0" bIns="0" anchor="ctr">
            <a:normAutofit/>
          </a:bodyPr>
          <a:lstStyle/>
          <a:p>
            <a:pPr marL="0" indent="0">
              <a:buNone/>
            </a:pPr>
            <a:r>
              <a:rPr sz="1600" b="1">
                <a:solidFill>
                  <a:srgbClr val="07245A"/>
                </a:solidFill>
              </a:rPr>
              <a:t>4</a:t>
            </a:r>
          </a:p>
        </p:txBody>
      </p:sp>
      <p:sp>
        <p:nvSpPr>
          <p:cNvPr id="30" name="Shape 28">
            <a:extLst>
              <a:ext uri="{FF2B5EF4-FFF2-40B4-BE49-F238E27FC236}">
                <a16:creationId xmlns:a16="http://schemas.microsoft.com/office/drawing/2014/main" id="{3C3AB344-D20D-4B07-B930-DDA7F9A42991}"/>
              </a:ext>
            </a:extLst>
          </p:cNvPr>
          <p:cNvSpPr>
            <a:spLocks noGrp="1"/>
          </p:cNvSpPr>
          <p:nvPr/>
        </p:nvSpPr>
        <p:spPr>
          <a:xfrm>
            <a:off x="10012680" y="4553712"/>
            <a:ext cx="411480" cy="0"/>
          </a:xfrm>
          <a:prstGeom prst="line">
            <a:avLst/>
          </a:prstGeom>
          <a:noFill/>
          <a:ln w="22860">
            <a:solidFill>
              <a:srgbClr val="17B7D7"/>
            </a:solidFill>
            <a:prstDash val="solid"/>
          </a:ln>
        </p:spPr>
        <p:txBody>
          <a:bodyPr/>
          <a:lstStyle/>
          <a:p>
            <a:endParaRPr/>
          </a:p>
        </p:txBody>
      </p:sp>
      <p:sp>
        <p:nvSpPr>
          <p:cNvPr id="31" name="Text 29">
            <a:extLst>
              <a:ext uri="{FF2B5EF4-FFF2-40B4-BE49-F238E27FC236}">
                <a16:creationId xmlns:a16="http://schemas.microsoft.com/office/drawing/2014/main" id="{687FB3BB-F621-43A1-9C8F-2933E47FFBE7}"/>
              </a:ext>
            </a:extLst>
          </p:cNvPr>
          <p:cNvSpPr>
            <a:spLocks noGrp="1"/>
          </p:cNvSpPr>
          <p:nvPr/>
        </p:nvSpPr>
        <p:spPr>
          <a:xfrm>
            <a:off x="9528048" y="4727448"/>
            <a:ext cx="2020824" cy="256032"/>
          </a:xfrm>
          <a:prstGeom prst="rect">
            <a:avLst/>
          </a:prstGeom>
          <a:noFill/>
        </p:spPr>
        <p:txBody>
          <a:bodyPr wrap="square" lIns="381" tIns="381" rIns="381" bIns="381" anchor="ctr">
            <a:normAutofit/>
          </a:bodyPr>
          <a:lstStyle/>
          <a:p>
            <a:pPr marL="0" indent="0">
              <a:buNone/>
            </a:pPr>
            <a:r>
              <a:rPr sz="1400">
                <a:solidFill>
                  <a:srgbClr val="17212B"/>
                </a:solidFill>
              </a:rPr>
              <a:t>Menos E/S</a:t>
            </a:r>
          </a:p>
        </p:txBody>
      </p:sp>
      <p:sp>
        <p:nvSpPr>
          <p:cNvPr id="32" name="Shape 30">
            <a:extLst>
              <a:ext uri="{FF2B5EF4-FFF2-40B4-BE49-F238E27FC236}">
                <a16:creationId xmlns:a16="http://schemas.microsoft.com/office/drawing/2014/main" id="{28E386AB-C379-4D25-B604-5ABF63B69B4E}"/>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33" name="Text 31">
            <a:extLst>
              <a:ext uri="{FF2B5EF4-FFF2-40B4-BE49-F238E27FC236}">
                <a16:creationId xmlns:a16="http://schemas.microsoft.com/office/drawing/2014/main" id="{E391C922-15F1-4C85-AFA3-EDB189134F04}"/>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Tree>
    <p:extLst>
      <p:ext uri="{BB962C8B-B14F-4D97-AF65-F5344CB8AC3E}">
        <p14:creationId xmlns:p14="http://schemas.microsoft.com/office/powerpoint/2010/main" val="3100996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05CF088-86D1-4237-A8B6-86340931FA7C}"/>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847F890F-7C13-4F2A-84C6-BDC693CD35C7}"/>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7BB5CAB5-B296-4B90-B816-7720A845B7AF}"/>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93315444-6A06-4975-AAB4-F93BEAD99811}"/>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2FCAFC4E-8771-4726-B3C7-8BB4CF1BA10D}"/>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924EE4AA-ADBB-4B97-B2B8-D00FB2CB1693}"/>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7658BA90-9699-4AD7-B234-9BA2DF0BB11E}"/>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7F04B3A0-9ED9-4019-A5D3-4CE94D0DEC95}"/>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14</a:t>
            </a:r>
          </a:p>
        </p:txBody>
      </p:sp>
      <p:sp>
        <p:nvSpPr>
          <p:cNvPr id="10" name="Text 8">
            <a:extLst>
              <a:ext uri="{FF2B5EF4-FFF2-40B4-BE49-F238E27FC236}">
                <a16:creationId xmlns:a16="http://schemas.microsoft.com/office/drawing/2014/main" id="{BDFECAF7-7624-4B06-8A6D-78057E0F3E84}"/>
              </a:ext>
            </a:extLst>
          </p:cNvPr>
          <p:cNvSpPr>
            <a:spLocks noGrp="1"/>
          </p:cNvSpPr>
          <p:nvPr/>
        </p:nvSpPr>
        <p:spPr>
          <a:xfrm>
            <a:off x="658368" y="868680"/>
            <a:ext cx="10698480" cy="411480"/>
          </a:xfrm>
          <a:prstGeom prst="rect">
            <a:avLst/>
          </a:prstGeom>
          <a:noFill/>
        </p:spPr>
        <p:txBody>
          <a:bodyPr wrap="square" lIns="0" tIns="0" rIns="0" bIns="0" anchor="ctr">
            <a:normAutofit fontScale="88235" lnSpcReduction="20000"/>
          </a:bodyPr>
          <a:lstStyle/>
          <a:p>
            <a:pPr marL="0" indent="0">
              <a:buNone/>
            </a:pPr>
            <a:r>
              <a:rPr sz="3400" b="1">
                <a:solidFill>
                  <a:srgbClr val="07245A"/>
                </a:solidFill>
                <a:latin typeface="Aptos Display"/>
                <a:ea typeface="Aptos Display"/>
                <a:cs typeface="Aptos Display"/>
              </a:rPr>
              <a:t>Jerarquía de almacenamiento</a:t>
            </a:r>
          </a:p>
        </p:txBody>
      </p:sp>
      <p:sp>
        <p:nvSpPr>
          <p:cNvPr id="11" name="Shape 9">
            <a:extLst>
              <a:ext uri="{FF2B5EF4-FFF2-40B4-BE49-F238E27FC236}">
                <a16:creationId xmlns:a16="http://schemas.microsoft.com/office/drawing/2014/main" id="{E235F766-8095-40E7-8FB7-7BAB365E9F39}"/>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DCA4F053-8464-4768-A38C-A17DBDE4DE3E}"/>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Los nombres cambian, el patrón se repite.</a:t>
            </a:r>
          </a:p>
        </p:txBody>
      </p:sp>
      <p:sp>
        <p:nvSpPr>
          <p:cNvPr id="13" name="Shape 11">
            <a:extLst>
              <a:ext uri="{FF2B5EF4-FFF2-40B4-BE49-F238E27FC236}">
                <a16:creationId xmlns:a16="http://schemas.microsoft.com/office/drawing/2014/main" id="{C63EEA6D-0E00-40F3-9341-1FF53F90E8CA}"/>
              </a:ext>
            </a:extLst>
          </p:cNvPr>
          <p:cNvSpPr>
            <a:spLocks noGrp="1"/>
          </p:cNvSpPr>
          <p:nvPr/>
        </p:nvSpPr>
        <p:spPr>
          <a:xfrm>
            <a:off x="91440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14" name="Shape 12">
            <a:extLst>
              <a:ext uri="{FF2B5EF4-FFF2-40B4-BE49-F238E27FC236}">
                <a16:creationId xmlns:a16="http://schemas.microsoft.com/office/drawing/2014/main" id="{27906FF5-28C3-4BCE-9230-D8D754E343A5}"/>
              </a:ext>
            </a:extLst>
          </p:cNvPr>
          <p:cNvSpPr>
            <a:spLocks noGrp="1"/>
          </p:cNvSpPr>
          <p:nvPr/>
        </p:nvSpPr>
        <p:spPr>
          <a:xfrm>
            <a:off x="1078992" y="1984248"/>
            <a:ext cx="438912" cy="438912"/>
          </a:xfrm>
          <a:prstGeom prst="ellipse">
            <a:avLst/>
          </a:prstGeom>
          <a:solidFill>
            <a:srgbClr val="EAF8FC"/>
          </a:solidFill>
          <a:ln w="10160">
            <a:solidFill>
              <a:srgbClr val="D5EEF7"/>
            </a:solidFill>
            <a:prstDash val="solid"/>
          </a:ln>
        </p:spPr>
        <p:txBody>
          <a:bodyPr/>
          <a:lstStyle/>
          <a:p>
            <a:endParaRPr/>
          </a:p>
        </p:txBody>
      </p:sp>
      <p:sp>
        <p:nvSpPr>
          <p:cNvPr id="15" name="Text 13">
            <a:extLst>
              <a:ext uri="{FF2B5EF4-FFF2-40B4-BE49-F238E27FC236}">
                <a16:creationId xmlns:a16="http://schemas.microsoft.com/office/drawing/2014/main" id="{8E110575-9924-4A24-8884-A28E9FB4DF15}"/>
              </a:ext>
            </a:extLst>
          </p:cNvPr>
          <p:cNvSpPr>
            <a:spLocks noGrp="1"/>
          </p:cNvSpPr>
          <p:nvPr/>
        </p:nvSpPr>
        <p:spPr>
          <a:xfrm>
            <a:off x="1078992" y="2043684"/>
            <a:ext cx="438912" cy="228600"/>
          </a:xfrm>
          <a:prstGeom prst="rect">
            <a:avLst/>
          </a:prstGeom>
          <a:noFill/>
        </p:spPr>
        <p:txBody>
          <a:bodyPr wrap="square" lIns="0" tIns="0" rIns="0" bIns="0" anchor="ctr"/>
          <a:lstStyle/>
          <a:p>
            <a:pPr marL="0" indent="0" algn="ctr">
              <a:buNone/>
            </a:pPr>
            <a:r>
              <a:rPr sz="1550">
                <a:solidFill>
                  <a:srgbClr val="17B7D7"/>
                </a:solidFill>
              </a:rPr>
              <a:t>1</a:t>
            </a:r>
          </a:p>
        </p:txBody>
      </p:sp>
      <p:sp>
        <p:nvSpPr>
          <p:cNvPr id="16" name="Text 14">
            <a:extLst>
              <a:ext uri="{FF2B5EF4-FFF2-40B4-BE49-F238E27FC236}">
                <a16:creationId xmlns:a16="http://schemas.microsoft.com/office/drawing/2014/main" id="{1F68C214-B521-4066-9D3A-42A47BEA2852}"/>
              </a:ext>
            </a:extLst>
          </p:cNvPr>
          <p:cNvSpPr>
            <a:spLocks noGrp="1"/>
          </p:cNvSpPr>
          <p:nvPr/>
        </p:nvSpPr>
        <p:spPr>
          <a:xfrm>
            <a:off x="160020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Página</a:t>
            </a:r>
          </a:p>
        </p:txBody>
      </p:sp>
      <p:sp>
        <p:nvSpPr>
          <p:cNvPr id="17" name="Shape 15">
            <a:extLst>
              <a:ext uri="{FF2B5EF4-FFF2-40B4-BE49-F238E27FC236}">
                <a16:creationId xmlns:a16="http://schemas.microsoft.com/office/drawing/2014/main" id="{520B91C2-EF3C-4B81-A26F-17D73073C2AE}"/>
              </a:ext>
            </a:extLst>
          </p:cNvPr>
          <p:cNvSpPr>
            <a:spLocks noGrp="1"/>
          </p:cNvSpPr>
          <p:nvPr/>
        </p:nvSpPr>
        <p:spPr>
          <a:xfrm>
            <a:off x="1600200" y="2313432"/>
            <a:ext cx="411480" cy="0"/>
          </a:xfrm>
          <a:prstGeom prst="line">
            <a:avLst/>
          </a:prstGeom>
          <a:noFill/>
          <a:ln w="22860">
            <a:solidFill>
              <a:srgbClr val="17B7D7"/>
            </a:solidFill>
            <a:prstDash val="solid"/>
          </a:ln>
        </p:spPr>
        <p:txBody>
          <a:bodyPr/>
          <a:lstStyle/>
          <a:p>
            <a:endParaRPr/>
          </a:p>
        </p:txBody>
      </p:sp>
      <p:sp>
        <p:nvSpPr>
          <p:cNvPr id="18" name="Text 16">
            <a:extLst>
              <a:ext uri="{FF2B5EF4-FFF2-40B4-BE49-F238E27FC236}">
                <a16:creationId xmlns:a16="http://schemas.microsoft.com/office/drawing/2014/main" id="{B4396596-5CDA-4DBE-8878-C0F74DCD22B4}"/>
              </a:ext>
            </a:extLst>
          </p:cNvPr>
          <p:cNvSpPr>
            <a:spLocks noGrp="1"/>
          </p:cNvSpPr>
          <p:nvPr/>
        </p:nvSpPr>
        <p:spPr>
          <a:xfrm>
            <a:off x="111556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Unidad básica administrada por el motor.</a:t>
            </a:r>
          </a:p>
        </p:txBody>
      </p:sp>
      <p:sp>
        <p:nvSpPr>
          <p:cNvPr id="19" name="Shape 17">
            <a:extLst>
              <a:ext uri="{FF2B5EF4-FFF2-40B4-BE49-F238E27FC236}">
                <a16:creationId xmlns:a16="http://schemas.microsoft.com/office/drawing/2014/main" id="{8147991A-6C9F-439E-B048-C7F909634508}"/>
              </a:ext>
            </a:extLst>
          </p:cNvPr>
          <p:cNvSpPr>
            <a:spLocks noGrp="1"/>
          </p:cNvSpPr>
          <p:nvPr/>
        </p:nvSpPr>
        <p:spPr>
          <a:xfrm>
            <a:off x="452628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0" name="Shape 18">
            <a:extLst>
              <a:ext uri="{FF2B5EF4-FFF2-40B4-BE49-F238E27FC236}">
                <a16:creationId xmlns:a16="http://schemas.microsoft.com/office/drawing/2014/main" id="{9EF733E9-A002-4C96-90E6-E896672B3CFD}"/>
              </a:ext>
            </a:extLst>
          </p:cNvPr>
          <p:cNvSpPr>
            <a:spLocks noGrp="1"/>
          </p:cNvSpPr>
          <p:nvPr/>
        </p:nvSpPr>
        <p:spPr>
          <a:xfrm>
            <a:off x="4690872" y="1984248"/>
            <a:ext cx="438912" cy="438912"/>
          </a:xfrm>
          <a:prstGeom prst="ellipse">
            <a:avLst/>
          </a:prstGeom>
          <a:solidFill>
            <a:srgbClr val="EAF8FC"/>
          </a:solidFill>
          <a:ln w="10160">
            <a:solidFill>
              <a:srgbClr val="D5EEF7"/>
            </a:solidFill>
            <a:prstDash val="solid"/>
          </a:ln>
        </p:spPr>
        <p:txBody>
          <a:bodyPr/>
          <a:lstStyle/>
          <a:p>
            <a:endParaRPr/>
          </a:p>
        </p:txBody>
      </p:sp>
      <p:sp>
        <p:nvSpPr>
          <p:cNvPr id="21" name="Text 19">
            <a:extLst>
              <a:ext uri="{FF2B5EF4-FFF2-40B4-BE49-F238E27FC236}">
                <a16:creationId xmlns:a16="http://schemas.microsoft.com/office/drawing/2014/main" id="{9D24A6A4-8B9E-4BFB-81F6-61A64001216C}"/>
              </a:ext>
            </a:extLst>
          </p:cNvPr>
          <p:cNvSpPr>
            <a:spLocks noGrp="1"/>
          </p:cNvSpPr>
          <p:nvPr/>
        </p:nvSpPr>
        <p:spPr>
          <a:xfrm>
            <a:off x="4690872" y="2043684"/>
            <a:ext cx="438912" cy="228600"/>
          </a:xfrm>
          <a:prstGeom prst="rect">
            <a:avLst/>
          </a:prstGeom>
          <a:noFill/>
        </p:spPr>
        <p:txBody>
          <a:bodyPr wrap="square" lIns="0" tIns="0" rIns="0" bIns="0" anchor="ctr"/>
          <a:lstStyle/>
          <a:p>
            <a:pPr marL="0" indent="0" algn="ctr">
              <a:buNone/>
            </a:pPr>
            <a:r>
              <a:rPr sz="1550">
                <a:solidFill>
                  <a:srgbClr val="17B7D7"/>
                </a:solidFill>
              </a:rPr>
              <a:t>2</a:t>
            </a:r>
          </a:p>
        </p:txBody>
      </p:sp>
      <p:sp>
        <p:nvSpPr>
          <p:cNvPr id="22" name="Text 20">
            <a:extLst>
              <a:ext uri="{FF2B5EF4-FFF2-40B4-BE49-F238E27FC236}">
                <a16:creationId xmlns:a16="http://schemas.microsoft.com/office/drawing/2014/main" id="{53B490FB-80F7-46A0-9B9C-886B1DD8EBF9}"/>
              </a:ext>
            </a:extLst>
          </p:cNvPr>
          <p:cNvSpPr>
            <a:spLocks noGrp="1"/>
          </p:cNvSpPr>
          <p:nvPr/>
        </p:nvSpPr>
        <p:spPr>
          <a:xfrm>
            <a:off x="521208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Extensión</a:t>
            </a:r>
          </a:p>
        </p:txBody>
      </p:sp>
      <p:sp>
        <p:nvSpPr>
          <p:cNvPr id="23" name="Shape 21">
            <a:extLst>
              <a:ext uri="{FF2B5EF4-FFF2-40B4-BE49-F238E27FC236}">
                <a16:creationId xmlns:a16="http://schemas.microsoft.com/office/drawing/2014/main" id="{D3F3A3F9-DEBD-4625-95BC-DAAAB52868A2}"/>
              </a:ext>
            </a:extLst>
          </p:cNvPr>
          <p:cNvSpPr>
            <a:spLocks noGrp="1"/>
          </p:cNvSpPr>
          <p:nvPr/>
        </p:nvSpPr>
        <p:spPr>
          <a:xfrm>
            <a:off x="5212080" y="2313432"/>
            <a:ext cx="411480" cy="0"/>
          </a:xfrm>
          <a:prstGeom prst="line">
            <a:avLst/>
          </a:prstGeom>
          <a:noFill/>
          <a:ln w="22860">
            <a:solidFill>
              <a:srgbClr val="17B7D7"/>
            </a:solidFill>
            <a:prstDash val="solid"/>
          </a:ln>
        </p:spPr>
        <p:txBody>
          <a:bodyPr/>
          <a:lstStyle/>
          <a:p>
            <a:endParaRPr/>
          </a:p>
        </p:txBody>
      </p:sp>
      <p:sp>
        <p:nvSpPr>
          <p:cNvPr id="24" name="Text 22">
            <a:extLst>
              <a:ext uri="{FF2B5EF4-FFF2-40B4-BE49-F238E27FC236}">
                <a16:creationId xmlns:a16="http://schemas.microsoft.com/office/drawing/2014/main" id="{E9610762-B4D3-4DD8-9CCD-A0F730F6ECB5}"/>
              </a:ext>
            </a:extLst>
          </p:cNvPr>
          <p:cNvSpPr>
            <a:spLocks noGrp="1"/>
          </p:cNvSpPr>
          <p:nvPr/>
        </p:nvSpPr>
        <p:spPr>
          <a:xfrm>
            <a:off x="472744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Conjunto de páginas asignadas.</a:t>
            </a:r>
          </a:p>
        </p:txBody>
      </p:sp>
      <p:sp>
        <p:nvSpPr>
          <p:cNvPr id="25" name="Shape 23">
            <a:extLst>
              <a:ext uri="{FF2B5EF4-FFF2-40B4-BE49-F238E27FC236}">
                <a16:creationId xmlns:a16="http://schemas.microsoft.com/office/drawing/2014/main" id="{CCEF4718-176D-45F0-B2D4-BF2C7E320CBA}"/>
              </a:ext>
            </a:extLst>
          </p:cNvPr>
          <p:cNvSpPr>
            <a:spLocks noGrp="1"/>
          </p:cNvSpPr>
          <p:nvPr/>
        </p:nvSpPr>
        <p:spPr>
          <a:xfrm>
            <a:off x="813816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6" name="Shape 24">
            <a:extLst>
              <a:ext uri="{FF2B5EF4-FFF2-40B4-BE49-F238E27FC236}">
                <a16:creationId xmlns:a16="http://schemas.microsoft.com/office/drawing/2014/main" id="{8D44E5AE-8A67-4853-B244-F81052A007F4}"/>
              </a:ext>
            </a:extLst>
          </p:cNvPr>
          <p:cNvSpPr>
            <a:spLocks noGrp="1"/>
          </p:cNvSpPr>
          <p:nvPr/>
        </p:nvSpPr>
        <p:spPr>
          <a:xfrm>
            <a:off x="8302752" y="1984248"/>
            <a:ext cx="438912" cy="438912"/>
          </a:xfrm>
          <a:prstGeom prst="ellipse">
            <a:avLst/>
          </a:prstGeom>
          <a:solidFill>
            <a:srgbClr val="EAF8FC"/>
          </a:solidFill>
          <a:ln w="10160">
            <a:solidFill>
              <a:srgbClr val="D5EEF7"/>
            </a:solidFill>
            <a:prstDash val="solid"/>
          </a:ln>
        </p:spPr>
        <p:txBody>
          <a:bodyPr/>
          <a:lstStyle/>
          <a:p>
            <a:endParaRPr/>
          </a:p>
        </p:txBody>
      </p:sp>
      <p:sp>
        <p:nvSpPr>
          <p:cNvPr id="27" name="Text 25">
            <a:extLst>
              <a:ext uri="{FF2B5EF4-FFF2-40B4-BE49-F238E27FC236}">
                <a16:creationId xmlns:a16="http://schemas.microsoft.com/office/drawing/2014/main" id="{1E839E76-0723-4E97-92D6-AA1B56FF2E71}"/>
              </a:ext>
            </a:extLst>
          </p:cNvPr>
          <p:cNvSpPr>
            <a:spLocks noGrp="1"/>
          </p:cNvSpPr>
          <p:nvPr/>
        </p:nvSpPr>
        <p:spPr>
          <a:xfrm>
            <a:off x="8302752" y="2043684"/>
            <a:ext cx="438912" cy="228600"/>
          </a:xfrm>
          <a:prstGeom prst="rect">
            <a:avLst/>
          </a:prstGeom>
          <a:noFill/>
        </p:spPr>
        <p:txBody>
          <a:bodyPr wrap="square" lIns="0" tIns="0" rIns="0" bIns="0" anchor="ctr"/>
          <a:lstStyle/>
          <a:p>
            <a:pPr marL="0" indent="0" algn="ctr">
              <a:buNone/>
            </a:pPr>
            <a:r>
              <a:rPr sz="1550">
                <a:solidFill>
                  <a:srgbClr val="17B7D7"/>
                </a:solidFill>
              </a:rPr>
              <a:t>3</a:t>
            </a:r>
          </a:p>
        </p:txBody>
      </p:sp>
      <p:sp>
        <p:nvSpPr>
          <p:cNvPr id="28" name="Text 26">
            <a:extLst>
              <a:ext uri="{FF2B5EF4-FFF2-40B4-BE49-F238E27FC236}">
                <a16:creationId xmlns:a16="http://schemas.microsoft.com/office/drawing/2014/main" id="{39EAD97E-ACE2-4547-A6C7-EC305192AC81}"/>
              </a:ext>
            </a:extLst>
          </p:cNvPr>
          <p:cNvSpPr>
            <a:spLocks noGrp="1"/>
          </p:cNvSpPr>
          <p:nvPr/>
        </p:nvSpPr>
        <p:spPr>
          <a:xfrm>
            <a:off x="882396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Objeto</a:t>
            </a:r>
          </a:p>
        </p:txBody>
      </p:sp>
      <p:sp>
        <p:nvSpPr>
          <p:cNvPr id="29" name="Shape 27">
            <a:extLst>
              <a:ext uri="{FF2B5EF4-FFF2-40B4-BE49-F238E27FC236}">
                <a16:creationId xmlns:a16="http://schemas.microsoft.com/office/drawing/2014/main" id="{FCA73888-782F-4505-B3DD-DA63AA7D156F}"/>
              </a:ext>
            </a:extLst>
          </p:cNvPr>
          <p:cNvSpPr>
            <a:spLocks noGrp="1"/>
          </p:cNvSpPr>
          <p:nvPr/>
        </p:nvSpPr>
        <p:spPr>
          <a:xfrm>
            <a:off x="8823960" y="2313432"/>
            <a:ext cx="411480" cy="0"/>
          </a:xfrm>
          <a:prstGeom prst="line">
            <a:avLst/>
          </a:prstGeom>
          <a:noFill/>
          <a:ln w="22860">
            <a:solidFill>
              <a:srgbClr val="17B7D7"/>
            </a:solidFill>
            <a:prstDash val="solid"/>
          </a:ln>
        </p:spPr>
        <p:txBody>
          <a:bodyPr/>
          <a:lstStyle/>
          <a:p>
            <a:endParaRPr/>
          </a:p>
        </p:txBody>
      </p:sp>
      <p:sp>
        <p:nvSpPr>
          <p:cNvPr id="30" name="Text 28">
            <a:extLst>
              <a:ext uri="{FF2B5EF4-FFF2-40B4-BE49-F238E27FC236}">
                <a16:creationId xmlns:a16="http://schemas.microsoft.com/office/drawing/2014/main" id="{DD936180-33BC-4320-BA9F-81FA74FC0275}"/>
              </a:ext>
            </a:extLst>
          </p:cNvPr>
          <p:cNvSpPr>
            <a:spLocks noGrp="1"/>
          </p:cNvSpPr>
          <p:nvPr/>
        </p:nvSpPr>
        <p:spPr>
          <a:xfrm>
            <a:off x="833932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Tabla o índice ocupa segmentos y archivos.</a:t>
            </a:r>
          </a:p>
        </p:txBody>
      </p:sp>
      <p:sp>
        <p:nvSpPr>
          <p:cNvPr id="31" name="Text 29">
            <a:extLst>
              <a:ext uri="{FF2B5EF4-FFF2-40B4-BE49-F238E27FC236}">
                <a16:creationId xmlns:a16="http://schemas.microsoft.com/office/drawing/2014/main" id="{5BD4C6CA-B995-4864-9406-0372256BA931}"/>
              </a:ext>
            </a:extLst>
          </p:cNvPr>
          <p:cNvSpPr>
            <a:spLocks noGrp="1"/>
          </p:cNvSpPr>
          <p:nvPr/>
        </p:nvSpPr>
        <p:spPr>
          <a:xfrm>
            <a:off x="914400" y="4800600"/>
            <a:ext cx="10332720" cy="411480"/>
          </a:xfrm>
          <a:prstGeom prst="rect">
            <a:avLst/>
          </a:prstGeom>
          <a:noFill/>
        </p:spPr>
        <p:txBody>
          <a:bodyPr wrap="square" anchor="ctr"/>
          <a:lstStyle/>
          <a:p>
            <a:pPr marL="0" indent="0" algn="ctr">
              <a:buNone/>
            </a:pPr>
            <a:r>
              <a:rPr sz="1800" b="1">
                <a:solidFill>
                  <a:srgbClr val="07245A"/>
                </a:solidFill>
              </a:rPr>
              <a:t>Comprender la jerarquía ayuda a explicar espacio y rendimiento.</a:t>
            </a:r>
          </a:p>
        </p:txBody>
      </p:sp>
      <p:sp>
        <p:nvSpPr>
          <p:cNvPr id="32" name="Shape 30">
            <a:extLst>
              <a:ext uri="{FF2B5EF4-FFF2-40B4-BE49-F238E27FC236}">
                <a16:creationId xmlns:a16="http://schemas.microsoft.com/office/drawing/2014/main" id="{48DEFDF8-4233-43D1-ABC6-22926B0A171A}"/>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33" name="Text 31">
            <a:extLst>
              <a:ext uri="{FF2B5EF4-FFF2-40B4-BE49-F238E27FC236}">
                <a16:creationId xmlns:a16="http://schemas.microsoft.com/office/drawing/2014/main" id="{B6AAE201-650E-4F2F-8FFF-27F1A0DEDA4A}"/>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pic>
        <p:nvPicPr>
          <p:cNvPr id="39" name="Imagen 38">
            <a:extLst>
              <a:ext uri="{FF2B5EF4-FFF2-40B4-BE49-F238E27FC236}">
                <a16:creationId xmlns:a16="http://schemas.microsoft.com/office/drawing/2014/main" id="{D84C1771-5F80-AEEB-B86C-5146872142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6240" y="0"/>
            <a:ext cx="11795759" cy="6858000"/>
          </a:xfrm>
          <a:prstGeom prst="rect">
            <a:avLst/>
          </a:prstGeom>
        </p:spPr>
      </p:pic>
    </p:spTree>
    <p:extLst>
      <p:ext uri="{BB962C8B-B14F-4D97-AF65-F5344CB8AC3E}">
        <p14:creationId xmlns:p14="http://schemas.microsoft.com/office/powerpoint/2010/main" val="968378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05CF088-86D1-4237-A8B6-86340931FA7C}"/>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847F890F-7C13-4F2A-84C6-BDC693CD35C7}"/>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7BB5CAB5-B296-4B90-B816-7720A845B7AF}"/>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93315444-6A06-4975-AAB4-F93BEAD99811}"/>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2FCAFC4E-8771-4726-B3C7-8BB4CF1BA10D}"/>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924EE4AA-ADBB-4B97-B2B8-D00FB2CB1693}"/>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7658BA90-9699-4AD7-B234-9BA2DF0BB11E}"/>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7F04B3A0-9ED9-4019-A5D3-4CE94D0DEC95}"/>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15</a:t>
            </a:r>
          </a:p>
        </p:txBody>
      </p:sp>
      <p:sp>
        <p:nvSpPr>
          <p:cNvPr id="10" name="Text 8">
            <a:extLst>
              <a:ext uri="{FF2B5EF4-FFF2-40B4-BE49-F238E27FC236}">
                <a16:creationId xmlns:a16="http://schemas.microsoft.com/office/drawing/2014/main" id="{BDFECAF7-7624-4B06-8A6D-78057E0F3E84}"/>
              </a:ext>
            </a:extLst>
          </p:cNvPr>
          <p:cNvSpPr>
            <a:spLocks noGrp="1"/>
          </p:cNvSpPr>
          <p:nvPr/>
        </p:nvSpPr>
        <p:spPr>
          <a:xfrm>
            <a:off x="658368" y="868680"/>
            <a:ext cx="10698480" cy="411480"/>
          </a:xfrm>
          <a:prstGeom prst="rect">
            <a:avLst/>
          </a:prstGeom>
          <a:noFill/>
        </p:spPr>
        <p:txBody>
          <a:bodyPr wrap="square" lIns="0" tIns="0" rIns="0" bIns="0" anchor="ctr">
            <a:normAutofit fontScale="88235" lnSpcReduction="20000"/>
          </a:bodyPr>
          <a:lstStyle/>
          <a:p>
            <a:pPr marL="0" indent="0">
              <a:buNone/>
            </a:pPr>
            <a:r>
              <a:rPr sz="3400" b="1">
                <a:solidFill>
                  <a:srgbClr val="07245A"/>
                </a:solidFill>
                <a:latin typeface="Aptos Display"/>
                <a:ea typeface="Aptos Display"/>
                <a:cs typeface="Aptos Display"/>
              </a:rPr>
              <a:t>Agrupación de archivos</a:t>
            </a:r>
          </a:p>
        </p:txBody>
      </p:sp>
      <p:sp>
        <p:nvSpPr>
          <p:cNvPr id="11" name="Shape 9">
            <a:extLst>
              <a:ext uri="{FF2B5EF4-FFF2-40B4-BE49-F238E27FC236}">
                <a16:creationId xmlns:a16="http://schemas.microsoft.com/office/drawing/2014/main" id="{E235F766-8095-40E7-8FB7-7BAB365E9F39}"/>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DCA4F053-8464-4768-A38C-A17DBDE4DE3E}"/>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Cada motor ofrece estructuras con funciones comparables.</a:t>
            </a:r>
          </a:p>
        </p:txBody>
      </p:sp>
      <p:sp>
        <p:nvSpPr>
          <p:cNvPr id="13" name="Shape 11">
            <a:extLst>
              <a:ext uri="{FF2B5EF4-FFF2-40B4-BE49-F238E27FC236}">
                <a16:creationId xmlns:a16="http://schemas.microsoft.com/office/drawing/2014/main" id="{C63EEA6D-0E00-40F3-9341-1FF53F90E8CA}"/>
              </a:ext>
            </a:extLst>
          </p:cNvPr>
          <p:cNvSpPr>
            <a:spLocks noGrp="1"/>
          </p:cNvSpPr>
          <p:nvPr/>
        </p:nvSpPr>
        <p:spPr>
          <a:xfrm>
            <a:off x="91440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14" name="Shape 12">
            <a:extLst>
              <a:ext uri="{FF2B5EF4-FFF2-40B4-BE49-F238E27FC236}">
                <a16:creationId xmlns:a16="http://schemas.microsoft.com/office/drawing/2014/main" id="{27906FF5-28C3-4BCE-9230-D8D754E343A5}"/>
              </a:ext>
            </a:extLst>
          </p:cNvPr>
          <p:cNvSpPr>
            <a:spLocks noGrp="1"/>
          </p:cNvSpPr>
          <p:nvPr/>
        </p:nvSpPr>
        <p:spPr>
          <a:xfrm>
            <a:off x="1078992" y="1984248"/>
            <a:ext cx="438912" cy="438912"/>
          </a:xfrm>
          <a:prstGeom prst="ellipse">
            <a:avLst/>
          </a:prstGeom>
          <a:solidFill>
            <a:srgbClr val="EAF8FC"/>
          </a:solidFill>
          <a:ln w="10160">
            <a:solidFill>
              <a:srgbClr val="D5EEF7"/>
            </a:solidFill>
            <a:prstDash val="solid"/>
          </a:ln>
        </p:spPr>
        <p:txBody>
          <a:bodyPr/>
          <a:lstStyle/>
          <a:p>
            <a:endParaRPr/>
          </a:p>
        </p:txBody>
      </p:sp>
      <p:sp>
        <p:nvSpPr>
          <p:cNvPr id="15" name="Text 13">
            <a:extLst>
              <a:ext uri="{FF2B5EF4-FFF2-40B4-BE49-F238E27FC236}">
                <a16:creationId xmlns:a16="http://schemas.microsoft.com/office/drawing/2014/main" id="{8E110575-9924-4A24-8884-A28E9FB4DF15}"/>
              </a:ext>
            </a:extLst>
          </p:cNvPr>
          <p:cNvSpPr>
            <a:spLocks noGrp="1"/>
          </p:cNvSpPr>
          <p:nvPr/>
        </p:nvSpPr>
        <p:spPr>
          <a:xfrm>
            <a:off x="1078992" y="2043684"/>
            <a:ext cx="438912" cy="228600"/>
          </a:xfrm>
          <a:prstGeom prst="rect">
            <a:avLst/>
          </a:prstGeom>
          <a:noFill/>
        </p:spPr>
        <p:txBody>
          <a:bodyPr wrap="square" lIns="0" tIns="0" rIns="0" bIns="0" anchor="ctr"/>
          <a:lstStyle/>
          <a:p>
            <a:pPr marL="0" indent="0" algn="ctr">
              <a:buNone/>
            </a:pPr>
            <a:r>
              <a:rPr sz="1550">
                <a:solidFill>
                  <a:srgbClr val="17B7D7"/>
                </a:solidFill>
              </a:rPr>
              <a:t>1</a:t>
            </a:r>
          </a:p>
        </p:txBody>
      </p:sp>
      <p:sp>
        <p:nvSpPr>
          <p:cNvPr id="16" name="Text 14">
            <a:extLst>
              <a:ext uri="{FF2B5EF4-FFF2-40B4-BE49-F238E27FC236}">
                <a16:creationId xmlns:a16="http://schemas.microsoft.com/office/drawing/2014/main" id="{1F68C214-B521-4066-9D3A-42A47BEA2852}"/>
              </a:ext>
            </a:extLst>
          </p:cNvPr>
          <p:cNvSpPr>
            <a:spLocks noGrp="1"/>
          </p:cNvSpPr>
          <p:nvPr/>
        </p:nvSpPr>
        <p:spPr>
          <a:xfrm>
            <a:off x="160020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PostgreSQL</a:t>
            </a:r>
          </a:p>
        </p:txBody>
      </p:sp>
      <p:sp>
        <p:nvSpPr>
          <p:cNvPr id="17" name="Shape 15">
            <a:extLst>
              <a:ext uri="{FF2B5EF4-FFF2-40B4-BE49-F238E27FC236}">
                <a16:creationId xmlns:a16="http://schemas.microsoft.com/office/drawing/2014/main" id="{520B91C2-EF3C-4B81-A26F-17D73073C2AE}"/>
              </a:ext>
            </a:extLst>
          </p:cNvPr>
          <p:cNvSpPr>
            <a:spLocks noGrp="1"/>
          </p:cNvSpPr>
          <p:nvPr/>
        </p:nvSpPr>
        <p:spPr>
          <a:xfrm>
            <a:off x="1600200" y="2313432"/>
            <a:ext cx="411480" cy="0"/>
          </a:xfrm>
          <a:prstGeom prst="line">
            <a:avLst/>
          </a:prstGeom>
          <a:noFill/>
          <a:ln w="22860">
            <a:solidFill>
              <a:srgbClr val="17B7D7"/>
            </a:solidFill>
            <a:prstDash val="solid"/>
          </a:ln>
        </p:spPr>
        <p:txBody>
          <a:bodyPr/>
          <a:lstStyle/>
          <a:p>
            <a:endParaRPr/>
          </a:p>
        </p:txBody>
      </p:sp>
      <p:sp>
        <p:nvSpPr>
          <p:cNvPr id="18" name="Text 16">
            <a:extLst>
              <a:ext uri="{FF2B5EF4-FFF2-40B4-BE49-F238E27FC236}">
                <a16:creationId xmlns:a16="http://schemas.microsoft.com/office/drawing/2014/main" id="{B4396596-5CDA-4DBE-8878-C0F74DCD22B4}"/>
              </a:ext>
            </a:extLst>
          </p:cNvPr>
          <p:cNvSpPr>
            <a:spLocks noGrp="1"/>
          </p:cNvSpPr>
          <p:nvPr/>
        </p:nvSpPr>
        <p:spPr>
          <a:xfrm>
            <a:off x="111556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Tablespaces.</a:t>
            </a:r>
          </a:p>
        </p:txBody>
      </p:sp>
      <p:sp>
        <p:nvSpPr>
          <p:cNvPr id="19" name="Shape 17">
            <a:extLst>
              <a:ext uri="{FF2B5EF4-FFF2-40B4-BE49-F238E27FC236}">
                <a16:creationId xmlns:a16="http://schemas.microsoft.com/office/drawing/2014/main" id="{8147991A-6C9F-439E-B048-C7F909634508}"/>
              </a:ext>
            </a:extLst>
          </p:cNvPr>
          <p:cNvSpPr>
            <a:spLocks noGrp="1"/>
          </p:cNvSpPr>
          <p:nvPr/>
        </p:nvSpPr>
        <p:spPr>
          <a:xfrm>
            <a:off x="452628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0" name="Shape 18">
            <a:extLst>
              <a:ext uri="{FF2B5EF4-FFF2-40B4-BE49-F238E27FC236}">
                <a16:creationId xmlns:a16="http://schemas.microsoft.com/office/drawing/2014/main" id="{9EF733E9-A002-4C96-90E6-E896672B3CFD}"/>
              </a:ext>
            </a:extLst>
          </p:cNvPr>
          <p:cNvSpPr>
            <a:spLocks noGrp="1"/>
          </p:cNvSpPr>
          <p:nvPr/>
        </p:nvSpPr>
        <p:spPr>
          <a:xfrm>
            <a:off x="4690872" y="1984248"/>
            <a:ext cx="438912" cy="438912"/>
          </a:xfrm>
          <a:prstGeom prst="ellipse">
            <a:avLst/>
          </a:prstGeom>
          <a:solidFill>
            <a:srgbClr val="EAF8FC"/>
          </a:solidFill>
          <a:ln w="10160">
            <a:solidFill>
              <a:srgbClr val="D5EEF7"/>
            </a:solidFill>
            <a:prstDash val="solid"/>
          </a:ln>
        </p:spPr>
        <p:txBody>
          <a:bodyPr/>
          <a:lstStyle/>
          <a:p>
            <a:endParaRPr/>
          </a:p>
        </p:txBody>
      </p:sp>
      <p:sp>
        <p:nvSpPr>
          <p:cNvPr id="21" name="Text 19">
            <a:extLst>
              <a:ext uri="{FF2B5EF4-FFF2-40B4-BE49-F238E27FC236}">
                <a16:creationId xmlns:a16="http://schemas.microsoft.com/office/drawing/2014/main" id="{9D24A6A4-8B9E-4BFB-81F6-61A64001216C}"/>
              </a:ext>
            </a:extLst>
          </p:cNvPr>
          <p:cNvSpPr>
            <a:spLocks noGrp="1"/>
          </p:cNvSpPr>
          <p:nvPr/>
        </p:nvSpPr>
        <p:spPr>
          <a:xfrm>
            <a:off x="4690872" y="2043684"/>
            <a:ext cx="438912" cy="228600"/>
          </a:xfrm>
          <a:prstGeom prst="rect">
            <a:avLst/>
          </a:prstGeom>
          <a:noFill/>
        </p:spPr>
        <p:txBody>
          <a:bodyPr wrap="square" lIns="0" tIns="0" rIns="0" bIns="0" anchor="ctr"/>
          <a:lstStyle/>
          <a:p>
            <a:pPr marL="0" indent="0" algn="ctr">
              <a:buNone/>
            </a:pPr>
            <a:r>
              <a:rPr sz="1550">
                <a:solidFill>
                  <a:srgbClr val="17B7D7"/>
                </a:solidFill>
              </a:rPr>
              <a:t>2</a:t>
            </a:r>
          </a:p>
        </p:txBody>
      </p:sp>
      <p:sp>
        <p:nvSpPr>
          <p:cNvPr id="22" name="Text 20">
            <a:extLst>
              <a:ext uri="{FF2B5EF4-FFF2-40B4-BE49-F238E27FC236}">
                <a16:creationId xmlns:a16="http://schemas.microsoft.com/office/drawing/2014/main" id="{53B490FB-80F7-46A0-9B9C-886B1DD8EBF9}"/>
              </a:ext>
            </a:extLst>
          </p:cNvPr>
          <p:cNvSpPr>
            <a:spLocks noGrp="1"/>
          </p:cNvSpPr>
          <p:nvPr/>
        </p:nvSpPr>
        <p:spPr>
          <a:xfrm>
            <a:off x="521208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SQL Server</a:t>
            </a:r>
          </a:p>
        </p:txBody>
      </p:sp>
      <p:sp>
        <p:nvSpPr>
          <p:cNvPr id="23" name="Shape 21">
            <a:extLst>
              <a:ext uri="{FF2B5EF4-FFF2-40B4-BE49-F238E27FC236}">
                <a16:creationId xmlns:a16="http://schemas.microsoft.com/office/drawing/2014/main" id="{D3F3A3F9-DEBD-4625-95BC-DAAAB52868A2}"/>
              </a:ext>
            </a:extLst>
          </p:cNvPr>
          <p:cNvSpPr>
            <a:spLocks noGrp="1"/>
          </p:cNvSpPr>
          <p:nvPr/>
        </p:nvSpPr>
        <p:spPr>
          <a:xfrm>
            <a:off x="5212080" y="2313432"/>
            <a:ext cx="411480" cy="0"/>
          </a:xfrm>
          <a:prstGeom prst="line">
            <a:avLst/>
          </a:prstGeom>
          <a:noFill/>
          <a:ln w="22860">
            <a:solidFill>
              <a:srgbClr val="17B7D7"/>
            </a:solidFill>
            <a:prstDash val="solid"/>
          </a:ln>
        </p:spPr>
        <p:txBody>
          <a:bodyPr/>
          <a:lstStyle/>
          <a:p>
            <a:endParaRPr/>
          </a:p>
        </p:txBody>
      </p:sp>
      <p:sp>
        <p:nvSpPr>
          <p:cNvPr id="24" name="Text 22">
            <a:extLst>
              <a:ext uri="{FF2B5EF4-FFF2-40B4-BE49-F238E27FC236}">
                <a16:creationId xmlns:a16="http://schemas.microsoft.com/office/drawing/2014/main" id="{E9610762-B4D3-4DD8-9CCD-A0F730F6ECB5}"/>
              </a:ext>
            </a:extLst>
          </p:cNvPr>
          <p:cNvSpPr>
            <a:spLocks noGrp="1"/>
          </p:cNvSpPr>
          <p:nvPr/>
        </p:nvSpPr>
        <p:spPr>
          <a:xfrm>
            <a:off x="472744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Filegroups y data files.</a:t>
            </a:r>
          </a:p>
        </p:txBody>
      </p:sp>
      <p:sp>
        <p:nvSpPr>
          <p:cNvPr id="25" name="Shape 23">
            <a:extLst>
              <a:ext uri="{FF2B5EF4-FFF2-40B4-BE49-F238E27FC236}">
                <a16:creationId xmlns:a16="http://schemas.microsoft.com/office/drawing/2014/main" id="{CCEF4718-176D-45F0-B2D4-BF2C7E320CBA}"/>
              </a:ext>
            </a:extLst>
          </p:cNvPr>
          <p:cNvSpPr>
            <a:spLocks noGrp="1"/>
          </p:cNvSpPr>
          <p:nvPr/>
        </p:nvSpPr>
        <p:spPr>
          <a:xfrm>
            <a:off x="813816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6" name="Shape 24">
            <a:extLst>
              <a:ext uri="{FF2B5EF4-FFF2-40B4-BE49-F238E27FC236}">
                <a16:creationId xmlns:a16="http://schemas.microsoft.com/office/drawing/2014/main" id="{8D44E5AE-8A67-4853-B244-F81052A007F4}"/>
              </a:ext>
            </a:extLst>
          </p:cNvPr>
          <p:cNvSpPr>
            <a:spLocks noGrp="1"/>
          </p:cNvSpPr>
          <p:nvPr/>
        </p:nvSpPr>
        <p:spPr>
          <a:xfrm>
            <a:off x="8302752" y="1984248"/>
            <a:ext cx="438912" cy="438912"/>
          </a:xfrm>
          <a:prstGeom prst="ellipse">
            <a:avLst/>
          </a:prstGeom>
          <a:solidFill>
            <a:srgbClr val="EAF8FC"/>
          </a:solidFill>
          <a:ln w="10160">
            <a:solidFill>
              <a:srgbClr val="D5EEF7"/>
            </a:solidFill>
            <a:prstDash val="solid"/>
          </a:ln>
        </p:spPr>
        <p:txBody>
          <a:bodyPr/>
          <a:lstStyle/>
          <a:p>
            <a:endParaRPr/>
          </a:p>
        </p:txBody>
      </p:sp>
      <p:sp>
        <p:nvSpPr>
          <p:cNvPr id="27" name="Text 25">
            <a:extLst>
              <a:ext uri="{FF2B5EF4-FFF2-40B4-BE49-F238E27FC236}">
                <a16:creationId xmlns:a16="http://schemas.microsoft.com/office/drawing/2014/main" id="{1E839E76-0723-4E97-92D6-AA1B56FF2E71}"/>
              </a:ext>
            </a:extLst>
          </p:cNvPr>
          <p:cNvSpPr>
            <a:spLocks noGrp="1"/>
          </p:cNvSpPr>
          <p:nvPr/>
        </p:nvSpPr>
        <p:spPr>
          <a:xfrm>
            <a:off x="8302752" y="2043684"/>
            <a:ext cx="438912" cy="228600"/>
          </a:xfrm>
          <a:prstGeom prst="rect">
            <a:avLst/>
          </a:prstGeom>
          <a:noFill/>
        </p:spPr>
        <p:txBody>
          <a:bodyPr wrap="square" lIns="0" tIns="0" rIns="0" bIns="0" anchor="ctr"/>
          <a:lstStyle/>
          <a:p>
            <a:pPr marL="0" indent="0" algn="ctr">
              <a:buNone/>
            </a:pPr>
            <a:r>
              <a:rPr sz="1550">
                <a:solidFill>
                  <a:srgbClr val="17B7D7"/>
                </a:solidFill>
              </a:rPr>
              <a:t>3</a:t>
            </a:r>
          </a:p>
        </p:txBody>
      </p:sp>
      <p:sp>
        <p:nvSpPr>
          <p:cNvPr id="28" name="Text 26">
            <a:extLst>
              <a:ext uri="{FF2B5EF4-FFF2-40B4-BE49-F238E27FC236}">
                <a16:creationId xmlns:a16="http://schemas.microsoft.com/office/drawing/2014/main" id="{39EAD97E-ACE2-4547-A6C7-EC305192AC81}"/>
              </a:ext>
            </a:extLst>
          </p:cNvPr>
          <p:cNvSpPr>
            <a:spLocks noGrp="1"/>
          </p:cNvSpPr>
          <p:nvPr/>
        </p:nvSpPr>
        <p:spPr>
          <a:xfrm>
            <a:off x="882396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Oracle / MySQL</a:t>
            </a:r>
          </a:p>
        </p:txBody>
      </p:sp>
      <p:sp>
        <p:nvSpPr>
          <p:cNvPr id="29" name="Shape 27">
            <a:extLst>
              <a:ext uri="{FF2B5EF4-FFF2-40B4-BE49-F238E27FC236}">
                <a16:creationId xmlns:a16="http://schemas.microsoft.com/office/drawing/2014/main" id="{FCA73888-782F-4505-B3DD-DA63AA7D156F}"/>
              </a:ext>
            </a:extLst>
          </p:cNvPr>
          <p:cNvSpPr>
            <a:spLocks noGrp="1"/>
          </p:cNvSpPr>
          <p:nvPr/>
        </p:nvSpPr>
        <p:spPr>
          <a:xfrm>
            <a:off x="8823960" y="2313432"/>
            <a:ext cx="411480" cy="0"/>
          </a:xfrm>
          <a:prstGeom prst="line">
            <a:avLst/>
          </a:prstGeom>
          <a:noFill/>
          <a:ln w="22860">
            <a:solidFill>
              <a:srgbClr val="17B7D7"/>
            </a:solidFill>
            <a:prstDash val="solid"/>
          </a:ln>
        </p:spPr>
        <p:txBody>
          <a:bodyPr/>
          <a:lstStyle/>
          <a:p>
            <a:endParaRPr/>
          </a:p>
        </p:txBody>
      </p:sp>
      <p:sp>
        <p:nvSpPr>
          <p:cNvPr id="30" name="Text 28">
            <a:extLst>
              <a:ext uri="{FF2B5EF4-FFF2-40B4-BE49-F238E27FC236}">
                <a16:creationId xmlns:a16="http://schemas.microsoft.com/office/drawing/2014/main" id="{DD936180-33BC-4320-BA9F-81FA74FC0275}"/>
              </a:ext>
            </a:extLst>
          </p:cNvPr>
          <p:cNvSpPr>
            <a:spLocks noGrp="1"/>
          </p:cNvSpPr>
          <p:nvPr/>
        </p:nvSpPr>
        <p:spPr>
          <a:xfrm>
            <a:off x="833932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Tablespaces y datafiles.</a:t>
            </a:r>
          </a:p>
        </p:txBody>
      </p:sp>
      <p:sp>
        <p:nvSpPr>
          <p:cNvPr id="31" name="Text 29">
            <a:extLst>
              <a:ext uri="{FF2B5EF4-FFF2-40B4-BE49-F238E27FC236}">
                <a16:creationId xmlns:a16="http://schemas.microsoft.com/office/drawing/2014/main" id="{5BD4C6CA-B995-4864-9406-0372256BA931}"/>
              </a:ext>
            </a:extLst>
          </p:cNvPr>
          <p:cNvSpPr>
            <a:spLocks noGrp="1"/>
          </p:cNvSpPr>
          <p:nvPr/>
        </p:nvSpPr>
        <p:spPr>
          <a:xfrm>
            <a:off x="914400" y="4800600"/>
            <a:ext cx="10332720" cy="411480"/>
          </a:xfrm>
          <a:prstGeom prst="rect">
            <a:avLst/>
          </a:prstGeom>
          <a:noFill/>
        </p:spPr>
        <p:txBody>
          <a:bodyPr wrap="square" anchor="ctr"/>
          <a:lstStyle/>
          <a:p>
            <a:pPr marL="0" indent="0" algn="ctr">
              <a:buNone/>
            </a:pPr>
            <a:r>
              <a:rPr sz="1800" b="1">
                <a:solidFill>
                  <a:srgbClr val="07245A"/>
                </a:solidFill>
              </a:rPr>
              <a:t>Comparar por función, no solamente por nombre comercial.</a:t>
            </a:r>
          </a:p>
        </p:txBody>
      </p:sp>
      <p:sp>
        <p:nvSpPr>
          <p:cNvPr id="32" name="Shape 30">
            <a:extLst>
              <a:ext uri="{FF2B5EF4-FFF2-40B4-BE49-F238E27FC236}">
                <a16:creationId xmlns:a16="http://schemas.microsoft.com/office/drawing/2014/main" id="{48DEFDF8-4233-43D1-ABC6-22926B0A171A}"/>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33" name="Text 31">
            <a:extLst>
              <a:ext uri="{FF2B5EF4-FFF2-40B4-BE49-F238E27FC236}">
                <a16:creationId xmlns:a16="http://schemas.microsoft.com/office/drawing/2014/main" id="{B6AAE201-650E-4F2F-8FFF-27F1A0DEDA4A}"/>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Tree>
    <p:extLst>
      <p:ext uri="{BB962C8B-B14F-4D97-AF65-F5344CB8AC3E}">
        <p14:creationId xmlns:p14="http://schemas.microsoft.com/office/powerpoint/2010/main" val="968378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05CF088-86D1-4237-A8B6-86340931FA7C}"/>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847F890F-7C13-4F2A-84C6-BDC693CD35C7}"/>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7BB5CAB5-B296-4B90-B816-7720A845B7AF}"/>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93315444-6A06-4975-AAB4-F93BEAD99811}"/>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2FCAFC4E-8771-4726-B3C7-8BB4CF1BA10D}"/>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924EE4AA-ADBB-4B97-B2B8-D00FB2CB1693}"/>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7658BA90-9699-4AD7-B234-9BA2DF0BB11E}"/>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7F04B3A0-9ED9-4019-A5D3-4CE94D0DEC95}"/>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16</a:t>
            </a:r>
          </a:p>
        </p:txBody>
      </p:sp>
      <p:sp>
        <p:nvSpPr>
          <p:cNvPr id="10" name="Text 8">
            <a:extLst>
              <a:ext uri="{FF2B5EF4-FFF2-40B4-BE49-F238E27FC236}">
                <a16:creationId xmlns:a16="http://schemas.microsoft.com/office/drawing/2014/main" id="{BDFECAF7-7624-4B06-8A6D-78057E0F3E84}"/>
              </a:ext>
            </a:extLst>
          </p:cNvPr>
          <p:cNvSpPr>
            <a:spLocks noGrp="1"/>
          </p:cNvSpPr>
          <p:nvPr/>
        </p:nvSpPr>
        <p:spPr>
          <a:xfrm>
            <a:off x="658368" y="868680"/>
            <a:ext cx="10698480" cy="411480"/>
          </a:xfrm>
          <a:prstGeom prst="rect">
            <a:avLst/>
          </a:prstGeom>
          <a:noFill/>
        </p:spPr>
        <p:txBody>
          <a:bodyPr wrap="square" lIns="0" tIns="0" rIns="0" bIns="0" anchor="ctr">
            <a:normAutofit fontScale="88235" lnSpcReduction="20000"/>
          </a:bodyPr>
          <a:lstStyle/>
          <a:p>
            <a:pPr marL="0" indent="0">
              <a:buNone/>
            </a:pPr>
            <a:r>
              <a:rPr sz="3400" b="1">
                <a:solidFill>
                  <a:srgbClr val="07245A"/>
                </a:solidFill>
                <a:latin typeface="Aptos Display"/>
                <a:ea typeface="Aptos Display"/>
                <a:cs typeface="Aptos Display"/>
              </a:rPr>
              <a:t>Organización de la tabla</a:t>
            </a:r>
          </a:p>
        </p:txBody>
      </p:sp>
      <p:sp>
        <p:nvSpPr>
          <p:cNvPr id="11" name="Shape 9">
            <a:extLst>
              <a:ext uri="{FF2B5EF4-FFF2-40B4-BE49-F238E27FC236}">
                <a16:creationId xmlns:a16="http://schemas.microsoft.com/office/drawing/2014/main" id="{E235F766-8095-40E7-8FB7-7BAB365E9F39}"/>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DCA4F053-8464-4768-A38C-A17DBDE4DE3E}"/>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La estructura principal condiciona el acceso.</a:t>
            </a:r>
          </a:p>
        </p:txBody>
      </p:sp>
      <p:sp>
        <p:nvSpPr>
          <p:cNvPr id="13" name="Shape 11">
            <a:extLst>
              <a:ext uri="{FF2B5EF4-FFF2-40B4-BE49-F238E27FC236}">
                <a16:creationId xmlns:a16="http://schemas.microsoft.com/office/drawing/2014/main" id="{C63EEA6D-0E00-40F3-9341-1FF53F90E8CA}"/>
              </a:ext>
            </a:extLst>
          </p:cNvPr>
          <p:cNvSpPr>
            <a:spLocks noGrp="1"/>
          </p:cNvSpPr>
          <p:nvPr/>
        </p:nvSpPr>
        <p:spPr>
          <a:xfrm>
            <a:off x="91440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14" name="Shape 12">
            <a:extLst>
              <a:ext uri="{FF2B5EF4-FFF2-40B4-BE49-F238E27FC236}">
                <a16:creationId xmlns:a16="http://schemas.microsoft.com/office/drawing/2014/main" id="{27906FF5-28C3-4BCE-9230-D8D754E343A5}"/>
              </a:ext>
            </a:extLst>
          </p:cNvPr>
          <p:cNvSpPr>
            <a:spLocks noGrp="1"/>
          </p:cNvSpPr>
          <p:nvPr/>
        </p:nvSpPr>
        <p:spPr>
          <a:xfrm>
            <a:off x="1078992" y="1984248"/>
            <a:ext cx="438912" cy="438912"/>
          </a:xfrm>
          <a:prstGeom prst="ellipse">
            <a:avLst/>
          </a:prstGeom>
          <a:solidFill>
            <a:srgbClr val="EAF8FC"/>
          </a:solidFill>
          <a:ln w="10160">
            <a:solidFill>
              <a:srgbClr val="D5EEF7"/>
            </a:solidFill>
            <a:prstDash val="solid"/>
          </a:ln>
        </p:spPr>
        <p:txBody>
          <a:bodyPr/>
          <a:lstStyle/>
          <a:p>
            <a:endParaRPr/>
          </a:p>
        </p:txBody>
      </p:sp>
      <p:sp>
        <p:nvSpPr>
          <p:cNvPr id="15" name="Text 13">
            <a:extLst>
              <a:ext uri="{FF2B5EF4-FFF2-40B4-BE49-F238E27FC236}">
                <a16:creationId xmlns:a16="http://schemas.microsoft.com/office/drawing/2014/main" id="{8E110575-9924-4A24-8884-A28E9FB4DF15}"/>
              </a:ext>
            </a:extLst>
          </p:cNvPr>
          <p:cNvSpPr>
            <a:spLocks noGrp="1"/>
          </p:cNvSpPr>
          <p:nvPr/>
        </p:nvSpPr>
        <p:spPr>
          <a:xfrm>
            <a:off x="1078992" y="2043684"/>
            <a:ext cx="438912" cy="228600"/>
          </a:xfrm>
          <a:prstGeom prst="rect">
            <a:avLst/>
          </a:prstGeom>
          <a:noFill/>
        </p:spPr>
        <p:txBody>
          <a:bodyPr wrap="square" lIns="0" tIns="0" rIns="0" bIns="0" anchor="ctr"/>
          <a:lstStyle/>
          <a:p>
            <a:pPr marL="0" indent="0" algn="ctr">
              <a:buNone/>
            </a:pPr>
            <a:r>
              <a:rPr sz="1550">
                <a:solidFill>
                  <a:srgbClr val="17B7D7"/>
                </a:solidFill>
              </a:rPr>
              <a:t>1</a:t>
            </a:r>
          </a:p>
        </p:txBody>
      </p:sp>
      <p:sp>
        <p:nvSpPr>
          <p:cNvPr id="16" name="Text 14">
            <a:extLst>
              <a:ext uri="{FF2B5EF4-FFF2-40B4-BE49-F238E27FC236}">
                <a16:creationId xmlns:a16="http://schemas.microsoft.com/office/drawing/2014/main" id="{1F68C214-B521-4066-9D3A-42A47BEA2852}"/>
              </a:ext>
            </a:extLst>
          </p:cNvPr>
          <p:cNvSpPr>
            <a:spLocks noGrp="1"/>
          </p:cNvSpPr>
          <p:nvPr/>
        </p:nvSpPr>
        <p:spPr>
          <a:xfrm>
            <a:off x="1600200" y="1993392"/>
            <a:ext cx="2286000" cy="256032"/>
          </a:xfrm>
          <a:prstGeom prst="rect">
            <a:avLst/>
          </a:prstGeom>
          <a:noFill/>
        </p:spPr>
        <p:txBody>
          <a:bodyPr wrap="square" lIns="0" tIns="0" rIns="0" bIns="0" anchor="ctr">
            <a:normAutofit/>
          </a:bodyPr>
          <a:lstStyle/>
          <a:p>
            <a:pPr marL="0" indent="0">
              <a:buNone/>
            </a:pPr>
            <a:r>
              <a:rPr sz="1600" b="1" dirty="0">
                <a:solidFill>
                  <a:srgbClr val="07245A"/>
                </a:solidFill>
              </a:rPr>
              <a:t>Heap</a:t>
            </a:r>
            <a:r>
              <a:rPr lang="es-AR" sz="1600" b="1" dirty="0">
                <a:solidFill>
                  <a:srgbClr val="07245A"/>
                </a:solidFill>
              </a:rPr>
              <a:t> (Montón)</a:t>
            </a:r>
            <a:endParaRPr sz="1600" b="1" dirty="0">
              <a:solidFill>
                <a:srgbClr val="07245A"/>
              </a:solidFill>
            </a:endParaRPr>
          </a:p>
        </p:txBody>
      </p:sp>
      <p:sp>
        <p:nvSpPr>
          <p:cNvPr id="17" name="Shape 15">
            <a:extLst>
              <a:ext uri="{FF2B5EF4-FFF2-40B4-BE49-F238E27FC236}">
                <a16:creationId xmlns:a16="http://schemas.microsoft.com/office/drawing/2014/main" id="{520B91C2-EF3C-4B81-A26F-17D73073C2AE}"/>
              </a:ext>
            </a:extLst>
          </p:cNvPr>
          <p:cNvSpPr>
            <a:spLocks noGrp="1"/>
          </p:cNvSpPr>
          <p:nvPr/>
        </p:nvSpPr>
        <p:spPr>
          <a:xfrm>
            <a:off x="1600200" y="2313432"/>
            <a:ext cx="411480" cy="0"/>
          </a:xfrm>
          <a:prstGeom prst="line">
            <a:avLst/>
          </a:prstGeom>
          <a:noFill/>
          <a:ln w="22860">
            <a:solidFill>
              <a:srgbClr val="17B7D7"/>
            </a:solidFill>
            <a:prstDash val="solid"/>
          </a:ln>
        </p:spPr>
        <p:txBody>
          <a:bodyPr/>
          <a:lstStyle/>
          <a:p>
            <a:endParaRPr/>
          </a:p>
        </p:txBody>
      </p:sp>
      <p:sp>
        <p:nvSpPr>
          <p:cNvPr id="18" name="Text 16">
            <a:extLst>
              <a:ext uri="{FF2B5EF4-FFF2-40B4-BE49-F238E27FC236}">
                <a16:creationId xmlns:a16="http://schemas.microsoft.com/office/drawing/2014/main" id="{B4396596-5CDA-4DBE-8878-C0F74DCD22B4}"/>
              </a:ext>
            </a:extLst>
          </p:cNvPr>
          <p:cNvSpPr>
            <a:spLocks noGrp="1"/>
          </p:cNvSpPr>
          <p:nvPr/>
        </p:nvSpPr>
        <p:spPr>
          <a:xfrm>
            <a:off x="111556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Filas sin orden físico definido.</a:t>
            </a:r>
          </a:p>
        </p:txBody>
      </p:sp>
      <p:sp>
        <p:nvSpPr>
          <p:cNvPr id="19" name="Shape 17">
            <a:extLst>
              <a:ext uri="{FF2B5EF4-FFF2-40B4-BE49-F238E27FC236}">
                <a16:creationId xmlns:a16="http://schemas.microsoft.com/office/drawing/2014/main" id="{8147991A-6C9F-439E-B048-C7F909634508}"/>
              </a:ext>
            </a:extLst>
          </p:cNvPr>
          <p:cNvSpPr>
            <a:spLocks noGrp="1"/>
          </p:cNvSpPr>
          <p:nvPr/>
        </p:nvSpPr>
        <p:spPr>
          <a:xfrm>
            <a:off x="452628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0" name="Shape 18">
            <a:extLst>
              <a:ext uri="{FF2B5EF4-FFF2-40B4-BE49-F238E27FC236}">
                <a16:creationId xmlns:a16="http://schemas.microsoft.com/office/drawing/2014/main" id="{9EF733E9-A002-4C96-90E6-E896672B3CFD}"/>
              </a:ext>
            </a:extLst>
          </p:cNvPr>
          <p:cNvSpPr>
            <a:spLocks noGrp="1"/>
          </p:cNvSpPr>
          <p:nvPr/>
        </p:nvSpPr>
        <p:spPr>
          <a:xfrm>
            <a:off x="4690872" y="1984248"/>
            <a:ext cx="438912" cy="438912"/>
          </a:xfrm>
          <a:prstGeom prst="ellipse">
            <a:avLst/>
          </a:prstGeom>
          <a:solidFill>
            <a:srgbClr val="EAF8FC"/>
          </a:solidFill>
          <a:ln w="10160">
            <a:solidFill>
              <a:srgbClr val="D5EEF7"/>
            </a:solidFill>
            <a:prstDash val="solid"/>
          </a:ln>
        </p:spPr>
        <p:txBody>
          <a:bodyPr/>
          <a:lstStyle/>
          <a:p>
            <a:endParaRPr/>
          </a:p>
        </p:txBody>
      </p:sp>
      <p:sp>
        <p:nvSpPr>
          <p:cNvPr id="21" name="Text 19">
            <a:extLst>
              <a:ext uri="{FF2B5EF4-FFF2-40B4-BE49-F238E27FC236}">
                <a16:creationId xmlns:a16="http://schemas.microsoft.com/office/drawing/2014/main" id="{9D24A6A4-8B9E-4BFB-81F6-61A64001216C}"/>
              </a:ext>
            </a:extLst>
          </p:cNvPr>
          <p:cNvSpPr>
            <a:spLocks noGrp="1"/>
          </p:cNvSpPr>
          <p:nvPr/>
        </p:nvSpPr>
        <p:spPr>
          <a:xfrm>
            <a:off x="4690872" y="2043684"/>
            <a:ext cx="438912" cy="228600"/>
          </a:xfrm>
          <a:prstGeom prst="rect">
            <a:avLst/>
          </a:prstGeom>
          <a:noFill/>
        </p:spPr>
        <p:txBody>
          <a:bodyPr wrap="square" lIns="0" tIns="0" rIns="0" bIns="0" anchor="ctr"/>
          <a:lstStyle/>
          <a:p>
            <a:pPr marL="0" indent="0" algn="ctr">
              <a:buNone/>
            </a:pPr>
            <a:r>
              <a:rPr sz="1550">
                <a:solidFill>
                  <a:srgbClr val="17B7D7"/>
                </a:solidFill>
              </a:rPr>
              <a:t>2</a:t>
            </a:r>
          </a:p>
        </p:txBody>
      </p:sp>
      <p:sp>
        <p:nvSpPr>
          <p:cNvPr id="22" name="Text 20">
            <a:extLst>
              <a:ext uri="{FF2B5EF4-FFF2-40B4-BE49-F238E27FC236}">
                <a16:creationId xmlns:a16="http://schemas.microsoft.com/office/drawing/2014/main" id="{53B490FB-80F7-46A0-9B9C-886B1DD8EBF9}"/>
              </a:ext>
            </a:extLst>
          </p:cNvPr>
          <p:cNvSpPr>
            <a:spLocks noGrp="1"/>
          </p:cNvSpPr>
          <p:nvPr/>
        </p:nvSpPr>
        <p:spPr>
          <a:xfrm>
            <a:off x="521208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Clustered</a:t>
            </a:r>
          </a:p>
        </p:txBody>
      </p:sp>
      <p:sp>
        <p:nvSpPr>
          <p:cNvPr id="23" name="Shape 21">
            <a:extLst>
              <a:ext uri="{FF2B5EF4-FFF2-40B4-BE49-F238E27FC236}">
                <a16:creationId xmlns:a16="http://schemas.microsoft.com/office/drawing/2014/main" id="{D3F3A3F9-DEBD-4625-95BC-DAAAB52868A2}"/>
              </a:ext>
            </a:extLst>
          </p:cNvPr>
          <p:cNvSpPr>
            <a:spLocks noGrp="1"/>
          </p:cNvSpPr>
          <p:nvPr/>
        </p:nvSpPr>
        <p:spPr>
          <a:xfrm>
            <a:off x="5212080" y="2313432"/>
            <a:ext cx="411480" cy="0"/>
          </a:xfrm>
          <a:prstGeom prst="line">
            <a:avLst/>
          </a:prstGeom>
          <a:noFill/>
          <a:ln w="22860">
            <a:solidFill>
              <a:srgbClr val="17B7D7"/>
            </a:solidFill>
            <a:prstDash val="solid"/>
          </a:ln>
        </p:spPr>
        <p:txBody>
          <a:bodyPr/>
          <a:lstStyle/>
          <a:p>
            <a:endParaRPr/>
          </a:p>
        </p:txBody>
      </p:sp>
      <p:sp>
        <p:nvSpPr>
          <p:cNvPr id="24" name="Text 22">
            <a:extLst>
              <a:ext uri="{FF2B5EF4-FFF2-40B4-BE49-F238E27FC236}">
                <a16:creationId xmlns:a16="http://schemas.microsoft.com/office/drawing/2014/main" id="{E9610762-B4D3-4DD8-9CCD-A0F730F6ECB5}"/>
              </a:ext>
            </a:extLst>
          </p:cNvPr>
          <p:cNvSpPr>
            <a:spLocks noGrp="1"/>
          </p:cNvSpPr>
          <p:nvPr/>
        </p:nvSpPr>
        <p:spPr>
          <a:xfrm>
            <a:off x="472744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Una estructura principal organiza las filas.</a:t>
            </a:r>
          </a:p>
        </p:txBody>
      </p:sp>
      <p:sp>
        <p:nvSpPr>
          <p:cNvPr id="25" name="Shape 23">
            <a:extLst>
              <a:ext uri="{FF2B5EF4-FFF2-40B4-BE49-F238E27FC236}">
                <a16:creationId xmlns:a16="http://schemas.microsoft.com/office/drawing/2014/main" id="{CCEF4718-176D-45F0-B2D4-BF2C7E320CBA}"/>
              </a:ext>
            </a:extLst>
          </p:cNvPr>
          <p:cNvSpPr>
            <a:spLocks noGrp="1"/>
          </p:cNvSpPr>
          <p:nvPr/>
        </p:nvSpPr>
        <p:spPr>
          <a:xfrm>
            <a:off x="813816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6" name="Shape 24">
            <a:extLst>
              <a:ext uri="{FF2B5EF4-FFF2-40B4-BE49-F238E27FC236}">
                <a16:creationId xmlns:a16="http://schemas.microsoft.com/office/drawing/2014/main" id="{8D44E5AE-8A67-4853-B244-F81052A007F4}"/>
              </a:ext>
            </a:extLst>
          </p:cNvPr>
          <p:cNvSpPr>
            <a:spLocks noGrp="1"/>
          </p:cNvSpPr>
          <p:nvPr/>
        </p:nvSpPr>
        <p:spPr>
          <a:xfrm>
            <a:off x="8302752" y="1984248"/>
            <a:ext cx="438912" cy="438912"/>
          </a:xfrm>
          <a:prstGeom prst="ellipse">
            <a:avLst/>
          </a:prstGeom>
          <a:solidFill>
            <a:srgbClr val="EAF8FC"/>
          </a:solidFill>
          <a:ln w="10160">
            <a:solidFill>
              <a:srgbClr val="D5EEF7"/>
            </a:solidFill>
            <a:prstDash val="solid"/>
          </a:ln>
        </p:spPr>
        <p:txBody>
          <a:bodyPr/>
          <a:lstStyle/>
          <a:p>
            <a:endParaRPr/>
          </a:p>
        </p:txBody>
      </p:sp>
      <p:sp>
        <p:nvSpPr>
          <p:cNvPr id="27" name="Text 25">
            <a:extLst>
              <a:ext uri="{FF2B5EF4-FFF2-40B4-BE49-F238E27FC236}">
                <a16:creationId xmlns:a16="http://schemas.microsoft.com/office/drawing/2014/main" id="{1E839E76-0723-4E97-92D6-AA1B56FF2E71}"/>
              </a:ext>
            </a:extLst>
          </p:cNvPr>
          <p:cNvSpPr>
            <a:spLocks noGrp="1"/>
          </p:cNvSpPr>
          <p:nvPr/>
        </p:nvSpPr>
        <p:spPr>
          <a:xfrm>
            <a:off x="8302752" y="2043684"/>
            <a:ext cx="438912" cy="228600"/>
          </a:xfrm>
          <a:prstGeom prst="rect">
            <a:avLst/>
          </a:prstGeom>
          <a:noFill/>
        </p:spPr>
        <p:txBody>
          <a:bodyPr wrap="square" lIns="0" tIns="0" rIns="0" bIns="0" anchor="ctr"/>
          <a:lstStyle/>
          <a:p>
            <a:pPr marL="0" indent="0" algn="ctr">
              <a:buNone/>
            </a:pPr>
            <a:r>
              <a:rPr sz="1550">
                <a:solidFill>
                  <a:srgbClr val="17B7D7"/>
                </a:solidFill>
              </a:rPr>
              <a:t>3</a:t>
            </a:r>
          </a:p>
        </p:txBody>
      </p:sp>
      <p:sp>
        <p:nvSpPr>
          <p:cNvPr id="28" name="Text 26">
            <a:extLst>
              <a:ext uri="{FF2B5EF4-FFF2-40B4-BE49-F238E27FC236}">
                <a16:creationId xmlns:a16="http://schemas.microsoft.com/office/drawing/2014/main" id="{39EAD97E-ACE2-4547-A6C7-EC305192AC81}"/>
              </a:ext>
            </a:extLst>
          </p:cNvPr>
          <p:cNvSpPr>
            <a:spLocks noGrp="1"/>
          </p:cNvSpPr>
          <p:nvPr/>
        </p:nvSpPr>
        <p:spPr>
          <a:xfrm>
            <a:off x="8823960" y="1993392"/>
            <a:ext cx="2286000" cy="256032"/>
          </a:xfrm>
          <a:prstGeom prst="rect">
            <a:avLst/>
          </a:prstGeom>
          <a:noFill/>
        </p:spPr>
        <p:txBody>
          <a:bodyPr wrap="square" lIns="0" tIns="0" rIns="0" bIns="0" anchor="ctr">
            <a:normAutofit/>
          </a:bodyPr>
          <a:lstStyle/>
          <a:p>
            <a:pPr marL="0" indent="0">
              <a:buNone/>
            </a:pPr>
            <a:r>
              <a:rPr sz="1600" b="1" dirty="0">
                <a:solidFill>
                  <a:srgbClr val="07245A"/>
                </a:solidFill>
              </a:rPr>
              <a:t>IOT </a:t>
            </a:r>
            <a:r>
              <a:rPr lang="es-AR" sz="1600" b="1" dirty="0">
                <a:solidFill>
                  <a:srgbClr val="07245A"/>
                </a:solidFill>
              </a:rPr>
              <a:t>(Oracle)</a:t>
            </a:r>
            <a:endParaRPr sz="1600" b="1" dirty="0">
              <a:solidFill>
                <a:srgbClr val="07245A"/>
              </a:solidFill>
            </a:endParaRPr>
          </a:p>
        </p:txBody>
      </p:sp>
      <p:sp>
        <p:nvSpPr>
          <p:cNvPr id="29" name="Shape 27">
            <a:extLst>
              <a:ext uri="{FF2B5EF4-FFF2-40B4-BE49-F238E27FC236}">
                <a16:creationId xmlns:a16="http://schemas.microsoft.com/office/drawing/2014/main" id="{FCA73888-782F-4505-B3DD-DA63AA7D156F}"/>
              </a:ext>
            </a:extLst>
          </p:cNvPr>
          <p:cNvSpPr>
            <a:spLocks noGrp="1"/>
          </p:cNvSpPr>
          <p:nvPr/>
        </p:nvSpPr>
        <p:spPr>
          <a:xfrm>
            <a:off x="8823960" y="2313432"/>
            <a:ext cx="411480" cy="0"/>
          </a:xfrm>
          <a:prstGeom prst="line">
            <a:avLst/>
          </a:prstGeom>
          <a:noFill/>
          <a:ln w="22860">
            <a:solidFill>
              <a:srgbClr val="17B7D7"/>
            </a:solidFill>
            <a:prstDash val="solid"/>
          </a:ln>
        </p:spPr>
        <p:txBody>
          <a:bodyPr/>
          <a:lstStyle/>
          <a:p>
            <a:endParaRPr/>
          </a:p>
        </p:txBody>
      </p:sp>
      <p:sp>
        <p:nvSpPr>
          <p:cNvPr id="30" name="Text 28">
            <a:extLst>
              <a:ext uri="{FF2B5EF4-FFF2-40B4-BE49-F238E27FC236}">
                <a16:creationId xmlns:a16="http://schemas.microsoft.com/office/drawing/2014/main" id="{DD936180-33BC-4320-BA9F-81FA74FC0275}"/>
              </a:ext>
            </a:extLst>
          </p:cNvPr>
          <p:cNvSpPr>
            <a:spLocks noGrp="1"/>
          </p:cNvSpPr>
          <p:nvPr/>
        </p:nvSpPr>
        <p:spPr>
          <a:xfrm>
            <a:off x="833932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Los datos forman parte del índice principal.</a:t>
            </a:r>
          </a:p>
        </p:txBody>
      </p:sp>
      <p:sp>
        <p:nvSpPr>
          <p:cNvPr id="31" name="Text 29">
            <a:extLst>
              <a:ext uri="{FF2B5EF4-FFF2-40B4-BE49-F238E27FC236}">
                <a16:creationId xmlns:a16="http://schemas.microsoft.com/office/drawing/2014/main" id="{5BD4C6CA-B995-4864-9406-0372256BA931}"/>
              </a:ext>
            </a:extLst>
          </p:cNvPr>
          <p:cNvSpPr>
            <a:spLocks noGrp="1"/>
          </p:cNvSpPr>
          <p:nvPr/>
        </p:nvSpPr>
        <p:spPr>
          <a:xfrm>
            <a:off x="914400" y="4800600"/>
            <a:ext cx="10332720" cy="411480"/>
          </a:xfrm>
          <a:prstGeom prst="rect">
            <a:avLst/>
          </a:prstGeom>
          <a:noFill/>
        </p:spPr>
        <p:txBody>
          <a:bodyPr wrap="square" anchor="ctr"/>
          <a:lstStyle/>
          <a:p>
            <a:pPr marL="0" indent="0" algn="ctr">
              <a:buNone/>
            </a:pPr>
            <a:r>
              <a:rPr sz="1800" b="1">
                <a:solidFill>
                  <a:srgbClr val="07245A"/>
                </a:solidFill>
              </a:rPr>
              <a:t>La opción y su comportamiento dependen del motor seleccionado.</a:t>
            </a:r>
          </a:p>
        </p:txBody>
      </p:sp>
      <p:sp>
        <p:nvSpPr>
          <p:cNvPr id="32" name="Shape 30">
            <a:extLst>
              <a:ext uri="{FF2B5EF4-FFF2-40B4-BE49-F238E27FC236}">
                <a16:creationId xmlns:a16="http://schemas.microsoft.com/office/drawing/2014/main" id="{48DEFDF8-4233-43D1-ABC6-22926B0A171A}"/>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33" name="Text 31">
            <a:extLst>
              <a:ext uri="{FF2B5EF4-FFF2-40B4-BE49-F238E27FC236}">
                <a16:creationId xmlns:a16="http://schemas.microsoft.com/office/drawing/2014/main" id="{B6AAE201-650E-4F2F-8FFF-27F1A0DEDA4A}"/>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Tree>
    <p:extLst>
      <p:ext uri="{BB962C8B-B14F-4D97-AF65-F5344CB8AC3E}">
        <p14:creationId xmlns:p14="http://schemas.microsoft.com/office/powerpoint/2010/main" val="9683784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05CF088-86D1-4237-A8B6-86340931FA7C}"/>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847F890F-7C13-4F2A-84C6-BDC693CD35C7}"/>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7BB5CAB5-B296-4B90-B816-7720A845B7AF}"/>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93315444-6A06-4975-AAB4-F93BEAD99811}"/>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2FCAFC4E-8771-4726-B3C7-8BB4CF1BA10D}"/>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924EE4AA-ADBB-4B97-B2B8-D00FB2CB1693}"/>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7658BA90-9699-4AD7-B234-9BA2DF0BB11E}"/>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7F04B3A0-9ED9-4019-A5D3-4CE94D0DEC95}"/>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17</a:t>
            </a:r>
          </a:p>
        </p:txBody>
      </p:sp>
      <p:sp>
        <p:nvSpPr>
          <p:cNvPr id="10" name="Text 8">
            <a:extLst>
              <a:ext uri="{FF2B5EF4-FFF2-40B4-BE49-F238E27FC236}">
                <a16:creationId xmlns:a16="http://schemas.microsoft.com/office/drawing/2014/main" id="{BDFECAF7-7624-4B06-8A6D-78057E0F3E84}"/>
              </a:ext>
            </a:extLst>
          </p:cNvPr>
          <p:cNvSpPr>
            <a:spLocks noGrp="1"/>
          </p:cNvSpPr>
          <p:nvPr/>
        </p:nvSpPr>
        <p:spPr>
          <a:xfrm>
            <a:off x="658368" y="868680"/>
            <a:ext cx="10698480" cy="411480"/>
          </a:xfrm>
          <a:prstGeom prst="rect">
            <a:avLst/>
          </a:prstGeom>
          <a:noFill/>
        </p:spPr>
        <p:txBody>
          <a:bodyPr wrap="square" lIns="0" tIns="0" rIns="0" bIns="0" anchor="ctr">
            <a:normAutofit fontScale="91765" lnSpcReduction="20000"/>
          </a:bodyPr>
          <a:lstStyle/>
          <a:p>
            <a:pPr marL="0" indent="0">
              <a:buNone/>
            </a:pPr>
            <a:r>
              <a:rPr sz="3400" b="1" dirty="0">
                <a:solidFill>
                  <a:srgbClr val="07245A"/>
                </a:solidFill>
                <a:latin typeface="Aptos Display"/>
                <a:ea typeface="Aptos Display"/>
                <a:cs typeface="Aptos Display"/>
              </a:rPr>
              <a:t>Claves y </a:t>
            </a:r>
            <a:r>
              <a:rPr sz="3400" b="1" dirty="0" err="1">
                <a:solidFill>
                  <a:srgbClr val="07245A"/>
                </a:solidFill>
                <a:latin typeface="Aptos Display"/>
                <a:ea typeface="Aptos Display"/>
                <a:cs typeface="Aptos Display"/>
              </a:rPr>
              <a:t>orden</a:t>
            </a:r>
            <a:r>
              <a:rPr sz="3400" b="1" dirty="0">
                <a:solidFill>
                  <a:srgbClr val="07245A"/>
                </a:solidFill>
                <a:latin typeface="Aptos Display"/>
                <a:ea typeface="Aptos Display"/>
                <a:cs typeface="Aptos Display"/>
              </a:rPr>
              <a:t> </a:t>
            </a:r>
            <a:r>
              <a:rPr sz="3400" b="1" dirty="0" err="1">
                <a:solidFill>
                  <a:srgbClr val="07245A"/>
                </a:solidFill>
                <a:latin typeface="Aptos Display"/>
                <a:ea typeface="Aptos Display"/>
                <a:cs typeface="Aptos Display"/>
              </a:rPr>
              <a:t>físico</a:t>
            </a:r>
            <a:r>
              <a:rPr sz="3400" b="1" dirty="0">
                <a:solidFill>
                  <a:srgbClr val="07245A"/>
                </a:solidFill>
                <a:latin typeface="Aptos Display"/>
                <a:ea typeface="Aptos Display"/>
                <a:cs typeface="Aptos Display"/>
              </a:rPr>
              <a:t> </a:t>
            </a:r>
            <a:r>
              <a:rPr sz="3400" b="1" dirty="0" err="1">
                <a:solidFill>
                  <a:srgbClr val="07245A"/>
                </a:solidFill>
                <a:latin typeface="Aptos Display"/>
                <a:ea typeface="Aptos Display"/>
                <a:cs typeface="Aptos Display"/>
              </a:rPr>
              <a:t>condicionan</a:t>
            </a:r>
            <a:r>
              <a:rPr sz="3400" b="1" dirty="0">
                <a:solidFill>
                  <a:srgbClr val="07245A"/>
                </a:solidFill>
                <a:latin typeface="Aptos Display"/>
                <a:ea typeface="Aptos Display"/>
                <a:cs typeface="Aptos Display"/>
              </a:rPr>
              <a:t> la </a:t>
            </a:r>
            <a:r>
              <a:rPr lang="es-AR" sz="3400" b="1" dirty="0">
                <a:solidFill>
                  <a:srgbClr val="07245A"/>
                </a:solidFill>
                <a:latin typeface="Aptos Display"/>
                <a:ea typeface="Aptos Display"/>
                <a:cs typeface="Aptos Display"/>
              </a:rPr>
              <a:t>ubicación de los datos</a:t>
            </a:r>
            <a:endParaRPr sz="3400" b="1" dirty="0">
              <a:solidFill>
                <a:srgbClr val="07245A"/>
              </a:solidFill>
              <a:latin typeface="Aptos Display"/>
              <a:ea typeface="Aptos Display"/>
              <a:cs typeface="Aptos Display"/>
            </a:endParaRPr>
          </a:p>
        </p:txBody>
      </p:sp>
      <p:sp>
        <p:nvSpPr>
          <p:cNvPr id="11" name="Shape 9">
            <a:extLst>
              <a:ext uri="{FF2B5EF4-FFF2-40B4-BE49-F238E27FC236}">
                <a16:creationId xmlns:a16="http://schemas.microsoft.com/office/drawing/2014/main" id="{E235F766-8095-40E7-8FB7-7BAB365E9F39}"/>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DCA4F053-8464-4768-A38C-A17DBDE4DE3E}"/>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La clave también organiza y se replica en otras estructuras.</a:t>
            </a:r>
          </a:p>
        </p:txBody>
      </p:sp>
      <p:sp>
        <p:nvSpPr>
          <p:cNvPr id="13" name="Shape 11">
            <a:extLst>
              <a:ext uri="{FF2B5EF4-FFF2-40B4-BE49-F238E27FC236}">
                <a16:creationId xmlns:a16="http://schemas.microsoft.com/office/drawing/2014/main" id="{C63EEA6D-0E00-40F3-9341-1FF53F90E8CA}"/>
              </a:ext>
            </a:extLst>
          </p:cNvPr>
          <p:cNvSpPr>
            <a:spLocks noGrp="1"/>
          </p:cNvSpPr>
          <p:nvPr/>
        </p:nvSpPr>
        <p:spPr>
          <a:xfrm>
            <a:off x="91440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14" name="Shape 12">
            <a:extLst>
              <a:ext uri="{FF2B5EF4-FFF2-40B4-BE49-F238E27FC236}">
                <a16:creationId xmlns:a16="http://schemas.microsoft.com/office/drawing/2014/main" id="{27906FF5-28C3-4BCE-9230-D8D754E343A5}"/>
              </a:ext>
            </a:extLst>
          </p:cNvPr>
          <p:cNvSpPr>
            <a:spLocks noGrp="1"/>
          </p:cNvSpPr>
          <p:nvPr/>
        </p:nvSpPr>
        <p:spPr>
          <a:xfrm>
            <a:off x="1078992" y="1984248"/>
            <a:ext cx="438912" cy="438912"/>
          </a:xfrm>
          <a:prstGeom prst="ellipse">
            <a:avLst/>
          </a:prstGeom>
          <a:solidFill>
            <a:srgbClr val="EAF8FC"/>
          </a:solidFill>
          <a:ln w="10160">
            <a:solidFill>
              <a:srgbClr val="D5EEF7"/>
            </a:solidFill>
            <a:prstDash val="solid"/>
          </a:ln>
        </p:spPr>
        <p:txBody>
          <a:bodyPr/>
          <a:lstStyle/>
          <a:p>
            <a:endParaRPr/>
          </a:p>
        </p:txBody>
      </p:sp>
      <p:sp>
        <p:nvSpPr>
          <p:cNvPr id="15" name="Text 13">
            <a:extLst>
              <a:ext uri="{FF2B5EF4-FFF2-40B4-BE49-F238E27FC236}">
                <a16:creationId xmlns:a16="http://schemas.microsoft.com/office/drawing/2014/main" id="{8E110575-9924-4A24-8884-A28E9FB4DF15}"/>
              </a:ext>
            </a:extLst>
          </p:cNvPr>
          <p:cNvSpPr>
            <a:spLocks noGrp="1"/>
          </p:cNvSpPr>
          <p:nvPr/>
        </p:nvSpPr>
        <p:spPr>
          <a:xfrm>
            <a:off x="1078992" y="2043684"/>
            <a:ext cx="438912" cy="228600"/>
          </a:xfrm>
          <a:prstGeom prst="rect">
            <a:avLst/>
          </a:prstGeom>
          <a:noFill/>
        </p:spPr>
        <p:txBody>
          <a:bodyPr wrap="square" lIns="0" tIns="0" rIns="0" bIns="0" anchor="ctr"/>
          <a:lstStyle/>
          <a:p>
            <a:pPr marL="0" indent="0" algn="ctr">
              <a:buNone/>
            </a:pPr>
            <a:r>
              <a:rPr sz="1550">
                <a:solidFill>
                  <a:srgbClr val="17B7D7"/>
                </a:solidFill>
              </a:rPr>
              <a:t>1</a:t>
            </a:r>
          </a:p>
        </p:txBody>
      </p:sp>
      <p:sp>
        <p:nvSpPr>
          <p:cNvPr id="16" name="Text 14">
            <a:extLst>
              <a:ext uri="{FF2B5EF4-FFF2-40B4-BE49-F238E27FC236}">
                <a16:creationId xmlns:a16="http://schemas.microsoft.com/office/drawing/2014/main" id="{1F68C214-B521-4066-9D3A-42A47BEA2852}"/>
              </a:ext>
            </a:extLst>
          </p:cNvPr>
          <p:cNvSpPr>
            <a:spLocks noGrp="1"/>
          </p:cNvSpPr>
          <p:nvPr/>
        </p:nvSpPr>
        <p:spPr>
          <a:xfrm>
            <a:off x="160020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Clave primaria</a:t>
            </a:r>
          </a:p>
        </p:txBody>
      </p:sp>
      <p:sp>
        <p:nvSpPr>
          <p:cNvPr id="17" name="Shape 15">
            <a:extLst>
              <a:ext uri="{FF2B5EF4-FFF2-40B4-BE49-F238E27FC236}">
                <a16:creationId xmlns:a16="http://schemas.microsoft.com/office/drawing/2014/main" id="{520B91C2-EF3C-4B81-A26F-17D73073C2AE}"/>
              </a:ext>
            </a:extLst>
          </p:cNvPr>
          <p:cNvSpPr>
            <a:spLocks noGrp="1"/>
          </p:cNvSpPr>
          <p:nvPr/>
        </p:nvSpPr>
        <p:spPr>
          <a:xfrm>
            <a:off x="1600200" y="2313432"/>
            <a:ext cx="411480" cy="0"/>
          </a:xfrm>
          <a:prstGeom prst="line">
            <a:avLst/>
          </a:prstGeom>
          <a:noFill/>
          <a:ln w="22860">
            <a:solidFill>
              <a:srgbClr val="17B7D7"/>
            </a:solidFill>
            <a:prstDash val="solid"/>
          </a:ln>
        </p:spPr>
        <p:txBody>
          <a:bodyPr/>
          <a:lstStyle/>
          <a:p>
            <a:endParaRPr/>
          </a:p>
        </p:txBody>
      </p:sp>
      <p:sp>
        <p:nvSpPr>
          <p:cNvPr id="18" name="Text 16">
            <a:extLst>
              <a:ext uri="{FF2B5EF4-FFF2-40B4-BE49-F238E27FC236}">
                <a16:creationId xmlns:a16="http://schemas.microsoft.com/office/drawing/2014/main" id="{B4396596-5CDA-4DBE-8878-C0F74DCD22B4}"/>
              </a:ext>
            </a:extLst>
          </p:cNvPr>
          <p:cNvSpPr>
            <a:spLocks noGrp="1"/>
          </p:cNvSpPr>
          <p:nvPr/>
        </p:nvSpPr>
        <p:spPr>
          <a:xfrm>
            <a:off x="111556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Ancho, secuencia y distribución de inserciones.</a:t>
            </a:r>
          </a:p>
        </p:txBody>
      </p:sp>
      <p:sp>
        <p:nvSpPr>
          <p:cNvPr id="19" name="Shape 17">
            <a:extLst>
              <a:ext uri="{FF2B5EF4-FFF2-40B4-BE49-F238E27FC236}">
                <a16:creationId xmlns:a16="http://schemas.microsoft.com/office/drawing/2014/main" id="{8147991A-6C9F-439E-B048-C7F909634508}"/>
              </a:ext>
            </a:extLst>
          </p:cNvPr>
          <p:cNvSpPr>
            <a:spLocks noGrp="1"/>
          </p:cNvSpPr>
          <p:nvPr/>
        </p:nvSpPr>
        <p:spPr>
          <a:xfrm>
            <a:off x="452628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0" name="Shape 18">
            <a:extLst>
              <a:ext uri="{FF2B5EF4-FFF2-40B4-BE49-F238E27FC236}">
                <a16:creationId xmlns:a16="http://schemas.microsoft.com/office/drawing/2014/main" id="{9EF733E9-A002-4C96-90E6-E896672B3CFD}"/>
              </a:ext>
            </a:extLst>
          </p:cNvPr>
          <p:cNvSpPr>
            <a:spLocks noGrp="1"/>
          </p:cNvSpPr>
          <p:nvPr/>
        </p:nvSpPr>
        <p:spPr>
          <a:xfrm>
            <a:off x="4690872" y="1984248"/>
            <a:ext cx="438912" cy="438912"/>
          </a:xfrm>
          <a:prstGeom prst="ellipse">
            <a:avLst/>
          </a:prstGeom>
          <a:solidFill>
            <a:srgbClr val="EAF8FC"/>
          </a:solidFill>
          <a:ln w="10160">
            <a:solidFill>
              <a:srgbClr val="D5EEF7"/>
            </a:solidFill>
            <a:prstDash val="solid"/>
          </a:ln>
        </p:spPr>
        <p:txBody>
          <a:bodyPr/>
          <a:lstStyle/>
          <a:p>
            <a:endParaRPr/>
          </a:p>
        </p:txBody>
      </p:sp>
      <p:sp>
        <p:nvSpPr>
          <p:cNvPr id="21" name="Text 19">
            <a:extLst>
              <a:ext uri="{FF2B5EF4-FFF2-40B4-BE49-F238E27FC236}">
                <a16:creationId xmlns:a16="http://schemas.microsoft.com/office/drawing/2014/main" id="{9D24A6A4-8B9E-4BFB-81F6-61A64001216C}"/>
              </a:ext>
            </a:extLst>
          </p:cNvPr>
          <p:cNvSpPr>
            <a:spLocks noGrp="1"/>
          </p:cNvSpPr>
          <p:nvPr/>
        </p:nvSpPr>
        <p:spPr>
          <a:xfrm>
            <a:off x="4690872" y="2043684"/>
            <a:ext cx="438912" cy="228600"/>
          </a:xfrm>
          <a:prstGeom prst="rect">
            <a:avLst/>
          </a:prstGeom>
          <a:noFill/>
        </p:spPr>
        <p:txBody>
          <a:bodyPr wrap="square" lIns="0" tIns="0" rIns="0" bIns="0" anchor="ctr"/>
          <a:lstStyle/>
          <a:p>
            <a:pPr marL="0" indent="0" algn="ctr">
              <a:buNone/>
            </a:pPr>
            <a:r>
              <a:rPr sz="1550">
                <a:solidFill>
                  <a:srgbClr val="17B7D7"/>
                </a:solidFill>
              </a:rPr>
              <a:t>2</a:t>
            </a:r>
          </a:p>
        </p:txBody>
      </p:sp>
      <p:sp>
        <p:nvSpPr>
          <p:cNvPr id="22" name="Text 20">
            <a:extLst>
              <a:ext uri="{FF2B5EF4-FFF2-40B4-BE49-F238E27FC236}">
                <a16:creationId xmlns:a16="http://schemas.microsoft.com/office/drawing/2014/main" id="{53B490FB-80F7-46A0-9B9C-886B1DD8EBF9}"/>
              </a:ext>
            </a:extLst>
          </p:cNvPr>
          <p:cNvSpPr>
            <a:spLocks noGrp="1"/>
          </p:cNvSpPr>
          <p:nvPr/>
        </p:nvSpPr>
        <p:spPr>
          <a:xfrm>
            <a:off x="521208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Orden físico</a:t>
            </a:r>
          </a:p>
        </p:txBody>
      </p:sp>
      <p:sp>
        <p:nvSpPr>
          <p:cNvPr id="23" name="Shape 21">
            <a:extLst>
              <a:ext uri="{FF2B5EF4-FFF2-40B4-BE49-F238E27FC236}">
                <a16:creationId xmlns:a16="http://schemas.microsoft.com/office/drawing/2014/main" id="{D3F3A3F9-DEBD-4625-95BC-DAAAB52868A2}"/>
              </a:ext>
            </a:extLst>
          </p:cNvPr>
          <p:cNvSpPr>
            <a:spLocks noGrp="1"/>
          </p:cNvSpPr>
          <p:nvPr/>
        </p:nvSpPr>
        <p:spPr>
          <a:xfrm>
            <a:off x="5212080" y="2313432"/>
            <a:ext cx="411480" cy="0"/>
          </a:xfrm>
          <a:prstGeom prst="line">
            <a:avLst/>
          </a:prstGeom>
          <a:noFill/>
          <a:ln w="22860">
            <a:solidFill>
              <a:srgbClr val="17B7D7"/>
            </a:solidFill>
            <a:prstDash val="solid"/>
          </a:ln>
        </p:spPr>
        <p:txBody>
          <a:bodyPr/>
          <a:lstStyle/>
          <a:p>
            <a:endParaRPr/>
          </a:p>
        </p:txBody>
      </p:sp>
      <p:sp>
        <p:nvSpPr>
          <p:cNvPr id="24" name="Text 22">
            <a:extLst>
              <a:ext uri="{FF2B5EF4-FFF2-40B4-BE49-F238E27FC236}">
                <a16:creationId xmlns:a16="http://schemas.microsoft.com/office/drawing/2014/main" id="{E9610762-B4D3-4DD8-9CCD-A0F730F6ECB5}"/>
              </a:ext>
            </a:extLst>
          </p:cNvPr>
          <p:cNvSpPr>
            <a:spLocks noGrp="1"/>
          </p:cNvSpPr>
          <p:nvPr/>
        </p:nvSpPr>
        <p:spPr>
          <a:xfrm>
            <a:off x="472744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Heap, clustered o tabla organizada por índice.</a:t>
            </a:r>
          </a:p>
        </p:txBody>
      </p:sp>
      <p:sp>
        <p:nvSpPr>
          <p:cNvPr id="25" name="Shape 23">
            <a:extLst>
              <a:ext uri="{FF2B5EF4-FFF2-40B4-BE49-F238E27FC236}">
                <a16:creationId xmlns:a16="http://schemas.microsoft.com/office/drawing/2014/main" id="{CCEF4718-176D-45F0-B2D4-BF2C7E320CBA}"/>
              </a:ext>
            </a:extLst>
          </p:cNvPr>
          <p:cNvSpPr>
            <a:spLocks noGrp="1"/>
          </p:cNvSpPr>
          <p:nvPr/>
        </p:nvSpPr>
        <p:spPr>
          <a:xfrm>
            <a:off x="813816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6" name="Shape 24">
            <a:extLst>
              <a:ext uri="{FF2B5EF4-FFF2-40B4-BE49-F238E27FC236}">
                <a16:creationId xmlns:a16="http://schemas.microsoft.com/office/drawing/2014/main" id="{8D44E5AE-8A67-4853-B244-F81052A007F4}"/>
              </a:ext>
            </a:extLst>
          </p:cNvPr>
          <p:cNvSpPr>
            <a:spLocks noGrp="1"/>
          </p:cNvSpPr>
          <p:nvPr/>
        </p:nvSpPr>
        <p:spPr>
          <a:xfrm>
            <a:off x="8302752" y="1984248"/>
            <a:ext cx="438912" cy="438912"/>
          </a:xfrm>
          <a:prstGeom prst="ellipse">
            <a:avLst/>
          </a:prstGeom>
          <a:solidFill>
            <a:srgbClr val="EAF8FC"/>
          </a:solidFill>
          <a:ln w="10160">
            <a:solidFill>
              <a:srgbClr val="D5EEF7"/>
            </a:solidFill>
            <a:prstDash val="solid"/>
          </a:ln>
        </p:spPr>
        <p:txBody>
          <a:bodyPr/>
          <a:lstStyle/>
          <a:p>
            <a:endParaRPr/>
          </a:p>
        </p:txBody>
      </p:sp>
      <p:sp>
        <p:nvSpPr>
          <p:cNvPr id="27" name="Text 25">
            <a:extLst>
              <a:ext uri="{FF2B5EF4-FFF2-40B4-BE49-F238E27FC236}">
                <a16:creationId xmlns:a16="http://schemas.microsoft.com/office/drawing/2014/main" id="{1E839E76-0723-4E97-92D6-AA1B56FF2E71}"/>
              </a:ext>
            </a:extLst>
          </p:cNvPr>
          <p:cNvSpPr>
            <a:spLocks noGrp="1"/>
          </p:cNvSpPr>
          <p:nvPr/>
        </p:nvSpPr>
        <p:spPr>
          <a:xfrm>
            <a:off x="8302752" y="2043684"/>
            <a:ext cx="438912" cy="228600"/>
          </a:xfrm>
          <a:prstGeom prst="rect">
            <a:avLst/>
          </a:prstGeom>
          <a:noFill/>
        </p:spPr>
        <p:txBody>
          <a:bodyPr wrap="square" lIns="0" tIns="0" rIns="0" bIns="0" anchor="ctr"/>
          <a:lstStyle/>
          <a:p>
            <a:pPr marL="0" indent="0" algn="ctr">
              <a:buNone/>
            </a:pPr>
            <a:r>
              <a:rPr sz="1550">
                <a:solidFill>
                  <a:srgbClr val="17B7D7"/>
                </a:solidFill>
              </a:rPr>
              <a:t>3</a:t>
            </a:r>
          </a:p>
        </p:txBody>
      </p:sp>
      <p:sp>
        <p:nvSpPr>
          <p:cNvPr id="28" name="Text 26">
            <a:extLst>
              <a:ext uri="{FF2B5EF4-FFF2-40B4-BE49-F238E27FC236}">
                <a16:creationId xmlns:a16="http://schemas.microsoft.com/office/drawing/2014/main" id="{39EAD97E-ACE2-4547-A6C7-EC305192AC81}"/>
              </a:ext>
            </a:extLst>
          </p:cNvPr>
          <p:cNvSpPr>
            <a:spLocks noGrp="1"/>
          </p:cNvSpPr>
          <p:nvPr/>
        </p:nvSpPr>
        <p:spPr>
          <a:xfrm>
            <a:off x="8823960" y="1993392"/>
            <a:ext cx="2286000" cy="256032"/>
          </a:xfrm>
          <a:prstGeom prst="rect">
            <a:avLst/>
          </a:prstGeom>
          <a:noFill/>
        </p:spPr>
        <p:txBody>
          <a:bodyPr wrap="square" lIns="0" tIns="0" rIns="0" bIns="0" anchor="ctr">
            <a:normAutofit/>
          </a:bodyPr>
          <a:lstStyle/>
          <a:p>
            <a:pPr marL="0" indent="0">
              <a:buNone/>
            </a:pPr>
            <a:r>
              <a:rPr lang="es-AR" sz="1600" b="1" dirty="0">
                <a:solidFill>
                  <a:srgbClr val="07245A"/>
                </a:solidFill>
              </a:rPr>
              <a:t>Ubicación</a:t>
            </a:r>
            <a:endParaRPr sz="1600" b="1" dirty="0">
              <a:solidFill>
                <a:srgbClr val="07245A"/>
              </a:solidFill>
            </a:endParaRPr>
          </a:p>
        </p:txBody>
      </p:sp>
      <p:sp>
        <p:nvSpPr>
          <p:cNvPr id="29" name="Shape 27">
            <a:extLst>
              <a:ext uri="{FF2B5EF4-FFF2-40B4-BE49-F238E27FC236}">
                <a16:creationId xmlns:a16="http://schemas.microsoft.com/office/drawing/2014/main" id="{FCA73888-782F-4505-B3DD-DA63AA7D156F}"/>
              </a:ext>
            </a:extLst>
          </p:cNvPr>
          <p:cNvSpPr>
            <a:spLocks noGrp="1"/>
          </p:cNvSpPr>
          <p:nvPr/>
        </p:nvSpPr>
        <p:spPr>
          <a:xfrm>
            <a:off x="8823960" y="2313432"/>
            <a:ext cx="411480" cy="0"/>
          </a:xfrm>
          <a:prstGeom prst="line">
            <a:avLst/>
          </a:prstGeom>
          <a:noFill/>
          <a:ln w="22860">
            <a:solidFill>
              <a:srgbClr val="17B7D7"/>
            </a:solidFill>
            <a:prstDash val="solid"/>
          </a:ln>
        </p:spPr>
        <p:txBody>
          <a:bodyPr/>
          <a:lstStyle/>
          <a:p>
            <a:endParaRPr/>
          </a:p>
        </p:txBody>
      </p:sp>
      <p:sp>
        <p:nvSpPr>
          <p:cNvPr id="30" name="Text 28">
            <a:extLst>
              <a:ext uri="{FF2B5EF4-FFF2-40B4-BE49-F238E27FC236}">
                <a16:creationId xmlns:a16="http://schemas.microsoft.com/office/drawing/2014/main" id="{DD936180-33BC-4320-BA9F-81FA74FC0275}"/>
              </a:ext>
            </a:extLst>
          </p:cNvPr>
          <p:cNvSpPr>
            <a:spLocks noGrp="1"/>
          </p:cNvSpPr>
          <p:nvPr/>
        </p:nvSpPr>
        <p:spPr>
          <a:xfrm>
            <a:off x="833932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Filas consultadas juntas en menos páginas.</a:t>
            </a:r>
          </a:p>
        </p:txBody>
      </p:sp>
      <p:sp>
        <p:nvSpPr>
          <p:cNvPr id="31" name="Text 29">
            <a:extLst>
              <a:ext uri="{FF2B5EF4-FFF2-40B4-BE49-F238E27FC236}">
                <a16:creationId xmlns:a16="http://schemas.microsoft.com/office/drawing/2014/main" id="{5BD4C6CA-B995-4864-9406-0372256BA931}"/>
              </a:ext>
            </a:extLst>
          </p:cNvPr>
          <p:cNvSpPr>
            <a:spLocks noGrp="1"/>
          </p:cNvSpPr>
          <p:nvPr/>
        </p:nvSpPr>
        <p:spPr>
          <a:xfrm>
            <a:off x="914400" y="4800600"/>
            <a:ext cx="10332720" cy="411480"/>
          </a:xfrm>
          <a:prstGeom prst="rect">
            <a:avLst/>
          </a:prstGeom>
          <a:noFill/>
        </p:spPr>
        <p:txBody>
          <a:bodyPr wrap="square" anchor="ctr"/>
          <a:lstStyle/>
          <a:p>
            <a:pPr marL="0" indent="0" algn="ctr">
              <a:buNone/>
            </a:pPr>
            <a:r>
              <a:rPr sz="1800" b="1">
                <a:solidFill>
                  <a:srgbClr val="07245A"/>
                </a:solidFill>
              </a:rPr>
              <a:t>En InnoDB, una PK ancha también amplía los índices secundarios.</a:t>
            </a:r>
          </a:p>
        </p:txBody>
      </p:sp>
      <p:sp>
        <p:nvSpPr>
          <p:cNvPr id="32" name="Shape 30">
            <a:extLst>
              <a:ext uri="{FF2B5EF4-FFF2-40B4-BE49-F238E27FC236}">
                <a16:creationId xmlns:a16="http://schemas.microsoft.com/office/drawing/2014/main" id="{48DEFDF8-4233-43D1-ABC6-22926B0A171A}"/>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33" name="Text 31">
            <a:extLst>
              <a:ext uri="{FF2B5EF4-FFF2-40B4-BE49-F238E27FC236}">
                <a16:creationId xmlns:a16="http://schemas.microsoft.com/office/drawing/2014/main" id="{B6AAE201-650E-4F2F-8FFF-27F1A0DEDA4A}"/>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Tree>
    <p:extLst>
      <p:ext uri="{BB962C8B-B14F-4D97-AF65-F5344CB8AC3E}">
        <p14:creationId xmlns:p14="http://schemas.microsoft.com/office/powerpoint/2010/main" val="9683784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05CF088-86D1-4237-A8B6-86340931FA7C}"/>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847F890F-7C13-4F2A-84C6-BDC693CD35C7}"/>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7BB5CAB5-B296-4B90-B816-7720A845B7AF}"/>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93315444-6A06-4975-AAB4-F93BEAD99811}"/>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2FCAFC4E-8771-4726-B3C7-8BB4CF1BA10D}"/>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924EE4AA-ADBB-4B97-B2B8-D00FB2CB1693}"/>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7658BA90-9699-4AD7-B234-9BA2DF0BB11E}"/>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7F04B3A0-9ED9-4019-A5D3-4CE94D0DEC95}"/>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18</a:t>
            </a:r>
          </a:p>
        </p:txBody>
      </p:sp>
      <p:sp>
        <p:nvSpPr>
          <p:cNvPr id="10" name="Text 8">
            <a:extLst>
              <a:ext uri="{FF2B5EF4-FFF2-40B4-BE49-F238E27FC236}">
                <a16:creationId xmlns:a16="http://schemas.microsoft.com/office/drawing/2014/main" id="{BDFECAF7-7624-4B06-8A6D-78057E0F3E84}"/>
              </a:ext>
            </a:extLst>
          </p:cNvPr>
          <p:cNvSpPr>
            <a:spLocks noGrp="1"/>
          </p:cNvSpPr>
          <p:nvPr/>
        </p:nvSpPr>
        <p:spPr>
          <a:xfrm>
            <a:off x="658368" y="868680"/>
            <a:ext cx="10698480" cy="411480"/>
          </a:xfrm>
          <a:prstGeom prst="rect">
            <a:avLst/>
          </a:prstGeom>
          <a:noFill/>
        </p:spPr>
        <p:txBody>
          <a:bodyPr wrap="square" lIns="0" tIns="0" rIns="0" bIns="0" anchor="ctr">
            <a:normAutofit fontScale="88235" lnSpcReduction="20000"/>
          </a:bodyPr>
          <a:lstStyle/>
          <a:p>
            <a:pPr marL="0" indent="0">
              <a:buNone/>
            </a:pPr>
            <a:r>
              <a:rPr sz="3400" b="1">
                <a:solidFill>
                  <a:srgbClr val="07245A"/>
                </a:solidFill>
                <a:latin typeface="Aptos Display"/>
                <a:ea typeface="Aptos Display"/>
                <a:cs typeface="Aptos Display"/>
              </a:rPr>
              <a:t>Comparación multiplataforma</a:t>
            </a:r>
          </a:p>
        </p:txBody>
      </p:sp>
      <p:sp>
        <p:nvSpPr>
          <p:cNvPr id="11" name="Shape 9">
            <a:extLst>
              <a:ext uri="{FF2B5EF4-FFF2-40B4-BE49-F238E27FC236}">
                <a16:creationId xmlns:a16="http://schemas.microsoft.com/office/drawing/2014/main" id="{E235F766-8095-40E7-8FB7-7BAB365E9F39}"/>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DCA4F053-8464-4768-A38C-A17DBDE4DE3E}"/>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Mismos problemas, implementaciones diferentes.</a:t>
            </a:r>
          </a:p>
        </p:txBody>
      </p:sp>
      <p:sp>
        <p:nvSpPr>
          <p:cNvPr id="13" name="Shape 11">
            <a:extLst>
              <a:ext uri="{FF2B5EF4-FFF2-40B4-BE49-F238E27FC236}">
                <a16:creationId xmlns:a16="http://schemas.microsoft.com/office/drawing/2014/main" id="{C63EEA6D-0E00-40F3-9341-1FF53F90E8CA}"/>
              </a:ext>
            </a:extLst>
          </p:cNvPr>
          <p:cNvSpPr>
            <a:spLocks noGrp="1"/>
          </p:cNvSpPr>
          <p:nvPr/>
        </p:nvSpPr>
        <p:spPr>
          <a:xfrm>
            <a:off x="91440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14" name="Shape 12">
            <a:extLst>
              <a:ext uri="{FF2B5EF4-FFF2-40B4-BE49-F238E27FC236}">
                <a16:creationId xmlns:a16="http://schemas.microsoft.com/office/drawing/2014/main" id="{27906FF5-28C3-4BCE-9230-D8D754E343A5}"/>
              </a:ext>
            </a:extLst>
          </p:cNvPr>
          <p:cNvSpPr>
            <a:spLocks noGrp="1"/>
          </p:cNvSpPr>
          <p:nvPr/>
        </p:nvSpPr>
        <p:spPr>
          <a:xfrm>
            <a:off x="1078992" y="1984248"/>
            <a:ext cx="438912" cy="438912"/>
          </a:xfrm>
          <a:prstGeom prst="ellipse">
            <a:avLst/>
          </a:prstGeom>
          <a:solidFill>
            <a:srgbClr val="EAF8FC"/>
          </a:solidFill>
          <a:ln w="10160">
            <a:solidFill>
              <a:srgbClr val="D5EEF7"/>
            </a:solidFill>
            <a:prstDash val="solid"/>
          </a:ln>
        </p:spPr>
        <p:txBody>
          <a:bodyPr/>
          <a:lstStyle/>
          <a:p>
            <a:endParaRPr/>
          </a:p>
        </p:txBody>
      </p:sp>
      <p:sp>
        <p:nvSpPr>
          <p:cNvPr id="15" name="Text 13">
            <a:extLst>
              <a:ext uri="{FF2B5EF4-FFF2-40B4-BE49-F238E27FC236}">
                <a16:creationId xmlns:a16="http://schemas.microsoft.com/office/drawing/2014/main" id="{8E110575-9924-4A24-8884-A28E9FB4DF15}"/>
              </a:ext>
            </a:extLst>
          </p:cNvPr>
          <p:cNvSpPr>
            <a:spLocks noGrp="1"/>
          </p:cNvSpPr>
          <p:nvPr/>
        </p:nvSpPr>
        <p:spPr>
          <a:xfrm>
            <a:off x="1078992" y="2043684"/>
            <a:ext cx="438912" cy="228600"/>
          </a:xfrm>
          <a:prstGeom prst="rect">
            <a:avLst/>
          </a:prstGeom>
          <a:noFill/>
        </p:spPr>
        <p:txBody>
          <a:bodyPr wrap="square" lIns="0" tIns="0" rIns="0" bIns="0" anchor="ctr"/>
          <a:lstStyle/>
          <a:p>
            <a:pPr marL="0" indent="0" algn="ctr">
              <a:buNone/>
            </a:pPr>
            <a:r>
              <a:rPr sz="1550">
                <a:solidFill>
                  <a:srgbClr val="17B7D7"/>
                </a:solidFill>
              </a:rPr>
              <a:t>1</a:t>
            </a:r>
          </a:p>
        </p:txBody>
      </p:sp>
      <p:sp>
        <p:nvSpPr>
          <p:cNvPr id="16" name="Text 14">
            <a:extLst>
              <a:ext uri="{FF2B5EF4-FFF2-40B4-BE49-F238E27FC236}">
                <a16:creationId xmlns:a16="http://schemas.microsoft.com/office/drawing/2014/main" id="{1F68C214-B521-4066-9D3A-42A47BEA2852}"/>
              </a:ext>
            </a:extLst>
          </p:cNvPr>
          <p:cNvSpPr>
            <a:spLocks noGrp="1"/>
          </p:cNvSpPr>
          <p:nvPr/>
        </p:nvSpPr>
        <p:spPr>
          <a:xfrm>
            <a:off x="160020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PostgreSQL</a:t>
            </a:r>
          </a:p>
        </p:txBody>
      </p:sp>
      <p:sp>
        <p:nvSpPr>
          <p:cNvPr id="17" name="Shape 15">
            <a:extLst>
              <a:ext uri="{FF2B5EF4-FFF2-40B4-BE49-F238E27FC236}">
                <a16:creationId xmlns:a16="http://schemas.microsoft.com/office/drawing/2014/main" id="{520B91C2-EF3C-4B81-A26F-17D73073C2AE}"/>
              </a:ext>
            </a:extLst>
          </p:cNvPr>
          <p:cNvSpPr>
            <a:spLocks noGrp="1"/>
          </p:cNvSpPr>
          <p:nvPr/>
        </p:nvSpPr>
        <p:spPr>
          <a:xfrm>
            <a:off x="1600200" y="2313432"/>
            <a:ext cx="411480" cy="0"/>
          </a:xfrm>
          <a:prstGeom prst="line">
            <a:avLst/>
          </a:prstGeom>
          <a:noFill/>
          <a:ln w="22860">
            <a:solidFill>
              <a:srgbClr val="17B7D7"/>
            </a:solidFill>
            <a:prstDash val="solid"/>
          </a:ln>
        </p:spPr>
        <p:txBody>
          <a:bodyPr/>
          <a:lstStyle/>
          <a:p>
            <a:endParaRPr/>
          </a:p>
        </p:txBody>
      </p:sp>
      <p:sp>
        <p:nvSpPr>
          <p:cNvPr id="18" name="Text 16">
            <a:extLst>
              <a:ext uri="{FF2B5EF4-FFF2-40B4-BE49-F238E27FC236}">
                <a16:creationId xmlns:a16="http://schemas.microsoft.com/office/drawing/2014/main" id="{B4396596-5CDA-4DBE-8878-C0F74DCD22B4}"/>
              </a:ext>
            </a:extLst>
          </p:cNvPr>
          <p:cNvSpPr>
            <a:spLocks noGrp="1"/>
          </p:cNvSpPr>
          <p:nvPr/>
        </p:nvSpPr>
        <p:spPr>
          <a:xfrm>
            <a:off x="111556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Heap, índices separados y EXPLAIN.</a:t>
            </a:r>
          </a:p>
        </p:txBody>
      </p:sp>
      <p:sp>
        <p:nvSpPr>
          <p:cNvPr id="19" name="Shape 17">
            <a:extLst>
              <a:ext uri="{FF2B5EF4-FFF2-40B4-BE49-F238E27FC236}">
                <a16:creationId xmlns:a16="http://schemas.microsoft.com/office/drawing/2014/main" id="{8147991A-6C9F-439E-B048-C7F909634508}"/>
              </a:ext>
            </a:extLst>
          </p:cNvPr>
          <p:cNvSpPr>
            <a:spLocks noGrp="1"/>
          </p:cNvSpPr>
          <p:nvPr/>
        </p:nvSpPr>
        <p:spPr>
          <a:xfrm>
            <a:off x="452628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0" name="Shape 18">
            <a:extLst>
              <a:ext uri="{FF2B5EF4-FFF2-40B4-BE49-F238E27FC236}">
                <a16:creationId xmlns:a16="http://schemas.microsoft.com/office/drawing/2014/main" id="{9EF733E9-A002-4C96-90E6-E896672B3CFD}"/>
              </a:ext>
            </a:extLst>
          </p:cNvPr>
          <p:cNvSpPr>
            <a:spLocks noGrp="1"/>
          </p:cNvSpPr>
          <p:nvPr/>
        </p:nvSpPr>
        <p:spPr>
          <a:xfrm>
            <a:off x="4690872" y="1984248"/>
            <a:ext cx="438912" cy="438912"/>
          </a:xfrm>
          <a:prstGeom prst="ellipse">
            <a:avLst/>
          </a:prstGeom>
          <a:solidFill>
            <a:srgbClr val="EAF8FC"/>
          </a:solidFill>
          <a:ln w="10160">
            <a:solidFill>
              <a:srgbClr val="D5EEF7"/>
            </a:solidFill>
            <a:prstDash val="solid"/>
          </a:ln>
        </p:spPr>
        <p:txBody>
          <a:bodyPr/>
          <a:lstStyle/>
          <a:p>
            <a:endParaRPr/>
          </a:p>
        </p:txBody>
      </p:sp>
      <p:sp>
        <p:nvSpPr>
          <p:cNvPr id="21" name="Text 19">
            <a:extLst>
              <a:ext uri="{FF2B5EF4-FFF2-40B4-BE49-F238E27FC236}">
                <a16:creationId xmlns:a16="http://schemas.microsoft.com/office/drawing/2014/main" id="{9D24A6A4-8B9E-4BFB-81F6-61A64001216C}"/>
              </a:ext>
            </a:extLst>
          </p:cNvPr>
          <p:cNvSpPr>
            <a:spLocks noGrp="1"/>
          </p:cNvSpPr>
          <p:nvPr/>
        </p:nvSpPr>
        <p:spPr>
          <a:xfrm>
            <a:off x="4690872" y="2043684"/>
            <a:ext cx="438912" cy="228600"/>
          </a:xfrm>
          <a:prstGeom prst="rect">
            <a:avLst/>
          </a:prstGeom>
          <a:noFill/>
        </p:spPr>
        <p:txBody>
          <a:bodyPr wrap="square" lIns="0" tIns="0" rIns="0" bIns="0" anchor="ctr"/>
          <a:lstStyle/>
          <a:p>
            <a:pPr marL="0" indent="0" algn="ctr">
              <a:buNone/>
            </a:pPr>
            <a:r>
              <a:rPr sz="1550">
                <a:solidFill>
                  <a:srgbClr val="17B7D7"/>
                </a:solidFill>
              </a:rPr>
              <a:t>2</a:t>
            </a:r>
          </a:p>
        </p:txBody>
      </p:sp>
      <p:sp>
        <p:nvSpPr>
          <p:cNvPr id="22" name="Text 20">
            <a:extLst>
              <a:ext uri="{FF2B5EF4-FFF2-40B4-BE49-F238E27FC236}">
                <a16:creationId xmlns:a16="http://schemas.microsoft.com/office/drawing/2014/main" id="{53B490FB-80F7-46A0-9B9C-886B1DD8EBF9}"/>
              </a:ext>
            </a:extLst>
          </p:cNvPr>
          <p:cNvSpPr>
            <a:spLocks noGrp="1"/>
          </p:cNvSpPr>
          <p:nvPr/>
        </p:nvSpPr>
        <p:spPr>
          <a:xfrm>
            <a:off x="521208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MySQL / SQL Server</a:t>
            </a:r>
          </a:p>
        </p:txBody>
      </p:sp>
      <p:sp>
        <p:nvSpPr>
          <p:cNvPr id="23" name="Shape 21">
            <a:extLst>
              <a:ext uri="{FF2B5EF4-FFF2-40B4-BE49-F238E27FC236}">
                <a16:creationId xmlns:a16="http://schemas.microsoft.com/office/drawing/2014/main" id="{D3F3A3F9-DEBD-4625-95BC-DAAAB52868A2}"/>
              </a:ext>
            </a:extLst>
          </p:cNvPr>
          <p:cNvSpPr>
            <a:spLocks noGrp="1"/>
          </p:cNvSpPr>
          <p:nvPr/>
        </p:nvSpPr>
        <p:spPr>
          <a:xfrm>
            <a:off x="5212080" y="2313432"/>
            <a:ext cx="411480" cy="0"/>
          </a:xfrm>
          <a:prstGeom prst="line">
            <a:avLst/>
          </a:prstGeom>
          <a:noFill/>
          <a:ln w="22860">
            <a:solidFill>
              <a:srgbClr val="17B7D7"/>
            </a:solidFill>
            <a:prstDash val="solid"/>
          </a:ln>
        </p:spPr>
        <p:txBody>
          <a:bodyPr/>
          <a:lstStyle/>
          <a:p>
            <a:endParaRPr/>
          </a:p>
        </p:txBody>
      </p:sp>
      <p:sp>
        <p:nvSpPr>
          <p:cNvPr id="24" name="Text 22">
            <a:extLst>
              <a:ext uri="{FF2B5EF4-FFF2-40B4-BE49-F238E27FC236}">
                <a16:creationId xmlns:a16="http://schemas.microsoft.com/office/drawing/2014/main" id="{E9610762-B4D3-4DD8-9CCD-A0F730F6ECB5}"/>
              </a:ext>
            </a:extLst>
          </p:cNvPr>
          <p:cNvSpPr>
            <a:spLocks noGrp="1"/>
          </p:cNvSpPr>
          <p:nvPr/>
        </p:nvSpPr>
        <p:spPr>
          <a:xfrm>
            <a:off x="472744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PK clustered o heap/clustered index.</a:t>
            </a:r>
          </a:p>
        </p:txBody>
      </p:sp>
      <p:sp>
        <p:nvSpPr>
          <p:cNvPr id="25" name="Shape 23">
            <a:extLst>
              <a:ext uri="{FF2B5EF4-FFF2-40B4-BE49-F238E27FC236}">
                <a16:creationId xmlns:a16="http://schemas.microsoft.com/office/drawing/2014/main" id="{CCEF4718-176D-45F0-B2D4-BF2C7E320CBA}"/>
              </a:ext>
            </a:extLst>
          </p:cNvPr>
          <p:cNvSpPr>
            <a:spLocks noGrp="1"/>
          </p:cNvSpPr>
          <p:nvPr/>
        </p:nvSpPr>
        <p:spPr>
          <a:xfrm>
            <a:off x="813816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6" name="Shape 24">
            <a:extLst>
              <a:ext uri="{FF2B5EF4-FFF2-40B4-BE49-F238E27FC236}">
                <a16:creationId xmlns:a16="http://schemas.microsoft.com/office/drawing/2014/main" id="{8D44E5AE-8A67-4853-B244-F81052A007F4}"/>
              </a:ext>
            </a:extLst>
          </p:cNvPr>
          <p:cNvSpPr>
            <a:spLocks noGrp="1"/>
          </p:cNvSpPr>
          <p:nvPr/>
        </p:nvSpPr>
        <p:spPr>
          <a:xfrm>
            <a:off x="8302752" y="1984248"/>
            <a:ext cx="438912" cy="438912"/>
          </a:xfrm>
          <a:prstGeom prst="ellipse">
            <a:avLst/>
          </a:prstGeom>
          <a:solidFill>
            <a:srgbClr val="EAF8FC"/>
          </a:solidFill>
          <a:ln w="10160">
            <a:solidFill>
              <a:srgbClr val="D5EEF7"/>
            </a:solidFill>
            <a:prstDash val="solid"/>
          </a:ln>
        </p:spPr>
        <p:txBody>
          <a:bodyPr/>
          <a:lstStyle/>
          <a:p>
            <a:endParaRPr/>
          </a:p>
        </p:txBody>
      </p:sp>
      <p:sp>
        <p:nvSpPr>
          <p:cNvPr id="27" name="Text 25">
            <a:extLst>
              <a:ext uri="{FF2B5EF4-FFF2-40B4-BE49-F238E27FC236}">
                <a16:creationId xmlns:a16="http://schemas.microsoft.com/office/drawing/2014/main" id="{1E839E76-0723-4E97-92D6-AA1B56FF2E71}"/>
              </a:ext>
            </a:extLst>
          </p:cNvPr>
          <p:cNvSpPr>
            <a:spLocks noGrp="1"/>
          </p:cNvSpPr>
          <p:nvPr/>
        </p:nvSpPr>
        <p:spPr>
          <a:xfrm>
            <a:off x="8302752" y="2043684"/>
            <a:ext cx="438912" cy="228600"/>
          </a:xfrm>
          <a:prstGeom prst="rect">
            <a:avLst/>
          </a:prstGeom>
          <a:noFill/>
        </p:spPr>
        <p:txBody>
          <a:bodyPr wrap="square" lIns="0" tIns="0" rIns="0" bIns="0" anchor="ctr"/>
          <a:lstStyle/>
          <a:p>
            <a:pPr marL="0" indent="0" algn="ctr">
              <a:buNone/>
            </a:pPr>
            <a:r>
              <a:rPr sz="1550">
                <a:solidFill>
                  <a:srgbClr val="17B7D7"/>
                </a:solidFill>
              </a:rPr>
              <a:t>3</a:t>
            </a:r>
          </a:p>
        </p:txBody>
      </p:sp>
      <p:sp>
        <p:nvSpPr>
          <p:cNvPr id="28" name="Text 26">
            <a:extLst>
              <a:ext uri="{FF2B5EF4-FFF2-40B4-BE49-F238E27FC236}">
                <a16:creationId xmlns:a16="http://schemas.microsoft.com/office/drawing/2014/main" id="{39EAD97E-ACE2-4547-A6C7-EC305192AC81}"/>
              </a:ext>
            </a:extLst>
          </p:cNvPr>
          <p:cNvSpPr>
            <a:spLocks noGrp="1"/>
          </p:cNvSpPr>
          <p:nvPr/>
        </p:nvSpPr>
        <p:spPr>
          <a:xfrm>
            <a:off x="882396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Oracle</a:t>
            </a:r>
          </a:p>
        </p:txBody>
      </p:sp>
      <p:sp>
        <p:nvSpPr>
          <p:cNvPr id="29" name="Shape 27">
            <a:extLst>
              <a:ext uri="{FF2B5EF4-FFF2-40B4-BE49-F238E27FC236}">
                <a16:creationId xmlns:a16="http://schemas.microsoft.com/office/drawing/2014/main" id="{FCA73888-782F-4505-B3DD-DA63AA7D156F}"/>
              </a:ext>
            </a:extLst>
          </p:cNvPr>
          <p:cNvSpPr>
            <a:spLocks noGrp="1"/>
          </p:cNvSpPr>
          <p:nvPr/>
        </p:nvSpPr>
        <p:spPr>
          <a:xfrm>
            <a:off x="8823960" y="2313432"/>
            <a:ext cx="411480" cy="0"/>
          </a:xfrm>
          <a:prstGeom prst="line">
            <a:avLst/>
          </a:prstGeom>
          <a:noFill/>
          <a:ln w="22860">
            <a:solidFill>
              <a:srgbClr val="17B7D7"/>
            </a:solidFill>
            <a:prstDash val="solid"/>
          </a:ln>
        </p:spPr>
        <p:txBody>
          <a:bodyPr/>
          <a:lstStyle/>
          <a:p>
            <a:endParaRPr/>
          </a:p>
        </p:txBody>
      </p:sp>
      <p:sp>
        <p:nvSpPr>
          <p:cNvPr id="30" name="Text 28">
            <a:extLst>
              <a:ext uri="{FF2B5EF4-FFF2-40B4-BE49-F238E27FC236}">
                <a16:creationId xmlns:a16="http://schemas.microsoft.com/office/drawing/2014/main" id="{DD936180-33BC-4320-BA9F-81FA74FC0275}"/>
              </a:ext>
            </a:extLst>
          </p:cNvPr>
          <p:cNvSpPr>
            <a:spLocks noGrp="1"/>
          </p:cNvSpPr>
          <p:nvPr/>
        </p:nvSpPr>
        <p:spPr>
          <a:xfrm>
            <a:off x="833932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Heap o index-organized table.</a:t>
            </a:r>
          </a:p>
        </p:txBody>
      </p:sp>
      <p:sp>
        <p:nvSpPr>
          <p:cNvPr id="31" name="Text 29">
            <a:extLst>
              <a:ext uri="{FF2B5EF4-FFF2-40B4-BE49-F238E27FC236}">
                <a16:creationId xmlns:a16="http://schemas.microsoft.com/office/drawing/2014/main" id="{5BD4C6CA-B995-4864-9406-0372256BA931}"/>
              </a:ext>
            </a:extLst>
          </p:cNvPr>
          <p:cNvSpPr>
            <a:spLocks noGrp="1"/>
          </p:cNvSpPr>
          <p:nvPr/>
        </p:nvSpPr>
        <p:spPr>
          <a:xfrm>
            <a:off x="914400" y="4800600"/>
            <a:ext cx="10332720" cy="411480"/>
          </a:xfrm>
          <a:prstGeom prst="rect">
            <a:avLst/>
          </a:prstGeom>
          <a:noFill/>
        </p:spPr>
        <p:txBody>
          <a:bodyPr wrap="square" anchor="ctr"/>
          <a:lstStyle/>
          <a:p>
            <a:pPr marL="0" indent="0" algn="ctr">
              <a:buNone/>
            </a:pPr>
            <a:r>
              <a:rPr sz="1800" b="1">
                <a:solidFill>
                  <a:srgbClr val="07245A"/>
                </a:solidFill>
              </a:rPr>
              <a:t>El diseño físico es dependiente del DBMS, pero los criterios son transferibles.</a:t>
            </a:r>
          </a:p>
        </p:txBody>
      </p:sp>
      <p:sp>
        <p:nvSpPr>
          <p:cNvPr id="32" name="Shape 30">
            <a:extLst>
              <a:ext uri="{FF2B5EF4-FFF2-40B4-BE49-F238E27FC236}">
                <a16:creationId xmlns:a16="http://schemas.microsoft.com/office/drawing/2014/main" id="{48DEFDF8-4233-43D1-ABC6-22926B0A171A}"/>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33" name="Text 31">
            <a:extLst>
              <a:ext uri="{FF2B5EF4-FFF2-40B4-BE49-F238E27FC236}">
                <a16:creationId xmlns:a16="http://schemas.microsoft.com/office/drawing/2014/main" id="{B6AAE201-650E-4F2F-8FFF-27F1A0DEDA4A}"/>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Tree>
    <p:extLst>
      <p:ext uri="{BB962C8B-B14F-4D97-AF65-F5344CB8AC3E}">
        <p14:creationId xmlns:p14="http://schemas.microsoft.com/office/powerpoint/2010/main" val="9683784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05CF088-86D1-4237-A8B6-86340931FA7C}"/>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847F890F-7C13-4F2A-84C6-BDC693CD35C7}"/>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7BB5CAB5-B296-4B90-B816-7720A845B7AF}"/>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93315444-6A06-4975-AAB4-F93BEAD99811}"/>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2FCAFC4E-8771-4726-B3C7-8BB4CF1BA10D}"/>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924EE4AA-ADBB-4B97-B2B8-D00FB2CB1693}"/>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7658BA90-9699-4AD7-B234-9BA2DF0BB11E}"/>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7F04B3A0-9ED9-4019-A5D3-4CE94D0DEC95}"/>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19</a:t>
            </a:r>
          </a:p>
        </p:txBody>
      </p:sp>
      <p:sp>
        <p:nvSpPr>
          <p:cNvPr id="10" name="Text 8">
            <a:extLst>
              <a:ext uri="{FF2B5EF4-FFF2-40B4-BE49-F238E27FC236}">
                <a16:creationId xmlns:a16="http://schemas.microsoft.com/office/drawing/2014/main" id="{BDFECAF7-7624-4B06-8A6D-78057E0F3E84}"/>
              </a:ext>
            </a:extLst>
          </p:cNvPr>
          <p:cNvSpPr>
            <a:spLocks noGrp="1"/>
          </p:cNvSpPr>
          <p:nvPr/>
        </p:nvSpPr>
        <p:spPr>
          <a:xfrm>
            <a:off x="658368" y="868680"/>
            <a:ext cx="10698480" cy="411480"/>
          </a:xfrm>
          <a:prstGeom prst="rect">
            <a:avLst/>
          </a:prstGeom>
          <a:noFill/>
        </p:spPr>
        <p:txBody>
          <a:bodyPr wrap="square" lIns="0" tIns="0" rIns="0" bIns="0" anchor="ctr">
            <a:normAutofit fontScale="88235" lnSpcReduction="20000"/>
          </a:bodyPr>
          <a:lstStyle/>
          <a:p>
            <a:pPr marL="0" indent="0">
              <a:buNone/>
            </a:pPr>
            <a:r>
              <a:rPr lang="es-AR" sz="3400" b="1" dirty="0">
                <a:solidFill>
                  <a:srgbClr val="07245A"/>
                </a:solidFill>
                <a:latin typeface="Aptos Display"/>
                <a:ea typeface="Aptos Display"/>
                <a:cs typeface="Aptos Display"/>
              </a:rPr>
              <a:t>La navaja suiza del DBA: Índices</a:t>
            </a:r>
            <a:endParaRPr sz="3400" b="1" dirty="0">
              <a:solidFill>
                <a:srgbClr val="07245A"/>
              </a:solidFill>
              <a:latin typeface="Aptos Display"/>
              <a:ea typeface="Aptos Display"/>
              <a:cs typeface="Aptos Display"/>
            </a:endParaRPr>
          </a:p>
        </p:txBody>
      </p:sp>
      <p:sp>
        <p:nvSpPr>
          <p:cNvPr id="11" name="Shape 9">
            <a:extLst>
              <a:ext uri="{FF2B5EF4-FFF2-40B4-BE49-F238E27FC236}">
                <a16:creationId xmlns:a16="http://schemas.microsoft.com/office/drawing/2014/main" id="{E235F766-8095-40E7-8FB7-7BAB365E9F39}"/>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DCA4F053-8464-4768-A38C-A17DBDE4DE3E}"/>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Es útil cuando reduce el acceso necesario.</a:t>
            </a:r>
          </a:p>
        </p:txBody>
      </p:sp>
      <p:sp>
        <p:nvSpPr>
          <p:cNvPr id="13" name="Shape 11">
            <a:extLst>
              <a:ext uri="{FF2B5EF4-FFF2-40B4-BE49-F238E27FC236}">
                <a16:creationId xmlns:a16="http://schemas.microsoft.com/office/drawing/2014/main" id="{C63EEA6D-0E00-40F3-9341-1FF53F90E8CA}"/>
              </a:ext>
            </a:extLst>
          </p:cNvPr>
          <p:cNvSpPr>
            <a:spLocks noGrp="1"/>
          </p:cNvSpPr>
          <p:nvPr/>
        </p:nvSpPr>
        <p:spPr>
          <a:xfrm>
            <a:off x="91440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14" name="Shape 12">
            <a:extLst>
              <a:ext uri="{FF2B5EF4-FFF2-40B4-BE49-F238E27FC236}">
                <a16:creationId xmlns:a16="http://schemas.microsoft.com/office/drawing/2014/main" id="{27906FF5-28C3-4BCE-9230-D8D754E343A5}"/>
              </a:ext>
            </a:extLst>
          </p:cNvPr>
          <p:cNvSpPr>
            <a:spLocks noGrp="1"/>
          </p:cNvSpPr>
          <p:nvPr/>
        </p:nvSpPr>
        <p:spPr>
          <a:xfrm>
            <a:off x="1078992" y="1984248"/>
            <a:ext cx="438912" cy="438912"/>
          </a:xfrm>
          <a:prstGeom prst="ellipse">
            <a:avLst/>
          </a:prstGeom>
          <a:solidFill>
            <a:srgbClr val="EAF8FC"/>
          </a:solidFill>
          <a:ln w="10160">
            <a:solidFill>
              <a:srgbClr val="D5EEF7"/>
            </a:solidFill>
            <a:prstDash val="solid"/>
          </a:ln>
        </p:spPr>
        <p:txBody>
          <a:bodyPr/>
          <a:lstStyle/>
          <a:p>
            <a:endParaRPr/>
          </a:p>
        </p:txBody>
      </p:sp>
      <p:sp>
        <p:nvSpPr>
          <p:cNvPr id="15" name="Text 13">
            <a:extLst>
              <a:ext uri="{FF2B5EF4-FFF2-40B4-BE49-F238E27FC236}">
                <a16:creationId xmlns:a16="http://schemas.microsoft.com/office/drawing/2014/main" id="{8E110575-9924-4A24-8884-A28E9FB4DF15}"/>
              </a:ext>
            </a:extLst>
          </p:cNvPr>
          <p:cNvSpPr>
            <a:spLocks noGrp="1"/>
          </p:cNvSpPr>
          <p:nvPr/>
        </p:nvSpPr>
        <p:spPr>
          <a:xfrm>
            <a:off x="1078992" y="2043684"/>
            <a:ext cx="438912" cy="228600"/>
          </a:xfrm>
          <a:prstGeom prst="rect">
            <a:avLst/>
          </a:prstGeom>
          <a:noFill/>
        </p:spPr>
        <p:txBody>
          <a:bodyPr wrap="square" lIns="0" tIns="0" rIns="0" bIns="0" anchor="ctr"/>
          <a:lstStyle/>
          <a:p>
            <a:pPr marL="0" indent="0" algn="ctr">
              <a:buNone/>
            </a:pPr>
            <a:r>
              <a:rPr sz="1550">
                <a:solidFill>
                  <a:srgbClr val="17B7D7"/>
                </a:solidFill>
              </a:rPr>
              <a:t>1</a:t>
            </a:r>
          </a:p>
        </p:txBody>
      </p:sp>
      <p:sp>
        <p:nvSpPr>
          <p:cNvPr id="16" name="Text 14">
            <a:extLst>
              <a:ext uri="{FF2B5EF4-FFF2-40B4-BE49-F238E27FC236}">
                <a16:creationId xmlns:a16="http://schemas.microsoft.com/office/drawing/2014/main" id="{1F68C214-B521-4066-9D3A-42A47BEA2852}"/>
              </a:ext>
            </a:extLst>
          </p:cNvPr>
          <p:cNvSpPr>
            <a:spLocks noGrp="1"/>
          </p:cNvSpPr>
          <p:nvPr/>
        </p:nvSpPr>
        <p:spPr>
          <a:xfrm>
            <a:off x="160020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Localizar</a:t>
            </a:r>
          </a:p>
        </p:txBody>
      </p:sp>
      <p:sp>
        <p:nvSpPr>
          <p:cNvPr id="17" name="Shape 15">
            <a:extLst>
              <a:ext uri="{FF2B5EF4-FFF2-40B4-BE49-F238E27FC236}">
                <a16:creationId xmlns:a16="http://schemas.microsoft.com/office/drawing/2014/main" id="{520B91C2-EF3C-4B81-A26F-17D73073C2AE}"/>
              </a:ext>
            </a:extLst>
          </p:cNvPr>
          <p:cNvSpPr>
            <a:spLocks noGrp="1"/>
          </p:cNvSpPr>
          <p:nvPr/>
        </p:nvSpPr>
        <p:spPr>
          <a:xfrm>
            <a:off x="1600200" y="2313432"/>
            <a:ext cx="411480" cy="0"/>
          </a:xfrm>
          <a:prstGeom prst="line">
            <a:avLst/>
          </a:prstGeom>
          <a:noFill/>
          <a:ln w="22860">
            <a:solidFill>
              <a:srgbClr val="17B7D7"/>
            </a:solidFill>
            <a:prstDash val="solid"/>
          </a:ln>
        </p:spPr>
        <p:txBody>
          <a:bodyPr/>
          <a:lstStyle/>
          <a:p>
            <a:endParaRPr/>
          </a:p>
        </p:txBody>
      </p:sp>
      <p:sp>
        <p:nvSpPr>
          <p:cNvPr id="18" name="Text 16">
            <a:extLst>
              <a:ext uri="{FF2B5EF4-FFF2-40B4-BE49-F238E27FC236}">
                <a16:creationId xmlns:a16="http://schemas.microsoft.com/office/drawing/2014/main" id="{B4396596-5CDA-4DBE-8878-C0F74DCD22B4}"/>
              </a:ext>
            </a:extLst>
          </p:cNvPr>
          <p:cNvSpPr>
            <a:spLocks noGrp="1"/>
          </p:cNvSpPr>
          <p:nvPr/>
        </p:nvSpPr>
        <p:spPr>
          <a:xfrm>
            <a:off x="111556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Encuentra claves sin recorrer toda la tabla.</a:t>
            </a:r>
          </a:p>
        </p:txBody>
      </p:sp>
      <p:sp>
        <p:nvSpPr>
          <p:cNvPr id="19" name="Shape 17">
            <a:extLst>
              <a:ext uri="{FF2B5EF4-FFF2-40B4-BE49-F238E27FC236}">
                <a16:creationId xmlns:a16="http://schemas.microsoft.com/office/drawing/2014/main" id="{8147991A-6C9F-439E-B048-C7F909634508}"/>
              </a:ext>
            </a:extLst>
          </p:cNvPr>
          <p:cNvSpPr>
            <a:spLocks noGrp="1"/>
          </p:cNvSpPr>
          <p:nvPr/>
        </p:nvSpPr>
        <p:spPr>
          <a:xfrm>
            <a:off x="452628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0" name="Shape 18">
            <a:extLst>
              <a:ext uri="{FF2B5EF4-FFF2-40B4-BE49-F238E27FC236}">
                <a16:creationId xmlns:a16="http://schemas.microsoft.com/office/drawing/2014/main" id="{9EF733E9-A002-4C96-90E6-E896672B3CFD}"/>
              </a:ext>
            </a:extLst>
          </p:cNvPr>
          <p:cNvSpPr>
            <a:spLocks noGrp="1"/>
          </p:cNvSpPr>
          <p:nvPr/>
        </p:nvSpPr>
        <p:spPr>
          <a:xfrm>
            <a:off x="4690872" y="1984248"/>
            <a:ext cx="438912" cy="438912"/>
          </a:xfrm>
          <a:prstGeom prst="ellipse">
            <a:avLst/>
          </a:prstGeom>
          <a:solidFill>
            <a:srgbClr val="EAF8FC"/>
          </a:solidFill>
          <a:ln w="10160">
            <a:solidFill>
              <a:srgbClr val="D5EEF7"/>
            </a:solidFill>
            <a:prstDash val="solid"/>
          </a:ln>
        </p:spPr>
        <p:txBody>
          <a:bodyPr/>
          <a:lstStyle/>
          <a:p>
            <a:endParaRPr/>
          </a:p>
        </p:txBody>
      </p:sp>
      <p:sp>
        <p:nvSpPr>
          <p:cNvPr id="21" name="Text 19">
            <a:extLst>
              <a:ext uri="{FF2B5EF4-FFF2-40B4-BE49-F238E27FC236}">
                <a16:creationId xmlns:a16="http://schemas.microsoft.com/office/drawing/2014/main" id="{9D24A6A4-8B9E-4BFB-81F6-61A64001216C}"/>
              </a:ext>
            </a:extLst>
          </p:cNvPr>
          <p:cNvSpPr>
            <a:spLocks noGrp="1"/>
          </p:cNvSpPr>
          <p:nvPr/>
        </p:nvSpPr>
        <p:spPr>
          <a:xfrm>
            <a:off x="4690872" y="2043684"/>
            <a:ext cx="438912" cy="228600"/>
          </a:xfrm>
          <a:prstGeom prst="rect">
            <a:avLst/>
          </a:prstGeom>
          <a:noFill/>
        </p:spPr>
        <p:txBody>
          <a:bodyPr wrap="square" lIns="0" tIns="0" rIns="0" bIns="0" anchor="ctr"/>
          <a:lstStyle/>
          <a:p>
            <a:pPr marL="0" indent="0" algn="ctr">
              <a:buNone/>
            </a:pPr>
            <a:r>
              <a:rPr sz="1550">
                <a:solidFill>
                  <a:srgbClr val="17B7D7"/>
                </a:solidFill>
              </a:rPr>
              <a:t>2</a:t>
            </a:r>
          </a:p>
        </p:txBody>
      </p:sp>
      <p:sp>
        <p:nvSpPr>
          <p:cNvPr id="22" name="Text 20">
            <a:extLst>
              <a:ext uri="{FF2B5EF4-FFF2-40B4-BE49-F238E27FC236}">
                <a16:creationId xmlns:a16="http://schemas.microsoft.com/office/drawing/2014/main" id="{53B490FB-80F7-46A0-9B9C-886B1DD8EBF9}"/>
              </a:ext>
            </a:extLst>
          </p:cNvPr>
          <p:cNvSpPr>
            <a:spLocks noGrp="1"/>
          </p:cNvSpPr>
          <p:nvPr/>
        </p:nvSpPr>
        <p:spPr>
          <a:xfrm>
            <a:off x="521208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Ordenar</a:t>
            </a:r>
          </a:p>
        </p:txBody>
      </p:sp>
      <p:sp>
        <p:nvSpPr>
          <p:cNvPr id="23" name="Shape 21">
            <a:extLst>
              <a:ext uri="{FF2B5EF4-FFF2-40B4-BE49-F238E27FC236}">
                <a16:creationId xmlns:a16="http://schemas.microsoft.com/office/drawing/2014/main" id="{D3F3A3F9-DEBD-4625-95BC-DAAAB52868A2}"/>
              </a:ext>
            </a:extLst>
          </p:cNvPr>
          <p:cNvSpPr>
            <a:spLocks noGrp="1"/>
          </p:cNvSpPr>
          <p:nvPr/>
        </p:nvSpPr>
        <p:spPr>
          <a:xfrm>
            <a:off x="5212080" y="2313432"/>
            <a:ext cx="411480" cy="0"/>
          </a:xfrm>
          <a:prstGeom prst="line">
            <a:avLst/>
          </a:prstGeom>
          <a:noFill/>
          <a:ln w="22860">
            <a:solidFill>
              <a:srgbClr val="17B7D7"/>
            </a:solidFill>
            <a:prstDash val="solid"/>
          </a:ln>
        </p:spPr>
        <p:txBody>
          <a:bodyPr/>
          <a:lstStyle/>
          <a:p>
            <a:endParaRPr/>
          </a:p>
        </p:txBody>
      </p:sp>
      <p:sp>
        <p:nvSpPr>
          <p:cNvPr id="24" name="Text 22">
            <a:extLst>
              <a:ext uri="{FF2B5EF4-FFF2-40B4-BE49-F238E27FC236}">
                <a16:creationId xmlns:a16="http://schemas.microsoft.com/office/drawing/2014/main" id="{E9610762-B4D3-4DD8-9CCD-A0F730F6ECB5}"/>
              </a:ext>
            </a:extLst>
          </p:cNvPr>
          <p:cNvSpPr>
            <a:spLocks noGrp="1"/>
          </p:cNvSpPr>
          <p:nvPr/>
        </p:nvSpPr>
        <p:spPr>
          <a:xfrm>
            <a:off x="472744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Puede evitar ciertas operaciones de ordenamiento.</a:t>
            </a:r>
          </a:p>
        </p:txBody>
      </p:sp>
      <p:sp>
        <p:nvSpPr>
          <p:cNvPr id="25" name="Shape 23">
            <a:extLst>
              <a:ext uri="{FF2B5EF4-FFF2-40B4-BE49-F238E27FC236}">
                <a16:creationId xmlns:a16="http://schemas.microsoft.com/office/drawing/2014/main" id="{CCEF4718-176D-45F0-B2D4-BF2C7E320CBA}"/>
              </a:ext>
            </a:extLst>
          </p:cNvPr>
          <p:cNvSpPr>
            <a:spLocks noGrp="1"/>
          </p:cNvSpPr>
          <p:nvPr/>
        </p:nvSpPr>
        <p:spPr>
          <a:xfrm>
            <a:off x="813816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6" name="Shape 24">
            <a:extLst>
              <a:ext uri="{FF2B5EF4-FFF2-40B4-BE49-F238E27FC236}">
                <a16:creationId xmlns:a16="http://schemas.microsoft.com/office/drawing/2014/main" id="{8D44E5AE-8A67-4853-B244-F81052A007F4}"/>
              </a:ext>
            </a:extLst>
          </p:cNvPr>
          <p:cNvSpPr>
            <a:spLocks noGrp="1"/>
          </p:cNvSpPr>
          <p:nvPr/>
        </p:nvSpPr>
        <p:spPr>
          <a:xfrm>
            <a:off x="8302752" y="1984248"/>
            <a:ext cx="438912" cy="438912"/>
          </a:xfrm>
          <a:prstGeom prst="ellipse">
            <a:avLst/>
          </a:prstGeom>
          <a:solidFill>
            <a:srgbClr val="EAF8FC"/>
          </a:solidFill>
          <a:ln w="10160">
            <a:solidFill>
              <a:srgbClr val="D5EEF7"/>
            </a:solidFill>
            <a:prstDash val="solid"/>
          </a:ln>
        </p:spPr>
        <p:txBody>
          <a:bodyPr/>
          <a:lstStyle/>
          <a:p>
            <a:endParaRPr/>
          </a:p>
        </p:txBody>
      </p:sp>
      <p:sp>
        <p:nvSpPr>
          <p:cNvPr id="27" name="Text 25">
            <a:extLst>
              <a:ext uri="{FF2B5EF4-FFF2-40B4-BE49-F238E27FC236}">
                <a16:creationId xmlns:a16="http://schemas.microsoft.com/office/drawing/2014/main" id="{1E839E76-0723-4E97-92D6-AA1B56FF2E71}"/>
              </a:ext>
            </a:extLst>
          </p:cNvPr>
          <p:cNvSpPr>
            <a:spLocks noGrp="1"/>
          </p:cNvSpPr>
          <p:nvPr/>
        </p:nvSpPr>
        <p:spPr>
          <a:xfrm>
            <a:off x="8302752" y="2043684"/>
            <a:ext cx="438912" cy="228600"/>
          </a:xfrm>
          <a:prstGeom prst="rect">
            <a:avLst/>
          </a:prstGeom>
          <a:noFill/>
        </p:spPr>
        <p:txBody>
          <a:bodyPr wrap="square" lIns="0" tIns="0" rIns="0" bIns="0" anchor="ctr"/>
          <a:lstStyle/>
          <a:p>
            <a:pPr marL="0" indent="0" algn="ctr">
              <a:buNone/>
            </a:pPr>
            <a:r>
              <a:rPr sz="1550">
                <a:solidFill>
                  <a:srgbClr val="17B7D7"/>
                </a:solidFill>
              </a:rPr>
              <a:t>3</a:t>
            </a:r>
          </a:p>
        </p:txBody>
      </p:sp>
      <p:sp>
        <p:nvSpPr>
          <p:cNvPr id="28" name="Text 26">
            <a:extLst>
              <a:ext uri="{FF2B5EF4-FFF2-40B4-BE49-F238E27FC236}">
                <a16:creationId xmlns:a16="http://schemas.microsoft.com/office/drawing/2014/main" id="{39EAD97E-ACE2-4547-A6C7-EC305192AC81}"/>
              </a:ext>
            </a:extLst>
          </p:cNvPr>
          <p:cNvSpPr>
            <a:spLocks noGrp="1"/>
          </p:cNvSpPr>
          <p:nvPr/>
        </p:nvSpPr>
        <p:spPr>
          <a:xfrm>
            <a:off x="882396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Cubrir</a:t>
            </a:r>
          </a:p>
        </p:txBody>
      </p:sp>
      <p:sp>
        <p:nvSpPr>
          <p:cNvPr id="29" name="Shape 27">
            <a:extLst>
              <a:ext uri="{FF2B5EF4-FFF2-40B4-BE49-F238E27FC236}">
                <a16:creationId xmlns:a16="http://schemas.microsoft.com/office/drawing/2014/main" id="{FCA73888-782F-4505-B3DD-DA63AA7D156F}"/>
              </a:ext>
            </a:extLst>
          </p:cNvPr>
          <p:cNvSpPr>
            <a:spLocks noGrp="1"/>
          </p:cNvSpPr>
          <p:nvPr/>
        </p:nvSpPr>
        <p:spPr>
          <a:xfrm>
            <a:off x="8823960" y="2313432"/>
            <a:ext cx="411480" cy="0"/>
          </a:xfrm>
          <a:prstGeom prst="line">
            <a:avLst/>
          </a:prstGeom>
          <a:noFill/>
          <a:ln w="22860">
            <a:solidFill>
              <a:srgbClr val="17B7D7"/>
            </a:solidFill>
            <a:prstDash val="solid"/>
          </a:ln>
        </p:spPr>
        <p:txBody>
          <a:bodyPr/>
          <a:lstStyle/>
          <a:p>
            <a:endParaRPr/>
          </a:p>
        </p:txBody>
      </p:sp>
      <p:sp>
        <p:nvSpPr>
          <p:cNvPr id="30" name="Text 28">
            <a:extLst>
              <a:ext uri="{FF2B5EF4-FFF2-40B4-BE49-F238E27FC236}">
                <a16:creationId xmlns:a16="http://schemas.microsoft.com/office/drawing/2014/main" id="{DD936180-33BC-4320-BA9F-81FA74FC0275}"/>
              </a:ext>
            </a:extLst>
          </p:cNvPr>
          <p:cNvSpPr>
            <a:spLocks noGrp="1"/>
          </p:cNvSpPr>
          <p:nvPr/>
        </p:nvSpPr>
        <p:spPr>
          <a:xfrm>
            <a:off x="833932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Puede resolver datos sin volver a la tabla.</a:t>
            </a:r>
          </a:p>
        </p:txBody>
      </p:sp>
      <p:sp>
        <p:nvSpPr>
          <p:cNvPr id="31" name="Text 29">
            <a:extLst>
              <a:ext uri="{FF2B5EF4-FFF2-40B4-BE49-F238E27FC236}">
                <a16:creationId xmlns:a16="http://schemas.microsoft.com/office/drawing/2014/main" id="{5BD4C6CA-B995-4864-9406-0372256BA931}"/>
              </a:ext>
            </a:extLst>
          </p:cNvPr>
          <p:cNvSpPr>
            <a:spLocks noGrp="1"/>
          </p:cNvSpPr>
          <p:nvPr/>
        </p:nvSpPr>
        <p:spPr>
          <a:xfrm>
            <a:off x="914400" y="4800600"/>
            <a:ext cx="10332720" cy="411480"/>
          </a:xfrm>
          <a:prstGeom prst="rect">
            <a:avLst/>
          </a:prstGeom>
          <a:noFill/>
        </p:spPr>
        <p:txBody>
          <a:bodyPr wrap="square" anchor="ctr"/>
          <a:lstStyle/>
          <a:p>
            <a:pPr marL="0" indent="0" algn="ctr">
              <a:buNone/>
            </a:pPr>
            <a:r>
              <a:rPr sz="1800" b="1" dirty="0">
                <a:solidFill>
                  <a:srgbClr val="07245A"/>
                </a:solidFill>
              </a:rPr>
              <a:t>Crear un </a:t>
            </a:r>
            <a:r>
              <a:rPr sz="1800" b="1" dirty="0" err="1">
                <a:solidFill>
                  <a:srgbClr val="07245A"/>
                </a:solidFill>
              </a:rPr>
              <a:t>índice</a:t>
            </a:r>
            <a:r>
              <a:rPr sz="1800" b="1" dirty="0">
                <a:solidFill>
                  <a:srgbClr val="07245A"/>
                </a:solidFill>
              </a:rPr>
              <a:t> no </a:t>
            </a:r>
            <a:r>
              <a:rPr sz="1800" b="1" dirty="0" err="1">
                <a:solidFill>
                  <a:srgbClr val="07245A"/>
                </a:solidFill>
              </a:rPr>
              <a:t>garantiza</a:t>
            </a:r>
            <a:r>
              <a:rPr sz="1800" b="1" dirty="0">
                <a:solidFill>
                  <a:srgbClr val="07245A"/>
                </a:solidFill>
              </a:rPr>
              <a:t> </a:t>
            </a:r>
            <a:r>
              <a:rPr sz="1800" b="1" dirty="0" err="1">
                <a:solidFill>
                  <a:srgbClr val="07245A"/>
                </a:solidFill>
              </a:rPr>
              <a:t>que</a:t>
            </a:r>
            <a:r>
              <a:rPr sz="1800" b="1" dirty="0">
                <a:solidFill>
                  <a:srgbClr val="07245A"/>
                </a:solidFill>
              </a:rPr>
              <a:t> el </a:t>
            </a:r>
            <a:r>
              <a:rPr sz="1800" b="1" dirty="0" err="1">
                <a:solidFill>
                  <a:srgbClr val="07245A"/>
                </a:solidFill>
              </a:rPr>
              <a:t>optimizador</a:t>
            </a:r>
            <a:r>
              <a:rPr sz="1800" b="1" dirty="0">
                <a:solidFill>
                  <a:srgbClr val="07245A"/>
                </a:solidFill>
              </a:rPr>
              <a:t> lo </a:t>
            </a:r>
            <a:r>
              <a:rPr sz="1800" b="1" dirty="0" err="1">
                <a:solidFill>
                  <a:srgbClr val="07245A"/>
                </a:solidFill>
              </a:rPr>
              <a:t>utilice</a:t>
            </a:r>
            <a:r>
              <a:rPr sz="1800" b="1" dirty="0">
                <a:solidFill>
                  <a:srgbClr val="07245A"/>
                </a:solidFill>
              </a:rPr>
              <a:t>.</a:t>
            </a:r>
          </a:p>
        </p:txBody>
      </p:sp>
      <p:sp>
        <p:nvSpPr>
          <p:cNvPr id="32" name="Shape 30">
            <a:extLst>
              <a:ext uri="{FF2B5EF4-FFF2-40B4-BE49-F238E27FC236}">
                <a16:creationId xmlns:a16="http://schemas.microsoft.com/office/drawing/2014/main" id="{48DEFDF8-4233-43D1-ABC6-22926B0A171A}"/>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33" name="Text 31">
            <a:extLst>
              <a:ext uri="{FF2B5EF4-FFF2-40B4-BE49-F238E27FC236}">
                <a16:creationId xmlns:a16="http://schemas.microsoft.com/office/drawing/2014/main" id="{B6AAE201-650E-4F2F-8FFF-27F1A0DEDA4A}"/>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
        <p:nvSpPr>
          <p:cNvPr id="35" name="CuadroTexto 34">
            <a:extLst>
              <a:ext uri="{FF2B5EF4-FFF2-40B4-BE49-F238E27FC236}">
                <a16:creationId xmlns:a16="http://schemas.microsoft.com/office/drawing/2014/main" id="{E59E12EB-8932-936A-6487-99C15CB8C366}"/>
              </a:ext>
            </a:extLst>
          </p:cNvPr>
          <p:cNvSpPr txBox="1"/>
          <p:nvPr/>
        </p:nvSpPr>
        <p:spPr>
          <a:xfrm>
            <a:off x="1775243" y="4351758"/>
            <a:ext cx="6270170" cy="369332"/>
          </a:xfrm>
          <a:prstGeom prst="rect">
            <a:avLst/>
          </a:prstGeom>
          <a:noFill/>
        </p:spPr>
        <p:txBody>
          <a:bodyPr wrap="square">
            <a:spAutoFit/>
          </a:bodyPr>
          <a:lstStyle/>
          <a:p>
            <a:r>
              <a:rPr lang="es-419" sz="1800" b="1" dirty="0">
                <a:solidFill>
                  <a:srgbClr val="07245A"/>
                </a:solidFill>
              </a:rPr>
              <a:t>Pero…</a:t>
            </a:r>
            <a:endParaRPr lang="es-419" dirty="0"/>
          </a:p>
        </p:txBody>
      </p:sp>
    </p:spTree>
    <p:extLst>
      <p:ext uri="{BB962C8B-B14F-4D97-AF65-F5344CB8AC3E}">
        <p14:creationId xmlns:p14="http://schemas.microsoft.com/office/powerpoint/2010/main" val="968378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2000"/>
                                        <p:tgtEl>
                                          <p:spTgt spid="31"/>
                                        </p:tgtEl>
                                      </p:cBhvr>
                                    </p:animEffect>
                                    <p:anim calcmode="lin" valueType="num">
                                      <p:cBhvr>
                                        <p:cTn id="8" dur="2000" fill="hold"/>
                                        <p:tgtEl>
                                          <p:spTgt spid="31"/>
                                        </p:tgtEl>
                                        <p:attrNameLst>
                                          <p:attrName>ppt_w</p:attrName>
                                        </p:attrNameLst>
                                      </p:cBhvr>
                                      <p:tavLst>
                                        <p:tav tm="0" fmla="#ppt_w*sin(2.5*pi*$)">
                                          <p:val>
                                            <p:fltVal val="0"/>
                                          </p:val>
                                        </p:tav>
                                        <p:tav tm="100000">
                                          <p:val>
                                            <p:fltVal val="1"/>
                                          </p:val>
                                        </p:tav>
                                      </p:tavLst>
                                    </p:anim>
                                    <p:anim calcmode="lin" valueType="num">
                                      <p:cBhvr>
                                        <p:cTn id="9" dur="2000" fill="hold"/>
                                        <p:tgtEl>
                                          <p:spTgt spid="3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05CF088-86D1-4237-A8B6-86340931FA7C}"/>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847F890F-7C13-4F2A-84C6-BDC693CD35C7}"/>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7BB5CAB5-B296-4B90-B816-7720A845B7AF}"/>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93315444-6A06-4975-AAB4-F93BEAD99811}"/>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2FCAFC4E-8771-4726-B3C7-8BB4CF1BA10D}"/>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924EE4AA-ADBB-4B97-B2B8-D00FB2CB1693}"/>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7658BA90-9699-4AD7-B234-9BA2DF0BB11E}"/>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7F04B3A0-9ED9-4019-A5D3-4CE94D0DEC95}"/>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20</a:t>
            </a:r>
          </a:p>
        </p:txBody>
      </p:sp>
      <p:sp>
        <p:nvSpPr>
          <p:cNvPr id="10" name="Text 8">
            <a:extLst>
              <a:ext uri="{FF2B5EF4-FFF2-40B4-BE49-F238E27FC236}">
                <a16:creationId xmlns:a16="http://schemas.microsoft.com/office/drawing/2014/main" id="{BDFECAF7-7624-4B06-8A6D-78057E0F3E84}"/>
              </a:ext>
            </a:extLst>
          </p:cNvPr>
          <p:cNvSpPr>
            <a:spLocks noGrp="1"/>
          </p:cNvSpPr>
          <p:nvPr/>
        </p:nvSpPr>
        <p:spPr>
          <a:xfrm>
            <a:off x="658368" y="868680"/>
            <a:ext cx="10698480" cy="411480"/>
          </a:xfrm>
          <a:prstGeom prst="rect">
            <a:avLst/>
          </a:prstGeom>
          <a:noFill/>
        </p:spPr>
        <p:txBody>
          <a:bodyPr wrap="square" lIns="0" tIns="0" rIns="0" bIns="0" anchor="ctr">
            <a:normAutofit fontScale="88235" lnSpcReduction="20000"/>
          </a:bodyPr>
          <a:lstStyle/>
          <a:p>
            <a:pPr marL="0" indent="0">
              <a:buNone/>
            </a:pPr>
            <a:r>
              <a:rPr sz="3400" b="1">
                <a:solidFill>
                  <a:srgbClr val="07245A"/>
                </a:solidFill>
                <a:latin typeface="Aptos Display"/>
                <a:ea typeface="Aptos Display"/>
                <a:cs typeface="Aptos Display"/>
              </a:rPr>
              <a:t>Scan o acceso por índice</a:t>
            </a:r>
          </a:p>
        </p:txBody>
      </p:sp>
      <p:sp>
        <p:nvSpPr>
          <p:cNvPr id="11" name="Shape 9">
            <a:extLst>
              <a:ext uri="{FF2B5EF4-FFF2-40B4-BE49-F238E27FC236}">
                <a16:creationId xmlns:a16="http://schemas.microsoft.com/office/drawing/2014/main" id="{E235F766-8095-40E7-8FB7-7BAB365E9F39}"/>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DCA4F053-8464-4768-A38C-A17DBDE4DE3E}"/>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Ambos pueden ser decisiones correctas.</a:t>
            </a:r>
          </a:p>
        </p:txBody>
      </p:sp>
      <p:sp>
        <p:nvSpPr>
          <p:cNvPr id="13" name="Shape 11">
            <a:extLst>
              <a:ext uri="{FF2B5EF4-FFF2-40B4-BE49-F238E27FC236}">
                <a16:creationId xmlns:a16="http://schemas.microsoft.com/office/drawing/2014/main" id="{C63EEA6D-0E00-40F3-9341-1FF53F90E8CA}"/>
              </a:ext>
            </a:extLst>
          </p:cNvPr>
          <p:cNvSpPr>
            <a:spLocks noGrp="1"/>
          </p:cNvSpPr>
          <p:nvPr/>
        </p:nvSpPr>
        <p:spPr>
          <a:xfrm>
            <a:off x="91440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14" name="Shape 12">
            <a:extLst>
              <a:ext uri="{FF2B5EF4-FFF2-40B4-BE49-F238E27FC236}">
                <a16:creationId xmlns:a16="http://schemas.microsoft.com/office/drawing/2014/main" id="{27906FF5-28C3-4BCE-9230-D8D754E343A5}"/>
              </a:ext>
            </a:extLst>
          </p:cNvPr>
          <p:cNvSpPr>
            <a:spLocks noGrp="1"/>
          </p:cNvSpPr>
          <p:nvPr/>
        </p:nvSpPr>
        <p:spPr>
          <a:xfrm>
            <a:off x="1078992" y="1984248"/>
            <a:ext cx="438912" cy="438912"/>
          </a:xfrm>
          <a:prstGeom prst="ellipse">
            <a:avLst/>
          </a:prstGeom>
          <a:solidFill>
            <a:srgbClr val="EAF8FC"/>
          </a:solidFill>
          <a:ln w="10160">
            <a:solidFill>
              <a:srgbClr val="D5EEF7"/>
            </a:solidFill>
            <a:prstDash val="solid"/>
          </a:ln>
        </p:spPr>
        <p:txBody>
          <a:bodyPr/>
          <a:lstStyle/>
          <a:p>
            <a:endParaRPr/>
          </a:p>
        </p:txBody>
      </p:sp>
      <p:sp>
        <p:nvSpPr>
          <p:cNvPr id="15" name="Text 13">
            <a:extLst>
              <a:ext uri="{FF2B5EF4-FFF2-40B4-BE49-F238E27FC236}">
                <a16:creationId xmlns:a16="http://schemas.microsoft.com/office/drawing/2014/main" id="{8E110575-9924-4A24-8884-A28E9FB4DF15}"/>
              </a:ext>
            </a:extLst>
          </p:cNvPr>
          <p:cNvSpPr>
            <a:spLocks noGrp="1"/>
          </p:cNvSpPr>
          <p:nvPr/>
        </p:nvSpPr>
        <p:spPr>
          <a:xfrm>
            <a:off x="1078992" y="2043684"/>
            <a:ext cx="438912" cy="228600"/>
          </a:xfrm>
          <a:prstGeom prst="rect">
            <a:avLst/>
          </a:prstGeom>
          <a:noFill/>
        </p:spPr>
        <p:txBody>
          <a:bodyPr wrap="square" lIns="0" tIns="0" rIns="0" bIns="0" anchor="ctr"/>
          <a:lstStyle/>
          <a:p>
            <a:pPr marL="0" indent="0" algn="ctr">
              <a:buNone/>
            </a:pPr>
            <a:r>
              <a:rPr sz="1550">
                <a:solidFill>
                  <a:srgbClr val="17B7D7"/>
                </a:solidFill>
              </a:rPr>
              <a:t>1</a:t>
            </a:r>
          </a:p>
        </p:txBody>
      </p:sp>
      <p:sp>
        <p:nvSpPr>
          <p:cNvPr id="16" name="Text 14">
            <a:extLst>
              <a:ext uri="{FF2B5EF4-FFF2-40B4-BE49-F238E27FC236}">
                <a16:creationId xmlns:a16="http://schemas.microsoft.com/office/drawing/2014/main" id="{1F68C214-B521-4066-9D3A-42A47BEA2852}"/>
              </a:ext>
            </a:extLst>
          </p:cNvPr>
          <p:cNvSpPr>
            <a:spLocks noGrp="1"/>
          </p:cNvSpPr>
          <p:nvPr/>
        </p:nvSpPr>
        <p:spPr>
          <a:xfrm>
            <a:off x="160020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Table scan</a:t>
            </a:r>
          </a:p>
        </p:txBody>
      </p:sp>
      <p:sp>
        <p:nvSpPr>
          <p:cNvPr id="17" name="Shape 15">
            <a:extLst>
              <a:ext uri="{FF2B5EF4-FFF2-40B4-BE49-F238E27FC236}">
                <a16:creationId xmlns:a16="http://schemas.microsoft.com/office/drawing/2014/main" id="{520B91C2-EF3C-4B81-A26F-17D73073C2AE}"/>
              </a:ext>
            </a:extLst>
          </p:cNvPr>
          <p:cNvSpPr>
            <a:spLocks noGrp="1"/>
          </p:cNvSpPr>
          <p:nvPr/>
        </p:nvSpPr>
        <p:spPr>
          <a:xfrm>
            <a:off x="1600200" y="2313432"/>
            <a:ext cx="411480" cy="0"/>
          </a:xfrm>
          <a:prstGeom prst="line">
            <a:avLst/>
          </a:prstGeom>
          <a:noFill/>
          <a:ln w="22860">
            <a:solidFill>
              <a:srgbClr val="17B7D7"/>
            </a:solidFill>
            <a:prstDash val="solid"/>
          </a:ln>
        </p:spPr>
        <p:txBody>
          <a:bodyPr/>
          <a:lstStyle/>
          <a:p>
            <a:endParaRPr/>
          </a:p>
        </p:txBody>
      </p:sp>
      <p:sp>
        <p:nvSpPr>
          <p:cNvPr id="18" name="Text 16">
            <a:extLst>
              <a:ext uri="{FF2B5EF4-FFF2-40B4-BE49-F238E27FC236}">
                <a16:creationId xmlns:a16="http://schemas.microsoft.com/office/drawing/2014/main" id="{B4396596-5CDA-4DBE-8878-C0F74DCD22B4}"/>
              </a:ext>
            </a:extLst>
          </p:cNvPr>
          <p:cNvSpPr>
            <a:spLocks noGrp="1"/>
          </p:cNvSpPr>
          <p:nvPr/>
        </p:nvSpPr>
        <p:spPr>
          <a:xfrm>
            <a:off x="111556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Lee gran parte o toda la tabla.</a:t>
            </a:r>
          </a:p>
        </p:txBody>
      </p:sp>
      <p:sp>
        <p:nvSpPr>
          <p:cNvPr id="19" name="Shape 17">
            <a:extLst>
              <a:ext uri="{FF2B5EF4-FFF2-40B4-BE49-F238E27FC236}">
                <a16:creationId xmlns:a16="http://schemas.microsoft.com/office/drawing/2014/main" id="{8147991A-6C9F-439E-B048-C7F909634508}"/>
              </a:ext>
            </a:extLst>
          </p:cNvPr>
          <p:cNvSpPr>
            <a:spLocks noGrp="1"/>
          </p:cNvSpPr>
          <p:nvPr/>
        </p:nvSpPr>
        <p:spPr>
          <a:xfrm>
            <a:off x="452628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0" name="Shape 18">
            <a:extLst>
              <a:ext uri="{FF2B5EF4-FFF2-40B4-BE49-F238E27FC236}">
                <a16:creationId xmlns:a16="http://schemas.microsoft.com/office/drawing/2014/main" id="{9EF733E9-A002-4C96-90E6-E896672B3CFD}"/>
              </a:ext>
            </a:extLst>
          </p:cNvPr>
          <p:cNvSpPr>
            <a:spLocks noGrp="1"/>
          </p:cNvSpPr>
          <p:nvPr/>
        </p:nvSpPr>
        <p:spPr>
          <a:xfrm>
            <a:off x="4690872" y="1984248"/>
            <a:ext cx="438912" cy="438912"/>
          </a:xfrm>
          <a:prstGeom prst="ellipse">
            <a:avLst/>
          </a:prstGeom>
          <a:solidFill>
            <a:srgbClr val="EAF8FC"/>
          </a:solidFill>
          <a:ln w="10160">
            <a:solidFill>
              <a:srgbClr val="D5EEF7"/>
            </a:solidFill>
            <a:prstDash val="solid"/>
          </a:ln>
        </p:spPr>
        <p:txBody>
          <a:bodyPr/>
          <a:lstStyle/>
          <a:p>
            <a:endParaRPr/>
          </a:p>
        </p:txBody>
      </p:sp>
      <p:sp>
        <p:nvSpPr>
          <p:cNvPr id="21" name="Text 19">
            <a:extLst>
              <a:ext uri="{FF2B5EF4-FFF2-40B4-BE49-F238E27FC236}">
                <a16:creationId xmlns:a16="http://schemas.microsoft.com/office/drawing/2014/main" id="{9D24A6A4-8B9E-4BFB-81F6-61A64001216C}"/>
              </a:ext>
            </a:extLst>
          </p:cNvPr>
          <p:cNvSpPr>
            <a:spLocks noGrp="1"/>
          </p:cNvSpPr>
          <p:nvPr/>
        </p:nvSpPr>
        <p:spPr>
          <a:xfrm>
            <a:off x="4690872" y="2043684"/>
            <a:ext cx="438912" cy="228600"/>
          </a:xfrm>
          <a:prstGeom prst="rect">
            <a:avLst/>
          </a:prstGeom>
          <a:noFill/>
        </p:spPr>
        <p:txBody>
          <a:bodyPr wrap="square" lIns="0" tIns="0" rIns="0" bIns="0" anchor="ctr"/>
          <a:lstStyle/>
          <a:p>
            <a:pPr marL="0" indent="0" algn="ctr">
              <a:buNone/>
            </a:pPr>
            <a:r>
              <a:rPr sz="1550">
                <a:solidFill>
                  <a:srgbClr val="17B7D7"/>
                </a:solidFill>
              </a:rPr>
              <a:t>2</a:t>
            </a:r>
          </a:p>
        </p:txBody>
      </p:sp>
      <p:sp>
        <p:nvSpPr>
          <p:cNvPr id="22" name="Text 20">
            <a:extLst>
              <a:ext uri="{FF2B5EF4-FFF2-40B4-BE49-F238E27FC236}">
                <a16:creationId xmlns:a16="http://schemas.microsoft.com/office/drawing/2014/main" id="{53B490FB-80F7-46A0-9B9C-886B1DD8EBF9}"/>
              </a:ext>
            </a:extLst>
          </p:cNvPr>
          <p:cNvSpPr>
            <a:spLocks noGrp="1"/>
          </p:cNvSpPr>
          <p:nvPr/>
        </p:nvSpPr>
        <p:spPr>
          <a:xfrm>
            <a:off x="521208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Acceso por índice</a:t>
            </a:r>
          </a:p>
        </p:txBody>
      </p:sp>
      <p:sp>
        <p:nvSpPr>
          <p:cNvPr id="23" name="Shape 21">
            <a:extLst>
              <a:ext uri="{FF2B5EF4-FFF2-40B4-BE49-F238E27FC236}">
                <a16:creationId xmlns:a16="http://schemas.microsoft.com/office/drawing/2014/main" id="{D3F3A3F9-DEBD-4625-95BC-DAAAB52868A2}"/>
              </a:ext>
            </a:extLst>
          </p:cNvPr>
          <p:cNvSpPr>
            <a:spLocks noGrp="1"/>
          </p:cNvSpPr>
          <p:nvPr/>
        </p:nvSpPr>
        <p:spPr>
          <a:xfrm>
            <a:off x="5212080" y="2313432"/>
            <a:ext cx="411480" cy="0"/>
          </a:xfrm>
          <a:prstGeom prst="line">
            <a:avLst/>
          </a:prstGeom>
          <a:noFill/>
          <a:ln w="22860">
            <a:solidFill>
              <a:srgbClr val="17B7D7"/>
            </a:solidFill>
            <a:prstDash val="solid"/>
          </a:ln>
        </p:spPr>
        <p:txBody>
          <a:bodyPr/>
          <a:lstStyle/>
          <a:p>
            <a:endParaRPr/>
          </a:p>
        </p:txBody>
      </p:sp>
      <p:sp>
        <p:nvSpPr>
          <p:cNvPr id="24" name="Text 22">
            <a:extLst>
              <a:ext uri="{FF2B5EF4-FFF2-40B4-BE49-F238E27FC236}">
                <a16:creationId xmlns:a16="http://schemas.microsoft.com/office/drawing/2014/main" id="{E9610762-B4D3-4DD8-9CCD-A0F730F6ECB5}"/>
              </a:ext>
            </a:extLst>
          </p:cNvPr>
          <p:cNvSpPr>
            <a:spLocks noGrp="1"/>
          </p:cNvSpPr>
          <p:nvPr/>
        </p:nvSpPr>
        <p:spPr>
          <a:xfrm>
            <a:off x="472744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Index/Range (MySQL); Index/Bitmap (PG).</a:t>
            </a:r>
          </a:p>
        </p:txBody>
      </p:sp>
      <p:sp>
        <p:nvSpPr>
          <p:cNvPr id="25" name="Shape 23">
            <a:extLst>
              <a:ext uri="{FF2B5EF4-FFF2-40B4-BE49-F238E27FC236}">
                <a16:creationId xmlns:a16="http://schemas.microsoft.com/office/drawing/2014/main" id="{CCEF4718-176D-45F0-B2D4-BF2C7E320CBA}"/>
              </a:ext>
            </a:extLst>
          </p:cNvPr>
          <p:cNvSpPr>
            <a:spLocks noGrp="1"/>
          </p:cNvSpPr>
          <p:nvPr/>
        </p:nvSpPr>
        <p:spPr>
          <a:xfrm>
            <a:off x="813816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6" name="Shape 24">
            <a:extLst>
              <a:ext uri="{FF2B5EF4-FFF2-40B4-BE49-F238E27FC236}">
                <a16:creationId xmlns:a16="http://schemas.microsoft.com/office/drawing/2014/main" id="{8D44E5AE-8A67-4853-B244-F81052A007F4}"/>
              </a:ext>
            </a:extLst>
          </p:cNvPr>
          <p:cNvSpPr>
            <a:spLocks noGrp="1"/>
          </p:cNvSpPr>
          <p:nvPr/>
        </p:nvSpPr>
        <p:spPr>
          <a:xfrm>
            <a:off x="8302752" y="1984248"/>
            <a:ext cx="438912" cy="438912"/>
          </a:xfrm>
          <a:prstGeom prst="ellipse">
            <a:avLst/>
          </a:prstGeom>
          <a:solidFill>
            <a:srgbClr val="EAF8FC"/>
          </a:solidFill>
          <a:ln w="10160">
            <a:solidFill>
              <a:srgbClr val="D5EEF7"/>
            </a:solidFill>
            <a:prstDash val="solid"/>
          </a:ln>
        </p:spPr>
        <p:txBody>
          <a:bodyPr/>
          <a:lstStyle/>
          <a:p>
            <a:endParaRPr/>
          </a:p>
        </p:txBody>
      </p:sp>
      <p:sp>
        <p:nvSpPr>
          <p:cNvPr id="27" name="Text 25">
            <a:extLst>
              <a:ext uri="{FF2B5EF4-FFF2-40B4-BE49-F238E27FC236}">
                <a16:creationId xmlns:a16="http://schemas.microsoft.com/office/drawing/2014/main" id="{1E839E76-0723-4E97-92D6-AA1B56FF2E71}"/>
              </a:ext>
            </a:extLst>
          </p:cNvPr>
          <p:cNvSpPr>
            <a:spLocks noGrp="1"/>
          </p:cNvSpPr>
          <p:nvPr/>
        </p:nvSpPr>
        <p:spPr>
          <a:xfrm>
            <a:off x="8302752" y="2043684"/>
            <a:ext cx="438912" cy="228600"/>
          </a:xfrm>
          <a:prstGeom prst="rect">
            <a:avLst/>
          </a:prstGeom>
          <a:noFill/>
        </p:spPr>
        <p:txBody>
          <a:bodyPr wrap="square" lIns="0" tIns="0" rIns="0" bIns="0" anchor="ctr"/>
          <a:lstStyle/>
          <a:p>
            <a:pPr marL="0" indent="0" algn="ctr">
              <a:buNone/>
            </a:pPr>
            <a:r>
              <a:rPr sz="1550">
                <a:solidFill>
                  <a:srgbClr val="17B7D7"/>
                </a:solidFill>
              </a:rPr>
              <a:t>3</a:t>
            </a:r>
          </a:p>
        </p:txBody>
      </p:sp>
      <p:sp>
        <p:nvSpPr>
          <p:cNvPr id="28" name="Text 26">
            <a:extLst>
              <a:ext uri="{FF2B5EF4-FFF2-40B4-BE49-F238E27FC236}">
                <a16:creationId xmlns:a16="http://schemas.microsoft.com/office/drawing/2014/main" id="{39EAD97E-ACE2-4547-A6C7-EC305192AC81}"/>
              </a:ext>
            </a:extLst>
          </p:cNvPr>
          <p:cNvSpPr>
            <a:spLocks noGrp="1"/>
          </p:cNvSpPr>
          <p:nvPr/>
        </p:nvSpPr>
        <p:spPr>
          <a:xfrm>
            <a:off x="882396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Elección</a:t>
            </a:r>
          </a:p>
        </p:txBody>
      </p:sp>
      <p:sp>
        <p:nvSpPr>
          <p:cNvPr id="29" name="Shape 27">
            <a:extLst>
              <a:ext uri="{FF2B5EF4-FFF2-40B4-BE49-F238E27FC236}">
                <a16:creationId xmlns:a16="http://schemas.microsoft.com/office/drawing/2014/main" id="{FCA73888-782F-4505-B3DD-DA63AA7D156F}"/>
              </a:ext>
            </a:extLst>
          </p:cNvPr>
          <p:cNvSpPr>
            <a:spLocks noGrp="1"/>
          </p:cNvSpPr>
          <p:nvPr/>
        </p:nvSpPr>
        <p:spPr>
          <a:xfrm>
            <a:off x="8823960" y="2313432"/>
            <a:ext cx="411480" cy="0"/>
          </a:xfrm>
          <a:prstGeom prst="line">
            <a:avLst/>
          </a:prstGeom>
          <a:noFill/>
          <a:ln w="22860">
            <a:solidFill>
              <a:srgbClr val="17B7D7"/>
            </a:solidFill>
            <a:prstDash val="solid"/>
          </a:ln>
        </p:spPr>
        <p:txBody>
          <a:bodyPr/>
          <a:lstStyle/>
          <a:p>
            <a:endParaRPr/>
          </a:p>
        </p:txBody>
      </p:sp>
      <p:sp>
        <p:nvSpPr>
          <p:cNvPr id="30" name="Text 28">
            <a:extLst>
              <a:ext uri="{FF2B5EF4-FFF2-40B4-BE49-F238E27FC236}">
                <a16:creationId xmlns:a16="http://schemas.microsoft.com/office/drawing/2014/main" id="{DD936180-33BC-4320-BA9F-81FA74FC0275}"/>
              </a:ext>
            </a:extLst>
          </p:cNvPr>
          <p:cNvSpPr>
            <a:spLocks noGrp="1"/>
          </p:cNvSpPr>
          <p:nvPr/>
        </p:nvSpPr>
        <p:spPr>
          <a:xfrm>
            <a:off x="833932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Depende de costo, tamaño y selectividad.</a:t>
            </a:r>
          </a:p>
        </p:txBody>
      </p:sp>
      <p:sp>
        <p:nvSpPr>
          <p:cNvPr id="31" name="Text 29">
            <a:extLst>
              <a:ext uri="{FF2B5EF4-FFF2-40B4-BE49-F238E27FC236}">
                <a16:creationId xmlns:a16="http://schemas.microsoft.com/office/drawing/2014/main" id="{5BD4C6CA-B995-4864-9406-0372256BA931}"/>
              </a:ext>
            </a:extLst>
          </p:cNvPr>
          <p:cNvSpPr>
            <a:spLocks noGrp="1"/>
          </p:cNvSpPr>
          <p:nvPr/>
        </p:nvSpPr>
        <p:spPr>
          <a:xfrm>
            <a:off x="914400" y="4800600"/>
            <a:ext cx="10332720" cy="411480"/>
          </a:xfrm>
          <a:prstGeom prst="rect">
            <a:avLst/>
          </a:prstGeom>
          <a:noFill/>
        </p:spPr>
        <p:txBody>
          <a:bodyPr wrap="square" anchor="ctr"/>
          <a:lstStyle/>
          <a:p>
            <a:pPr marL="0" indent="0" algn="ctr">
              <a:buNone/>
            </a:pPr>
            <a:r>
              <a:rPr sz="1800" b="1">
                <a:solidFill>
                  <a:srgbClr val="07245A"/>
                </a:solidFill>
              </a:rPr>
              <a:t>Una tabla pequeña o una consulta masiva puede favorecer el scan.</a:t>
            </a:r>
          </a:p>
        </p:txBody>
      </p:sp>
      <p:sp>
        <p:nvSpPr>
          <p:cNvPr id="32" name="Shape 30">
            <a:extLst>
              <a:ext uri="{FF2B5EF4-FFF2-40B4-BE49-F238E27FC236}">
                <a16:creationId xmlns:a16="http://schemas.microsoft.com/office/drawing/2014/main" id="{48DEFDF8-4233-43D1-ABC6-22926B0A171A}"/>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33" name="Text 31">
            <a:extLst>
              <a:ext uri="{FF2B5EF4-FFF2-40B4-BE49-F238E27FC236}">
                <a16:creationId xmlns:a16="http://schemas.microsoft.com/office/drawing/2014/main" id="{B6AAE201-650E-4F2F-8FFF-27F1A0DEDA4A}"/>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Tree>
    <p:extLst>
      <p:ext uri="{BB962C8B-B14F-4D97-AF65-F5344CB8AC3E}">
        <p14:creationId xmlns:p14="http://schemas.microsoft.com/office/powerpoint/2010/main" val="9683784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05CF088-86D1-4237-A8B6-86340931FA7C}"/>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847F890F-7C13-4F2A-84C6-BDC693CD35C7}"/>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7BB5CAB5-B296-4B90-B816-7720A845B7AF}"/>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93315444-6A06-4975-AAB4-F93BEAD99811}"/>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2FCAFC4E-8771-4726-B3C7-8BB4CF1BA10D}"/>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924EE4AA-ADBB-4B97-B2B8-D00FB2CB1693}"/>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7658BA90-9699-4AD7-B234-9BA2DF0BB11E}"/>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7F04B3A0-9ED9-4019-A5D3-4CE94D0DEC95}"/>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21</a:t>
            </a:r>
          </a:p>
        </p:txBody>
      </p:sp>
      <p:sp>
        <p:nvSpPr>
          <p:cNvPr id="10" name="Text 8">
            <a:extLst>
              <a:ext uri="{FF2B5EF4-FFF2-40B4-BE49-F238E27FC236}">
                <a16:creationId xmlns:a16="http://schemas.microsoft.com/office/drawing/2014/main" id="{BDFECAF7-7624-4B06-8A6D-78057E0F3E84}"/>
              </a:ext>
            </a:extLst>
          </p:cNvPr>
          <p:cNvSpPr>
            <a:spLocks noGrp="1"/>
          </p:cNvSpPr>
          <p:nvPr/>
        </p:nvSpPr>
        <p:spPr>
          <a:xfrm>
            <a:off x="658368" y="868680"/>
            <a:ext cx="10698480" cy="411480"/>
          </a:xfrm>
          <a:prstGeom prst="rect">
            <a:avLst/>
          </a:prstGeom>
          <a:noFill/>
        </p:spPr>
        <p:txBody>
          <a:bodyPr wrap="square" lIns="0" tIns="0" rIns="0" bIns="0" anchor="ctr">
            <a:normAutofit fontScale="88235" lnSpcReduction="20000"/>
          </a:bodyPr>
          <a:lstStyle/>
          <a:p>
            <a:pPr marL="0" indent="0">
              <a:buNone/>
            </a:pPr>
            <a:r>
              <a:rPr sz="3400" b="1">
                <a:solidFill>
                  <a:srgbClr val="07245A"/>
                </a:solidFill>
                <a:latin typeface="Aptos Display"/>
                <a:ea typeface="Aptos Display"/>
                <a:cs typeface="Aptos Display"/>
              </a:rPr>
              <a:t>B-tree y accesos especializados</a:t>
            </a:r>
          </a:p>
        </p:txBody>
      </p:sp>
      <p:sp>
        <p:nvSpPr>
          <p:cNvPr id="11" name="Shape 9">
            <a:extLst>
              <a:ext uri="{FF2B5EF4-FFF2-40B4-BE49-F238E27FC236}">
                <a16:creationId xmlns:a16="http://schemas.microsoft.com/office/drawing/2014/main" id="{E235F766-8095-40E7-8FB7-7BAB365E9F39}"/>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DCA4F053-8464-4768-A38C-A17DBDE4DE3E}"/>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Elegir según el patrón de consulta.</a:t>
            </a:r>
          </a:p>
        </p:txBody>
      </p:sp>
      <p:sp>
        <p:nvSpPr>
          <p:cNvPr id="13" name="Shape 11">
            <a:extLst>
              <a:ext uri="{FF2B5EF4-FFF2-40B4-BE49-F238E27FC236}">
                <a16:creationId xmlns:a16="http://schemas.microsoft.com/office/drawing/2014/main" id="{C63EEA6D-0E00-40F3-9341-1FF53F90E8CA}"/>
              </a:ext>
            </a:extLst>
          </p:cNvPr>
          <p:cNvSpPr>
            <a:spLocks noGrp="1"/>
          </p:cNvSpPr>
          <p:nvPr/>
        </p:nvSpPr>
        <p:spPr>
          <a:xfrm>
            <a:off x="91440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14" name="Shape 12">
            <a:extLst>
              <a:ext uri="{FF2B5EF4-FFF2-40B4-BE49-F238E27FC236}">
                <a16:creationId xmlns:a16="http://schemas.microsoft.com/office/drawing/2014/main" id="{27906FF5-28C3-4BCE-9230-D8D754E343A5}"/>
              </a:ext>
            </a:extLst>
          </p:cNvPr>
          <p:cNvSpPr>
            <a:spLocks noGrp="1"/>
          </p:cNvSpPr>
          <p:nvPr/>
        </p:nvSpPr>
        <p:spPr>
          <a:xfrm>
            <a:off x="1078992" y="1984248"/>
            <a:ext cx="438912" cy="438912"/>
          </a:xfrm>
          <a:prstGeom prst="ellipse">
            <a:avLst/>
          </a:prstGeom>
          <a:solidFill>
            <a:srgbClr val="EAF8FC"/>
          </a:solidFill>
          <a:ln w="10160">
            <a:solidFill>
              <a:srgbClr val="D5EEF7"/>
            </a:solidFill>
            <a:prstDash val="solid"/>
          </a:ln>
        </p:spPr>
        <p:txBody>
          <a:bodyPr/>
          <a:lstStyle/>
          <a:p>
            <a:endParaRPr/>
          </a:p>
        </p:txBody>
      </p:sp>
      <p:sp>
        <p:nvSpPr>
          <p:cNvPr id="15" name="Text 13">
            <a:extLst>
              <a:ext uri="{FF2B5EF4-FFF2-40B4-BE49-F238E27FC236}">
                <a16:creationId xmlns:a16="http://schemas.microsoft.com/office/drawing/2014/main" id="{8E110575-9924-4A24-8884-A28E9FB4DF15}"/>
              </a:ext>
            </a:extLst>
          </p:cNvPr>
          <p:cNvSpPr>
            <a:spLocks noGrp="1"/>
          </p:cNvSpPr>
          <p:nvPr/>
        </p:nvSpPr>
        <p:spPr>
          <a:xfrm>
            <a:off x="1078992" y="2043684"/>
            <a:ext cx="438912" cy="228600"/>
          </a:xfrm>
          <a:prstGeom prst="rect">
            <a:avLst/>
          </a:prstGeom>
          <a:noFill/>
        </p:spPr>
        <p:txBody>
          <a:bodyPr wrap="square" lIns="0" tIns="0" rIns="0" bIns="0" anchor="ctr"/>
          <a:lstStyle/>
          <a:p>
            <a:pPr marL="0" indent="0" algn="ctr">
              <a:buNone/>
            </a:pPr>
            <a:r>
              <a:rPr sz="1550">
                <a:solidFill>
                  <a:srgbClr val="17B7D7"/>
                </a:solidFill>
              </a:rPr>
              <a:t>1</a:t>
            </a:r>
          </a:p>
        </p:txBody>
      </p:sp>
      <p:sp>
        <p:nvSpPr>
          <p:cNvPr id="16" name="Text 14">
            <a:extLst>
              <a:ext uri="{FF2B5EF4-FFF2-40B4-BE49-F238E27FC236}">
                <a16:creationId xmlns:a16="http://schemas.microsoft.com/office/drawing/2014/main" id="{1F68C214-B521-4066-9D3A-42A47BEA2852}"/>
              </a:ext>
            </a:extLst>
          </p:cNvPr>
          <p:cNvSpPr>
            <a:spLocks noGrp="1"/>
          </p:cNvSpPr>
          <p:nvPr/>
        </p:nvSpPr>
        <p:spPr>
          <a:xfrm>
            <a:off x="1600200" y="1993392"/>
            <a:ext cx="2286000" cy="256032"/>
          </a:xfrm>
          <a:prstGeom prst="rect">
            <a:avLst/>
          </a:prstGeom>
          <a:noFill/>
        </p:spPr>
        <p:txBody>
          <a:bodyPr wrap="square" lIns="0" tIns="0" rIns="0" bIns="0" anchor="ctr">
            <a:normAutofit/>
          </a:bodyPr>
          <a:lstStyle/>
          <a:p>
            <a:pPr marL="0" indent="0">
              <a:buNone/>
            </a:pPr>
            <a:r>
              <a:rPr sz="1600" b="1" dirty="0">
                <a:solidFill>
                  <a:srgbClr val="07245A"/>
                </a:solidFill>
              </a:rPr>
              <a:t>B-tree</a:t>
            </a:r>
            <a:r>
              <a:rPr lang="es-AR" sz="1600" b="1" dirty="0">
                <a:solidFill>
                  <a:srgbClr val="07245A"/>
                </a:solidFill>
              </a:rPr>
              <a:t> (el mas popular)</a:t>
            </a:r>
            <a:endParaRPr sz="1600" b="1" dirty="0">
              <a:solidFill>
                <a:srgbClr val="07245A"/>
              </a:solidFill>
            </a:endParaRPr>
          </a:p>
        </p:txBody>
      </p:sp>
      <p:sp>
        <p:nvSpPr>
          <p:cNvPr id="17" name="Shape 15">
            <a:extLst>
              <a:ext uri="{FF2B5EF4-FFF2-40B4-BE49-F238E27FC236}">
                <a16:creationId xmlns:a16="http://schemas.microsoft.com/office/drawing/2014/main" id="{520B91C2-EF3C-4B81-A26F-17D73073C2AE}"/>
              </a:ext>
            </a:extLst>
          </p:cNvPr>
          <p:cNvSpPr>
            <a:spLocks noGrp="1"/>
          </p:cNvSpPr>
          <p:nvPr/>
        </p:nvSpPr>
        <p:spPr>
          <a:xfrm>
            <a:off x="1600200" y="2313432"/>
            <a:ext cx="411480" cy="0"/>
          </a:xfrm>
          <a:prstGeom prst="line">
            <a:avLst/>
          </a:prstGeom>
          <a:noFill/>
          <a:ln w="22860">
            <a:solidFill>
              <a:srgbClr val="17B7D7"/>
            </a:solidFill>
            <a:prstDash val="solid"/>
          </a:ln>
        </p:spPr>
        <p:txBody>
          <a:bodyPr/>
          <a:lstStyle/>
          <a:p>
            <a:endParaRPr/>
          </a:p>
        </p:txBody>
      </p:sp>
      <p:sp>
        <p:nvSpPr>
          <p:cNvPr id="18" name="Text 16">
            <a:extLst>
              <a:ext uri="{FF2B5EF4-FFF2-40B4-BE49-F238E27FC236}">
                <a16:creationId xmlns:a16="http://schemas.microsoft.com/office/drawing/2014/main" id="{B4396596-5CDA-4DBE-8878-C0F74DCD22B4}"/>
              </a:ext>
            </a:extLst>
          </p:cNvPr>
          <p:cNvSpPr>
            <a:spLocks noGrp="1"/>
          </p:cNvSpPr>
          <p:nvPr/>
        </p:nvSpPr>
        <p:spPr>
          <a:xfrm>
            <a:off x="111556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Igualdad, rangos, prefijos y orden.</a:t>
            </a:r>
          </a:p>
        </p:txBody>
      </p:sp>
      <p:sp>
        <p:nvSpPr>
          <p:cNvPr id="19" name="Shape 17">
            <a:extLst>
              <a:ext uri="{FF2B5EF4-FFF2-40B4-BE49-F238E27FC236}">
                <a16:creationId xmlns:a16="http://schemas.microsoft.com/office/drawing/2014/main" id="{8147991A-6C9F-439E-B048-C7F909634508}"/>
              </a:ext>
            </a:extLst>
          </p:cNvPr>
          <p:cNvSpPr>
            <a:spLocks noGrp="1"/>
          </p:cNvSpPr>
          <p:nvPr/>
        </p:nvSpPr>
        <p:spPr>
          <a:xfrm>
            <a:off x="452628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0" name="Shape 18">
            <a:extLst>
              <a:ext uri="{FF2B5EF4-FFF2-40B4-BE49-F238E27FC236}">
                <a16:creationId xmlns:a16="http://schemas.microsoft.com/office/drawing/2014/main" id="{9EF733E9-A002-4C96-90E6-E896672B3CFD}"/>
              </a:ext>
            </a:extLst>
          </p:cNvPr>
          <p:cNvSpPr>
            <a:spLocks noGrp="1"/>
          </p:cNvSpPr>
          <p:nvPr/>
        </p:nvSpPr>
        <p:spPr>
          <a:xfrm>
            <a:off x="4690872" y="1984248"/>
            <a:ext cx="438912" cy="438912"/>
          </a:xfrm>
          <a:prstGeom prst="ellipse">
            <a:avLst/>
          </a:prstGeom>
          <a:solidFill>
            <a:srgbClr val="EAF8FC"/>
          </a:solidFill>
          <a:ln w="10160">
            <a:solidFill>
              <a:srgbClr val="D5EEF7"/>
            </a:solidFill>
            <a:prstDash val="solid"/>
          </a:ln>
        </p:spPr>
        <p:txBody>
          <a:bodyPr/>
          <a:lstStyle/>
          <a:p>
            <a:endParaRPr/>
          </a:p>
        </p:txBody>
      </p:sp>
      <p:sp>
        <p:nvSpPr>
          <p:cNvPr id="21" name="Text 19">
            <a:extLst>
              <a:ext uri="{FF2B5EF4-FFF2-40B4-BE49-F238E27FC236}">
                <a16:creationId xmlns:a16="http://schemas.microsoft.com/office/drawing/2014/main" id="{9D24A6A4-8B9E-4BFB-81F6-61A64001216C}"/>
              </a:ext>
            </a:extLst>
          </p:cNvPr>
          <p:cNvSpPr>
            <a:spLocks noGrp="1"/>
          </p:cNvSpPr>
          <p:nvPr/>
        </p:nvSpPr>
        <p:spPr>
          <a:xfrm>
            <a:off x="4690872" y="2043684"/>
            <a:ext cx="438912" cy="228600"/>
          </a:xfrm>
          <a:prstGeom prst="rect">
            <a:avLst/>
          </a:prstGeom>
          <a:noFill/>
        </p:spPr>
        <p:txBody>
          <a:bodyPr wrap="square" lIns="0" tIns="0" rIns="0" bIns="0" anchor="ctr"/>
          <a:lstStyle/>
          <a:p>
            <a:pPr marL="0" indent="0" algn="ctr">
              <a:buNone/>
            </a:pPr>
            <a:r>
              <a:rPr sz="1550">
                <a:solidFill>
                  <a:srgbClr val="17B7D7"/>
                </a:solidFill>
              </a:rPr>
              <a:t>2</a:t>
            </a:r>
          </a:p>
        </p:txBody>
      </p:sp>
      <p:sp>
        <p:nvSpPr>
          <p:cNvPr id="22" name="Text 20">
            <a:extLst>
              <a:ext uri="{FF2B5EF4-FFF2-40B4-BE49-F238E27FC236}">
                <a16:creationId xmlns:a16="http://schemas.microsoft.com/office/drawing/2014/main" id="{53B490FB-80F7-46A0-9B9C-886B1DD8EBF9}"/>
              </a:ext>
            </a:extLst>
          </p:cNvPr>
          <p:cNvSpPr>
            <a:spLocks noGrp="1"/>
          </p:cNvSpPr>
          <p:nvPr/>
        </p:nvSpPr>
        <p:spPr>
          <a:xfrm>
            <a:off x="521208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Hash</a:t>
            </a:r>
          </a:p>
        </p:txBody>
      </p:sp>
      <p:sp>
        <p:nvSpPr>
          <p:cNvPr id="23" name="Shape 21">
            <a:extLst>
              <a:ext uri="{FF2B5EF4-FFF2-40B4-BE49-F238E27FC236}">
                <a16:creationId xmlns:a16="http://schemas.microsoft.com/office/drawing/2014/main" id="{D3F3A3F9-DEBD-4625-95BC-DAAAB52868A2}"/>
              </a:ext>
            </a:extLst>
          </p:cNvPr>
          <p:cNvSpPr>
            <a:spLocks noGrp="1"/>
          </p:cNvSpPr>
          <p:nvPr/>
        </p:nvSpPr>
        <p:spPr>
          <a:xfrm>
            <a:off x="5212080" y="2313432"/>
            <a:ext cx="411480" cy="0"/>
          </a:xfrm>
          <a:prstGeom prst="line">
            <a:avLst/>
          </a:prstGeom>
          <a:noFill/>
          <a:ln w="22860">
            <a:solidFill>
              <a:srgbClr val="17B7D7"/>
            </a:solidFill>
            <a:prstDash val="solid"/>
          </a:ln>
        </p:spPr>
        <p:txBody>
          <a:bodyPr/>
          <a:lstStyle/>
          <a:p>
            <a:endParaRPr/>
          </a:p>
        </p:txBody>
      </p:sp>
      <p:sp>
        <p:nvSpPr>
          <p:cNvPr id="24" name="Text 22">
            <a:extLst>
              <a:ext uri="{FF2B5EF4-FFF2-40B4-BE49-F238E27FC236}">
                <a16:creationId xmlns:a16="http://schemas.microsoft.com/office/drawing/2014/main" id="{E9610762-B4D3-4DD8-9CCD-A0F730F6ECB5}"/>
              </a:ext>
            </a:extLst>
          </p:cNvPr>
          <p:cNvSpPr>
            <a:spLocks noGrp="1"/>
          </p:cNvSpPr>
          <p:nvPr/>
        </p:nvSpPr>
        <p:spPr>
          <a:xfrm>
            <a:off x="472744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Igualdad en motores y escenarios específicos.</a:t>
            </a:r>
          </a:p>
        </p:txBody>
      </p:sp>
      <p:sp>
        <p:nvSpPr>
          <p:cNvPr id="25" name="Shape 23">
            <a:extLst>
              <a:ext uri="{FF2B5EF4-FFF2-40B4-BE49-F238E27FC236}">
                <a16:creationId xmlns:a16="http://schemas.microsoft.com/office/drawing/2014/main" id="{CCEF4718-176D-45F0-B2D4-BF2C7E320CBA}"/>
              </a:ext>
            </a:extLst>
          </p:cNvPr>
          <p:cNvSpPr>
            <a:spLocks noGrp="1"/>
          </p:cNvSpPr>
          <p:nvPr/>
        </p:nvSpPr>
        <p:spPr>
          <a:xfrm>
            <a:off x="813816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6" name="Shape 24">
            <a:extLst>
              <a:ext uri="{FF2B5EF4-FFF2-40B4-BE49-F238E27FC236}">
                <a16:creationId xmlns:a16="http://schemas.microsoft.com/office/drawing/2014/main" id="{8D44E5AE-8A67-4853-B244-F81052A007F4}"/>
              </a:ext>
            </a:extLst>
          </p:cNvPr>
          <p:cNvSpPr>
            <a:spLocks noGrp="1"/>
          </p:cNvSpPr>
          <p:nvPr/>
        </p:nvSpPr>
        <p:spPr>
          <a:xfrm>
            <a:off x="8302752" y="1984248"/>
            <a:ext cx="438912" cy="438912"/>
          </a:xfrm>
          <a:prstGeom prst="ellipse">
            <a:avLst/>
          </a:prstGeom>
          <a:solidFill>
            <a:srgbClr val="EAF8FC"/>
          </a:solidFill>
          <a:ln w="10160">
            <a:solidFill>
              <a:srgbClr val="D5EEF7"/>
            </a:solidFill>
            <a:prstDash val="solid"/>
          </a:ln>
        </p:spPr>
        <p:txBody>
          <a:bodyPr/>
          <a:lstStyle/>
          <a:p>
            <a:endParaRPr/>
          </a:p>
        </p:txBody>
      </p:sp>
      <p:sp>
        <p:nvSpPr>
          <p:cNvPr id="27" name="Text 25">
            <a:extLst>
              <a:ext uri="{FF2B5EF4-FFF2-40B4-BE49-F238E27FC236}">
                <a16:creationId xmlns:a16="http://schemas.microsoft.com/office/drawing/2014/main" id="{1E839E76-0723-4E97-92D6-AA1B56FF2E71}"/>
              </a:ext>
            </a:extLst>
          </p:cNvPr>
          <p:cNvSpPr>
            <a:spLocks noGrp="1"/>
          </p:cNvSpPr>
          <p:nvPr/>
        </p:nvSpPr>
        <p:spPr>
          <a:xfrm>
            <a:off x="8302752" y="2043684"/>
            <a:ext cx="438912" cy="228600"/>
          </a:xfrm>
          <a:prstGeom prst="rect">
            <a:avLst/>
          </a:prstGeom>
          <a:noFill/>
        </p:spPr>
        <p:txBody>
          <a:bodyPr wrap="square" lIns="0" tIns="0" rIns="0" bIns="0" anchor="ctr"/>
          <a:lstStyle/>
          <a:p>
            <a:pPr marL="0" indent="0" algn="ctr">
              <a:buNone/>
            </a:pPr>
            <a:r>
              <a:rPr sz="1550">
                <a:solidFill>
                  <a:srgbClr val="17B7D7"/>
                </a:solidFill>
              </a:rPr>
              <a:t>3</a:t>
            </a:r>
          </a:p>
        </p:txBody>
      </p:sp>
      <p:sp>
        <p:nvSpPr>
          <p:cNvPr id="28" name="Text 26">
            <a:extLst>
              <a:ext uri="{FF2B5EF4-FFF2-40B4-BE49-F238E27FC236}">
                <a16:creationId xmlns:a16="http://schemas.microsoft.com/office/drawing/2014/main" id="{39EAD97E-ACE2-4547-A6C7-EC305192AC81}"/>
              </a:ext>
            </a:extLst>
          </p:cNvPr>
          <p:cNvSpPr>
            <a:spLocks noGrp="1"/>
          </p:cNvSpPr>
          <p:nvPr/>
        </p:nvSpPr>
        <p:spPr>
          <a:xfrm>
            <a:off x="882396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Otros</a:t>
            </a:r>
          </a:p>
        </p:txBody>
      </p:sp>
      <p:sp>
        <p:nvSpPr>
          <p:cNvPr id="29" name="Shape 27">
            <a:extLst>
              <a:ext uri="{FF2B5EF4-FFF2-40B4-BE49-F238E27FC236}">
                <a16:creationId xmlns:a16="http://schemas.microsoft.com/office/drawing/2014/main" id="{FCA73888-782F-4505-B3DD-DA63AA7D156F}"/>
              </a:ext>
            </a:extLst>
          </p:cNvPr>
          <p:cNvSpPr>
            <a:spLocks noGrp="1"/>
          </p:cNvSpPr>
          <p:nvPr/>
        </p:nvSpPr>
        <p:spPr>
          <a:xfrm>
            <a:off x="8823960" y="2313432"/>
            <a:ext cx="411480" cy="0"/>
          </a:xfrm>
          <a:prstGeom prst="line">
            <a:avLst/>
          </a:prstGeom>
          <a:noFill/>
          <a:ln w="22860">
            <a:solidFill>
              <a:srgbClr val="17B7D7"/>
            </a:solidFill>
            <a:prstDash val="solid"/>
          </a:ln>
        </p:spPr>
        <p:txBody>
          <a:bodyPr/>
          <a:lstStyle/>
          <a:p>
            <a:endParaRPr/>
          </a:p>
        </p:txBody>
      </p:sp>
      <p:sp>
        <p:nvSpPr>
          <p:cNvPr id="30" name="Text 28">
            <a:extLst>
              <a:ext uri="{FF2B5EF4-FFF2-40B4-BE49-F238E27FC236}">
                <a16:creationId xmlns:a16="http://schemas.microsoft.com/office/drawing/2014/main" id="{DD936180-33BC-4320-BA9F-81FA74FC0275}"/>
              </a:ext>
            </a:extLst>
          </p:cNvPr>
          <p:cNvSpPr>
            <a:spLocks noGrp="1"/>
          </p:cNvSpPr>
          <p:nvPr/>
        </p:nvSpPr>
        <p:spPr>
          <a:xfrm>
            <a:off x="833932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Full-text, espacial o bitmap según el motor.</a:t>
            </a:r>
          </a:p>
        </p:txBody>
      </p:sp>
      <p:sp>
        <p:nvSpPr>
          <p:cNvPr id="31" name="Text 29">
            <a:extLst>
              <a:ext uri="{FF2B5EF4-FFF2-40B4-BE49-F238E27FC236}">
                <a16:creationId xmlns:a16="http://schemas.microsoft.com/office/drawing/2014/main" id="{5BD4C6CA-B995-4864-9406-0372256BA931}"/>
              </a:ext>
            </a:extLst>
          </p:cNvPr>
          <p:cNvSpPr>
            <a:spLocks noGrp="1"/>
          </p:cNvSpPr>
          <p:nvPr/>
        </p:nvSpPr>
        <p:spPr>
          <a:xfrm>
            <a:off x="914400" y="4800600"/>
            <a:ext cx="10332720" cy="411480"/>
          </a:xfrm>
          <a:prstGeom prst="rect">
            <a:avLst/>
          </a:prstGeom>
          <a:noFill/>
        </p:spPr>
        <p:txBody>
          <a:bodyPr wrap="square" anchor="ctr"/>
          <a:lstStyle/>
          <a:p>
            <a:pPr marL="0" indent="0" algn="ctr">
              <a:buNone/>
            </a:pPr>
            <a:r>
              <a:rPr sz="1800" b="1">
                <a:solidFill>
                  <a:srgbClr val="07245A"/>
                </a:solidFill>
              </a:rPr>
              <a:t>El tipo de índice debe corresponder al operador y a la carga.</a:t>
            </a:r>
          </a:p>
        </p:txBody>
      </p:sp>
      <p:sp>
        <p:nvSpPr>
          <p:cNvPr id="32" name="Shape 30">
            <a:extLst>
              <a:ext uri="{FF2B5EF4-FFF2-40B4-BE49-F238E27FC236}">
                <a16:creationId xmlns:a16="http://schemas.microsoft.com/office/drawing/2014/main" id="{48DEFDF8-4233-43D1-ABC6-22926B0A171A}"/>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33" name="Text 31">
            <a:extLst>
              <a:ext uri="{FF2B5EF4-FFF2-40B4-BE49-F238E27FC236}">
                <a16:creationId xmlns:a16="http://schemas.microsoft.com/office/drawing/2014/main" id="{B6AAE201-650E-4F2F-8FFF-27F1A0DEDA4A}"/>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Tree>
    <p:extLst>
      <p:ext uri="{BB962C8B-B14F-4D97-AF65-F5344CB8AC3E}">
        <p14:creationId xmlns:p14="http://schemas.microsoft.com/office/powerpoint/2010/main" val="9683784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05CF088-86D1-4237-A8B6-86340931FA7C}"/>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847F890F-7C13-4F2A-84C6-BDC693CD35C7}"/>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7BB5CAB5-B296-4B90-B816-7720A845B7AF}"/>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93315444-6A06-4975-AAB4-F93BEAD99811}"/>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2FCAFC4E-8771-4726-B3C7-8BB4CF1BA10D}"/>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924EE4AA-ADBB-4B97-B2B8-D00FB2CB1693}"/>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7658BA90-9699-4AD7-B234-9BA2DF0BB11E}"/>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7F04B3A0-9ED9-4019-A5D3-4CE94D0DEC95}"/>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22</a:t>
            </a:r>
          </a:p>
        </p:txBody>
      </p:sp>
      <p:sp>
        <p:nvSpPr>
          <p:cNvPr id="10" name="Text 8">
            <a:extLst>
              <a:ext uri="{FF2B5EF4-FFF2-40B4-BE49-F238E27FC236}">
                <a16:creationId xmlns:a16="http://schemas.microsoft.com/office/drawing/2014/main" id="{BDFECAF7-7624-4B06-8A6D-78057E0F3E84}"/>
              </a:ext>
            </a:extLst>
          </p:cNvPr>
          <p:cNvSpPr>
            <a:spLocks noGrp="1"/>
          </p:cNvSpPr>
          <p:nvPr/>
        </p:nvSpPr>
        <p:spPr>
          <a:xfrm>
            <a:off x="658368" y="868680"/>
            <a:ext cx="10698480" cy="411480"/>
          </a:xfrm>
          <a:prstGeom prst="rect">
            <a:avLst/>
          </a:prstGeom>
          <a:noFill/>
        </p:spPr>
        <p:txBody>
          <a:bodyPr wrap="square" lIns="0" tIns="0" rIns="0" bIns="0" anchor="ctr">
            <a:normAutofit fontScale="88235" lnSpcReduction="20000"/>
          </a:bodyPr>
          <a:lstStyle/>
          <a:p>
            <a:pPr marL="0" indent="0">
              <a:buNone/>
            </a:pPr>
            <a:r>
              <a:rPr sz="3400" b="1">
                <a:solidFill>
                  <a:srgbClr val="07245A"/>
                </a:solidFill>
                <a:latin typeface="Aptos Display"/>
                <a:ea typeface="Aptos Display"/>
                <a:cs typeface="Aptos Display"/>
              </a:rPr>
              <a:t>Índices compuestos</a:t>
            </a:r>
          </a:p>
        </p:txBody>
      </p:sp>
      <p:sp>
        <p:nvSpPr>
          <p:cNvPr id="11" name="Shape 9">
            <a:extLst>
              <a:ext uri="{FF2B5EF4-FFF2-40B4-BE49-F238E27FC236}">
                <a16:creationId xmlns:a16="http://schemas.microsoft.com/office/drawing/2014/main" id="{E235F766-8095-40E7-8FB7-7BAB365E9F39}"/>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DCA4F053-8464-4768-A38C-A17DBDE4DE3E}"/>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El orden de las columnas importa.</a:t>
            </a:r>
          </a:p>
        </p:txBody>
      </p:sp>
      <p:sp>
        <p:nvSpPr>
          <p:cNvPr id="13" name="Shape 11">
            <a:extLst>
              <a:ext uri="{FF2B5EF4-FFF2-40B4-BE49-F238E27FC236}">
                <a16:creationId xmlns:a16="http://schemas.microsoft.com/office/drawing/2014/main" id="{C63EEA6D-0E00-40F3-9341-1FF53F90E8CA}"/>
              </a:ext>
            </a:extLst>
          </p:cNvPr>
          <p:cNvSpPr>
            <a:spLocks noGrp="1"/>
          </p:cNvSpPr>
          <p:nvPr/>
        </p:nvSpPr>
        <p:spPr>
          <a:xfrm>
            <a:off x="91440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14" name="Shape 12">
            <a:extLst>
              <a:ext uri="{FF2B5EF4-FFF2-40B4-BE49-F238E27FC236}">
                <a16:creationId xmlns:a16="http://schemas.microsoft.com/office/drawing/2014/main" id="{27906FF5-28C3-4BCE-9230-D8D754E343A5}"/>
              </a:ext>
            </a:extLst>
          </p:cNvPr>
          <p:cNvSpPr>
            <a:spLocks noGrp="1"/>
          </p:cNvSpPr>
          <p:nvPr/>
        </p:nvSpPr>
        <p:spPr>
          <a:xfrm>
            <a:off x="1078992" y="1984248"/>
            <a:ext cx="438912" cy="438912"/>
          </a:xfrm>
          <a:prstGeom prst="ellipse">
            <a:avLst/>
          </a:prstGeom>
          <a:solidFill>
            <a:srgbClr val="EAF8FC"/>
          </a:solidFill>
          <a:ln w="10160">
            <a:solidFill>
              <a:srgbClr val="D5EEF7"/>
            </a:solidFill>
            <a:prstDash val="solid"/>
          </a:ln>
        </p:spPr>
        <p:txBody>
          <a:bodyPr/>
          <a:lstStyle/>
          <a:p>
            <a:endParaRPr/>
          </a:p>
        </p:txBody>
      </p:sp>
      <p:sp>
        <p:nvSpPr>
          <p:cNvPr id="15" name="Text 13">
            <a:extLst>
              <a:ext uri="{FF2B5EF4-FFF2-40B4-BE49-F238E27FC236}">
                <a16:creationId xmlns:a16="http://schemas.microsoft.com/office/drawing/2014/main" id="{8E110575-9924-4A24-8884-A28E9FB4DF15}"/>
              </a:ext>
            </a:extLst>
          </p:cNvPr>
          <p:cNvSpPr>
            <a:spLocks noGrp="1"/>
          </p:cNvSpPr>
          <p:nvPr/>
        </p:nvSpPr>
        <p:spPr>
          <a:xfrm>
            <a:off x="1078992" y="2043684"/>
            <a:ext cx="438912" cy="228600"/>
          </a:xfrm>
          <a:prstGeom prst="rect">
            <a:avLst/>
          </a:prstGeom>
          <a:noFill/>
        </p:spPr>
        <p:txBody>
          <a:bodyPr wrap="square" lIns="0" tIns="0" rIns="0" bIns="0" anchor="ctr"/>
          <a:lstStyle/>
          <a:p>
            <a:pPr marL="0" indent="0" algn="ctr">
              <a:buNone/>
            </a:pPr>
            <a:r>
              <a:rPr sz="1550">
                <a:solidFill>
                  <a:srgbClr val="17B7D7"/>
                </a:solidFill>
              </a:rPr>
              <a:t>1</a:t>
            </a:r>
          </a:p>
        </p:txBody>
      </p:sp>
      <p:sp>
        <p:nvSpPr>
          <p:cNvPr id="16" name="Text 14">
            <a:extLst>
              <a:ext uri="{FF2B5EF4-FFF2-40B4-BE49-F238E27FC236}">
                <a16:creationId xmlns:a16="http://schemas.microsoft.com/office/drawing/2014/main" id="{1F68C214-B521-4066-9D3A-42A47BEA2852}"/>
              </a:ext>
            </a:extLst>
          </p:cNvPr>
          <p:cNvSpPr>
            <a:spLocks noGrp="1"/>
          </p:cNvSpPr>
          <p:nvPr/>
        </p:nvSpPr>
        <p:spPr>
          <a:xfrm>
            <a:off x="160020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Clave inicial</a:t>
            </a:r>
          </a:p>
        </p:txBody>
      </p:sp>
      <p:sp>
        <p:nvSpPr>
          <p:cNvPr id="17" name="Shape 15">
            <a:extLst>
              <a:ext uri="{FF2B5EF4-FFF2-40B4-BE49-F238E27FC236}">
                <a16:creationId xmlns:a16="http://schemas.microsoft.com/office/drawing/2014/main" id="{520B91C2-EF3C-4B81-A26F-17D73073C2AE}"/>
              </a:ext>
            </a:extLst>
          </p:cNvPr>
          <p:cNvSpPr>
            <a:spLocks noGrp="1"/>
          </p:cNvSpPr>
          <p:nvPr/>
        </p:nvSpPr>
        <p:spPr>
          <a:xfrm>
            <a:off x="1600200" y="2313432"/>
            <a:ext cx="411480" cy="0"/>
          </a:xfrm>
          <a:prstGeom prst="line">
            <a:avLst/>
          </a:prstGeom>
          <a:noFill/>
          <a:ln w="22860">
            <a:solidFill>
              <a:srgbClr val="17B7D7"/>
            </a:solidFill>
            <a:prstDash val="solid"/>
          </a:ln>
        </p:spPr>
        <p:txBody>
          <a:bodyPr/>
          <a:lstStyle/>
          <a:p>
            <a:endParaRPr/>
          </a:p>
        </p:txBody>
      </p:sp>
      <p:sp>
        <p:nvSpPr>
          <p:cNvPr id="18" name="Text 16">
            <a:extLst>
              <a:ext uri="{FF2B5EF4-FFF2-40B4-BE49-F238E27FC236}">
                <a16:creationId xmlns:a16="http://schemas.microsoft.com/office/drawing/2014/main" id="{B4396596-5CDA-4DBE-8878-C0F74DCD22B4}"/>
              </a:ext>
            </a:extLst>
          </p:cNvPr>
          <p:cNvSpPr>
            <a:spLocks noGrp="1"/>
          </p:cNvSpPr>
          <p:nvPr/>
        </p:nvSpPr>
        <p:spPr>
          <a:xfrm>
            <a:off x="111556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Favorece predicados que usan el prefijo.</a:t>
            </a:r>
          </a:p>
        </p:txBody>
      </p:sp>
      <p:sp>
        <p:nvSpPr>
          <p:cNvPr id="19" name="Shape 17">
            <a:extLst>
              <a:ext uri="{FF2B5EF4-FFF2-40B4-BE49-F238E27FC236}">
                <a16:creationId xmlns:a16="http://schemas.microsoft.com/office/drawing/2014/main" id="{8147991A-6C9F-439E-B048-C7F909634508}"/>
              </a:ext>
            </a:extLst>
          </p:cNvPr>
          <p:cNvSpPr>
            <a:spLocks noGrp="1"/>
          </p:cNvSpPr>
          <p:nvPr/>
        </p:nvSpPr>
        <p:spPr>
          <a:xfrm>
            <a:off x="452628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0" name="Shape 18">
            <a:extLst>
              <a:ext uri="{FF2B5EF4-FFF2-40B4-BE49-F238E27FC236}">
                <a16:creationId xmlns:a16="http://schemas.microsoft.com/office/drawing/2014/main" id="{9EF733E9-A002-4C96-90E6-E896672B3CFD}"/>
              </a:ext>
            </a:extLst>
          </p:cNvPr>
          <p:cNvSpPr>
            <a:spLocks noGrp="1"/>
          </p:cNvSpPr>
          <p:nvPr/>
        </p:nvSpPr>
        <p:spPr>
          <a:xfrm>
            <a:off x="4690872" y="1984248"/>
            <a:ext cx="438912" cy="438912"/>
          </a:xfrm>
          <a:prstGeom prst="ellipse">
            <a:avLst/>
          </a:prstGeom>
          <a:solidFill>
            <a:srgbClr val="EAF8FC"/>
          </a:solidFill>
          <a:ln w="10160">
            <a:solidFill>
              <a:srgbClr val="D5EEF7"/>
            </a:solidFill>
            <a:prstDash val="solid"/>
          </a:ln>
        </p:spPr>
        <p:txBody>
          <a:bodyPr/>
          <a:lstStyle/>
          <a:p>
            <a:endParaRPr/>
          </a:p>
        </p:txBody>
      </p:sp>
      <p:sp>
        <p:nvSpPr>
          <p:cNvPr id="21" name="Text 19">
            <a:extLst>
              <a:ext uri="{FF2B5EF4-FFF2-40B4-BE49-F238E27FC236}">
                <a16:creationId xmlns:a16="http://schemas.microsoft.com/office/drawing/2014/main" id="{9D24A6A4-8B9E-4BFB-81F6-61A64001216C}"/>
              </a:ext>
            </a:extLst>
          </p:cNvPr>
          <p:cNvSpPr>
            <a:spLocks noGrp="1"/>
          </p:cNvSpPr>
          <p:nvPr/>
        </p:nvSpPr>
        <p:spPr>
          <a:xfrm>
            <a:off x="4690872" y="2043684"/>
            <a:ext cx="438912" cy="228600"/>
          </a:xfrm>
          <a:prstGeom prst="rect">
            <a:avLst/>
          </a:prstGeom>
          <a:noFill/>
        </p:spPr>
        <p:txBody>
          <a:bodyPr wrap="square" lIns="0" tIns="0" rIns="0" bIns="0" anchor="ctr"/>
          <a:lstStyle/>
          <a:p>
            <a:pPr marL="0" indent="0" algn="ctr">
              <a:buNone/>
            </a:pPr>
            <a:r>
              <a:rPr sz="1550">
                <a:solidFill>
                  <a:srgbClr val="17B7D7"/>
                </a:solidFill>
              </a:rPr>
              <a:t>2</a:t>
            </a:r>
          </a:p>
        </p:txBody>
      </p:sp>
      <p:sp>
        <p:nvSpPr>
          <p:cNvPr id="22" name="Text 20">
            <a:extLst>
              <a:ext uri="{FF2B5EF4-FFF2-40B4-BE49-F238E27FC236}">
                <a16:creationId xmlns:a16="http://schemas.microsoft.com/office/drawing/2014/main" id="{53B490FB-80F7-46A0-9B9C-886B1DD8EBF9}"/>
              </a:ext>
            </a:extLst>
          </p:cNvPr>
          <p:cNvSpPr>
            <a:spLocks noGrp="1"/>
          </p:cNvSpPr>
          <p:nvPr/>
        </p:nvSpPr>
        <p:spPr>
          <a:xfrm>
            <a:off x="521208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Ejemplo</a:t>
            </a:r>
          </a:p>
        </p:txBody>
      </p:sp>
      <p:sp>
        <p:nvSpPr>
          <p:cNvPr id="23" name="Shape 21">
            <a:extLst>
              <a:ext uri="{FF2B5EF4-FFF2-40B4-BE49-F238E27FC236}">
                <a16:creationId xmlns:a16="http://schemas.microsoft.com/office/drawing/2014/main" id="{D3F3A3F9-DEBD-4625-95BC-DAAAB52868A2}"/>
              </a:ext>
            </a:extLst>
          </p:cNvPr>
          <p:cNvSpPr>
            <a:spLocks noGrp="1"/>
          </p:cNvSpPr>
          <p:nvPr/>
        </p:nvSpPr>
        <p:spPr>
          <a:xfrm>
            <a:off x="5212080" y="2313432"/>
            <a:ext cx="411480" cy="0"/>
          </a:xfrm>
          <a:prstGeom prst="line">
            <a:avLst/>
          </a:prstGeom>
          <a:noFill/>
          <a:ln w="22860">
            <a:solidFill>
              <a:srgbClr val="17B7D7"/>
            </a:solidFill>
            <a:prstDash val="solid"/>
          </a:ln>
        </p:spPr>
        <p:txBody>
          <a:bodyPr/>
          <a:lstStyle/>
          <a:p>
            <a:endParaRPr/>
          </a:p>
        </p:txBody>
      </p:sp>
      <p:sp>
        <p:nvSpPr>
          <p:cNvPr id="24" name="Text 22">
            <a:extLst>
              <a:ext uri="{FF2B5EF4-FFF2-40B4-BE49-F238E27FC236}">
                <a16:creationId xmlns:a16="http://schemas.microsoft.com/office/drawing/2014/main" id="{E9610762-B4D3-4DD8-9CCD-A0F730F6ECB5}"/>
              </a:ext>
            </a:extLst>
          </p:cNvPr>
          <p:cNvSpPr>
            <a:spLocks noGrp="1"/>
          </p:cNvSpPr>
          <p:nvPr/>
        </p:nvSpPr>
        <p:spPr>
          <a:xfrm>
            <a:off x="472744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(cliente_id, fecha_pedido).</a:t>
            </a:r>
          </a:p>
        </p:txBody>
      </p:sp>
      <p:sp>
        <p:nvSpPr>
          <p:cNvPr id="25" name="Shape 23">
            <a:extLst>
              <a:ext uri="{FF2B5EF4-FFF2-40B4-BE49-F238E27FC236}">
                <a16:creationId xmlns:a16="http://schemas.microsoft.com/office/drawing/2014/main" id="{CCEF4718-176D-45F0-B2D4-BF2C7E320CBA}"/>
              </a:ext>
            </a:extLst>
          </p:cNvPr>
          <p:cNvSpPr>
            <a:spLocks noGrp="1"/>
          </p:cNvSpPr>
          <p:nvPr/>
        </p:nvSpPr>
        <p:spPr>
          <a:xfrm>
            <a:off x="813816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6" name="Shape 24">
            <a:extLst>
              <a:ext uri="{FF2B5EF4-FFF2-40B4-BE49-F238E27FC236}">
                <a16:creationId xmlns:a16="http://schemas.microsoft.com/office/drawing/2014/main" id="{8D44E5AE-8A67-4853-B244-F81052A007F4}"/>
              </a:ext>
            </a:extLst>
          </p:cNvPr>
          <p:cNvSpPr>
            <a:spLocks noGrp="1"/>
          </p:cNvSpPr>
          <p:nvPr/>
        </p:nvSpPr>
        <p:spPr>
          <a:xfrm>
            <a:off x="8302752" y="1984248"/>
            <a:ext cx="438912" cy="438912"/>
          </a:xfrm>
          <a:prstGeom prst="ellipse">
            <a:avLst/>
          </a:prstGeom>
          <a:solidFill>
            <a:srgbClr val="EAF8FC"/>
          </a:solidFill>
          <a:ln w="10160">
            <a:solidFill>
              <a:srgbClr val="D5EEF7"/>
            </a:solidFill>
            <a:prstDash val="solid"/>
          </a:ln>
        </p:spPr>
        <p:txBody>
          <a:bodyPr/>
          <a:lstStyle/>
          <a:p>
            <a:endParaRPr/>
          </a:p>
        </p:txBody>
      </p:sp>
      <p:sp>
        <p:nvSpPr>
          <p:cNvPr id="27" name="Text 25">
            <a:extLst>
              <a:ext uri="{FF2B5EF4-FFF2-40B4-BE49-F238E27FC236}">
                <a16:creationId xmlns:a16="http://schemas.microsoft.com/office/drawing/2014/main" id="{1E839E76-0723-4E97-92D6-AA1B56FF2E71}"/>
              </a:ext>
            </a:extLst>
          </p:cNvPr>
          <p:cNvSpPr>
            <a:spLocks noGrp="1"/>
          </p:cNvSpPr>
          <p:nvPr/>
        </p:nvSpPr>
        <p:spPr>
          <a:xfrm>
            <a:off x="8302752" y="2043684"/>
            <a:ext cx="438912" cy="228600"/>
          </a:xfrm>
          <a:prstGeom prst="rect">
            <a:avLst/>
          </a:prstGeom>
          <a:noFill/>
        </p:spPr>
        <p:txBody>
          <a:bodyPr wrap="square" lIns="0" tIns="0" rIns="0" bIns="0" anchor="ctr"/>
          <a:lstStyle/>
          <a:p>
            <a:pPr marL="0" indent="0" algn="ctr">
              <a:buNone/>
            </a:pPr>
            <a:r>
              <a:rPr sz="1550">
                <a:solidFill>
                  <a:srgbClr val="17B7D7"/>
                </a:solidFill>
              </a:rPr>
              <a:t>3</a:t>
            </a:r>
          </a:p>
        </p:txBody>
      </p:sp>
      <p:sp>
        <p:nvSpPr>
          <p:cNvPr id="28" name="Text 26">
            <a:extLst>
              <a:ext uri="{FF2B5EF4-FFF2-40B4-BE49-F238E27FC236}">
                <a16:creationId xmlns:a16="http://schemas.microsoft.com/office/drawing/2014/main" id="{39EAD97E-ACE2-4547-A6C7-EC305192AC81}"/>
              </a:ext>
            </a:extLst>
          </p:cNvPr>
          <p:cNvSpPr>
            <a:spLocks noGrp="1"/>
          </p:cNvSpPr>
          <p:nvPr/>
        </p:nvSpPr>
        <p:spPr>
          <a:xfrm>
            <a:off x="882396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Validación</a:t>
            </a:r>
          </a:p>
        </p:txBody>
      </p:sp>
      <p:sp>
        <p:nvSpPr>
          <p:cNvPr id="29" name="Shape 27">
            <a:extLst>
              <a:ext uri="{FF2B5EF4-FFF2-40B4-BE49-F238E27FC236}">
                <a16:creationId xmlns:a16="http://schemas.microsoft.com/office/drawing/2014/main" id="{FCA73888-782F-4505-B3DD-DA63AA7D156F}"/>
              </a:ext>
            </a:extLst>
          </p:cNvPr>
          <p:cNvSpPr>
            <a:spLocks noGrp="1"/>
          </p:cNvSpPr>
          <p:nvPr/>
        </p:nvSpPr>
        <p:spPr>
          <a:xfrm>
            <a:off x="8823960" y="2313432"/>
            <a:ext cx="411480" cy="0"/>
          </a:xfrm>
          <a:prstGeom prst="line">
            <a:avLst/>
          </a:prstGeom>
          <a:noFill/>
          <a:ln w="22860">
            <a:solidFill>
              <a:srgbClr val="17B7D7"/>
            </a:solidFill>
            <a:prstDash val="solid"/>
          </a:ln>
        </p:spPr>
        <p:txBody>
          <a:bodyPr/>
          <a:lstStyle/>
          <a:p>
            <a:endParaRPr/>
          </a:p>
        </p:txBody>
      </p:sp>
      <p:sp>
        <p:nvSpPr>
          <p:cNvPr id="30" name="Text 28">
            <a:extLst>
              <a:ext uri="{FF2B5EF4-FFF2-40B4-BE49-F238E27FC236}">
                <a16:creationId xmlns:a16="http://schemas.microsoft.com/office/drawing/2014/main" id="{DD936180-33BC-4320-BA9F-81FA74FC0275}"/>
              </a:ext>
            </a:extLst>
          </p:cNvPr>
          <p:cNvSpPr>
            <a:spLocks noGrp="1"/>
          </p:cNvSpPr>
          <p:nvPr/>
        </p:nvSpPr>
        <p:spPr>
          <a:xfrm>
            <a:off x="833932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Comparar con consultas reales y estadísticas.</a:t>
            </a:r>
          </a:p>
        </p:txBody>
      </p:sp>
      <p:sp>
        <p:nvSpPr>
          <p:cNvPr id="31" name="Text 29">
            <a:extLst>
              <a:ext uri="{FF2B5EF4-FFF2-40B4-BE49-F238E27FC236}">
                <a16:creationId xmlns:a16="http://schemas.microsoft.com/office/drawing/2014/main" id="{5BD4C6CA-B995-4864-9406-0372256BA931}"/>
              </a:ext>
            </a:extLst>
          </p:cNvPr>
          <p:cNvSpPr>
            <a:spLocks noGrp="1"/>
          </p:cNvSpPr>
          <p:nvPr/>
        </p:nvSpPr>
        <p:spPr>
          <a:xfrm>
            <a:off x="914400" y="4800600"/>
            <a:ext cx="10332720" cy="411480"/>
          </a:xfrm>
          <a:prstGeom prst="rect">
            <a:avLst/>
          </a:prstGeom>
          <a:noFill/>
        </p:spPr>
        <p:txBody>
          <a:bodyPr wrap="square" anchor="ctr"/>
          <a:lstStyle/>
          <a:p>
            <a:pPr marL="0" indent="0" algn="ctr">
              <a:buNone/>
            </a:pPr>
            <a:r>
              <a:rPr sz="1800" b="1">
                <a:solidFill>
                  <a:srgbClr val="07245A"/>
                </a:solidFill>
              </a:rPr>
              <a:t>Un índice útil para cliente + fecha no siempre sirve para fecha sola.</a:t>
            </a:r>
          </a:p>
        </p:txBody>
      </p:sp>
      <p:sp>
        <p:nvSpPr>
          <p:cNvPr id="32" name="Shape 30">
            <a:extLst>
              <a:ext uri="{FF2B5EF4-FFF2-40B4-BE49-F238E27FC236}">
                <a16:creationId xmlns:a16="http://schemas.microsoft.com/office/drawing/2014/main" id="{48DEFDF8-4233-43D1-ABC6-22926B0A171A}"/>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33" name="Text 31">
            <a:extLst>
              <a:ext uri="{FF2B5EF4-FFF2-40B4-BE49-F238E27FC236}">
                <a16:creationId xmlns:a16="http://schemas.microsoft.com/office/drawing/2014/main" id="{B6AAE201-650E-4F2F-8FFF-27F1A0DEDA4A}"/>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Tree>
    <p:extLst>
      <p:ext uri="{BB962C8B-B14F-4D97-AF65-F5344CB8AC3E}">
        <p14:creationId xmlns:p14="http://schemas.microsoft.com/office/powerpoint/2010/main" val="9683784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05CF088-86D1-4237-A8B6-86340931FA7C}"/>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847F890F-7C13-4F2A-84C6-BDC693CD35C7}"/>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7BB5CAB5-B296-4B90-B816-7720A845B7AF}"/>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93315444-6A06-4975-AAB4-F93BEAD99811}"/>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2FCAFC4E-8771-4726-B3C7-8BB4CF1BA10D}"/>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924EE4AA-ADBB-4B97-B2B8-D00FB2CB1693}"/>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7658BA90-9699-4AD7-B234-9BA2DF0BB11E}"/>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7F04B3A0-9ED9-4019-A5D3-4CE94D0DEC95}"/>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23</a:t>
            </a:r>
          </a:p>
        </p:txBody>
      </p:sp>
      <p:sp>
        <p:nvSpPr>
          <p:cNvPr id="10" name="Text 8">
            <a:extLst>
              <a:ext uri="{FF2B5EF4-FFF2-40B4-BE49-F238E27FC236}">
                <a16:creationId xmlns:a16="http://schemas.microsoft.com/office/drawing/2014/main" id="{BDFECAF7-7624-4B06-8A6D-78057E0F3E84}"/>
              </a:ext>
            </a:extLst>
          </p:cNvPr>
          <p:cNvSpPr>
            <a:spLocks noGrp="1"/>
          </p:cNvSpPr>
          <p:nvPr/>
        </p:nvSpPr>
        <p:spPr>
          <a:xfrm>
            <a:off x="658368" y="868680"/>
            <a:ext cx="10698480" cy="411480"/>
          </a:xfrm>
          <a:prstGeom prst="rect">
            <a:avLst/>
          </a:prstGeom>
          <a:noFill/>
        </p:spPr>
        <p:txBody>
          <a:bodyPr wrap="square" lIns="0" tIns="0" rIns="0" bIns="0" anchor="ctr">
            <a:normAutofit fontScale="88235" lnSpcReduction="20000"/>
          </a:bodyPr>
          <a:lstStyle/>
          <a:p>
            <a:pPr marL="0" indent="0">
              <a:buNone/>
            </a:pPr>
            <a:r>
              <a:rPr sz="3400" b="1">
                <a:solidFill>
                  <a:srgbClr val="07245A"/>
                </a:solidFill>
                <a:latin typeface="Aptos Display"/>
                <a:ea typeface="Aptos Display"/>
                <a:cs typeface="Aptos Display"/>
              </a:rPr>
              <a:t>Selectividad y distribución</a:t>
            </a:r>
          </a:p>
        </p:txBody>
      </p:sp>
      <p:sp>
        <p:nvSpPr>
          <p:cNvPr id="11" name="Shape 9">
            <a:extLst>
              <a:ext uri="{FF2B5EF4-FFF2-40B4-BE49-F238E27FC236}">
                <a16:creationId xmlns:a16="http://schemas.microsoft.com/office/drawing/2014/main" id="{E235F766-8095-40E7-8FB7-7BAB365E9F39}"/>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DCA4F053-8464-4768-A38C-A17DBDE4DE3E}"/>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No existen umbrales universales.</a:t>
            </a:r>
          </a:p>
        </p:txBody>
      </p:sp>
      <p:sp>
        <p:nvSpPr>
          <p:cNvPr id="13" name="Shape 11">
            <a:extLst>
              <a:ext uri="{FF2B5EF4-FFF2-40B4-BE49-F238E27FC236}">
                <a16:creationId xmlns:a16="http://schemas.microsoft.com/office/drawing/2014/main" id="{C63EEA6D-0E00-40F3-9341-1FF53F90E8CA}"/>
              </a:ext>
            </a:extLst>
          </p:cNvPr>
          <p:cNvSpPr>
            <a:spLocks noGrp="1"/>
          </p:cNvSpPr>
          <p:nvPr/>
        </p:nvSpPr>
        <p:spPr>
          <a:xfrm>
            <a:off x="91440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14" name="Shape 12">
            <a:extLst>
              <a:ext uri="{FF2B5EF4-FFF2-40B4-BE49-F238E27FC236}">
                <a16:creationId xmlns:a16="http://schemas.microsoft.com/office/drawing/2014/main" id="{27906FF5-28C3-4BCE-9230-D8D754E343A5}"/>
              </a:ext>
            </a:extLst>
          </p:cNvPr>
          <p:cNvSpPr>
            <a:spLocks noGrp="1"/>
          </p:cNvSpPr>
          <p:nvPr/>
        </p:nvSpPr>
        <p:spPr>
          <a:xfrm>
            <a:off x="1078992" y="1984248"/>
            <a:ext cx="438912" cy="438912"/>
          </a:xfrm>
          <a:prstGeom prst="ellipse">
            <a:avLst/>
          </a:prstGeom>
          <a:solidFill>
            <a:srgbClr val="EAF8FC"/>
          </a:solidFill>
          <a:ln w="10160">
            <a:solidFill>
              <a:srgbClr val="D5EEF7"/>
            </a:solidFill>
            <a:prstDash val="solid"/>
          </a:ln>
        </p:spPr>
        <p:txBody>
          <a:bodyPr/>
          <a:lstStyle/>
          <a:p>
            <a:endParaRPr/>
          </a:p>
        </p:txBody>
      </p:sp>
      <p:sp>
        <p:nvSpPr>
          <p:cNvPr id="15" name="Text 13">
            <a:extLst>
              <a:ext uri="{FF2B5EF4-FFF2-40B4-BE49-F238E27FC236}">
                <a16:creationId xmlns:a16="http://schemas.microsoft.com/office/drawing/2014/main" id="{8E110575-9924-4A24-8884-A28E9FB4DF15}"/>
              </a:ext>
            </a:extLst>
          </p:cNvPr>
          <p:cNvSpPr>
            <a:spLocks noGrp="1"/>
          </p:cNvSpPr>
          <p:nvPr/>
        </p:nvSpPr>
        <p:spPr>
          <a:xfrm>
            <a:off x="1078992" y="2043684"/>
            <a:ext cx="438912" cy="228600"/>
          </a:xfrm>
          <a:prstGeom prst="rect">
            <a:avLst/>
          </a:prstGeom>
          <a:noFill/>
        </p:spPr>
        <p:txBody>
          <a:bodyPr wrap="square" lIns="0" tIns="0" rIns="0" bIns="0" anchor="ctr"/>
          <a:lstStyle/>
          <a:p>
            <a:pPr marL="0" indent="0" algn="ctr">
              <a:buNone/>
            </a:pPr>
            <a:r>
              <a:rPr sz="1550">
                <a:solidFill>
                  <a:srgbClr val="17B7D7"/>
                </a:solidFill>
              </a:rPr>
              <a:t>1</a:t>
            </a:r>
          </a:p>
        </p:txBody>
      </p:sp>
      <p:sp>
        <p:nvSpPr>
          <p:cNvPr id="16" name="Text 14">
            <a:extLst>
              <a:ext uri="{FF2B5EF4-FFF2-40B4-BE49-F238E27FC236}">
                <a16:creationId xmlns:a16="http://schemas.microsoft.com/office/drawing/2014/main" id="{1F68C214-B521-4066-9D3A-42A47BEA2852}"/>
              </a:ext>
            </a:extLst>
          </p:cNvPr>
          <p:cNvSpPr>
            <a:spLocks noGrp="1"/>
          </p:cNvSpPr>
          <p:nvPr/>
        </p:nvSpPr>
        <p:spPr>
          <a:xfrm>
            <a:off x="160020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Selectividad</a:t>
            </a:r>
          </a:p>
        </p:txBody>
      </p:sp>
      <p:sp>
        <p:nvSpPr>
          <p:cNvPr id="17" name="Shape 15">
            <a:extLst>
              <a:ext uri="{FF2B5EF4-FFF2-40B4-BE49-F238E27FC236}">
                <a16:creationId xmlns:a16="http://schemas.microsoft.com/office/drawing/2014/main" id="{520B91C2-EF3C-4B81-A26F-17D73073C2AE}"/>
              </a:ext>
            </a:extLst>
          </p:cNvPr>
          <p:cNvSpPr>
            <a:spLocks noGrp="1"/>
          </p:cNvSpPr>
          <p:nvPr/>
        </p:nvSpPr>
        <p:spPr>
          <a:xfrm>
            <a:off x="1600200" y="2313432"/>
            <a:ext cx="411480" cy="0"/>
          </a:xfrm>
          <a:prstGeom prst="line">
            <a:avLst/>
          </a:prstGeom>
          <a:noFill/>
          <a:ln w="22860">
            <a:solidFill>
              <a:srgbClr val="17B7D7"/>
            </a:solidFill>
            <a:prstDash val="solid"/>
          </a:ln>
        </p:spPr>
        <p:txBody>
          <a:bodyPr/>
          <a:lstStyle/>
          <a:p>
            <a:endParaRPr/>
          </a:p>
        </p:txBody>
      </p:sp>
      <p:sp>
        <p:nvSpPr>
          <p:cNvPr id="18" name="Text 16">
            <a:extLst>
              <a:ext uri="{FF2B5EF4-FFF2-40B4-BE49-F238E27FC236}">
                <a16:creationId xmlns:a16="http://schemas.microsoft.com/office/drawing/2014/main" id="{B4396596-5CDA-4DBE-8878-C0F74DCD22B4}"/>
              </a:ext>
            </a:extLst>
          </p:cNvPr>
          <p:cNvSpPr>
            <a:spLocks noGrp="1"/>
          </p:cNvSpPr>
          <p:nvPr/>
        </p:nvSpPr>
        <p:spPr>
          <a:xfrm>
            <a:off x="111556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Porcentaje de filas después del filtro.</a:t>
            </a:r>
          </a:p>
        </p:txBody>
      </p:sp>
      <p:sp>
        <p:nvSpPr>
          <p:cNvPr id="19" name="Shape 17">
            <a:extLst>
              <a:ext uri="{FF2B5EF4-FFF2-40B4-BE49-F238E27FC236}">
                <a16:creationId xmlns:a16="http://schemas.microsoft.com/office/drawing/2014/main" id="{8147991A-6C9F-439E-B048-C7F909634508}"/>
              </a:ext>
            </a:extLst>
          </p:cNvPr>
          <p:cNvSpPr>
            <a:spLocks noGrp="1"/>
          </p:cNvSpPr>
          <p:nvPr/>
        </p:nvSpPr>
        <p:spPr>
          <a:xfrm>
            <a:off x="452628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0" name="Shape 18">
            <a:extLst>
              <a:ext uri="{FF2B5EF4-FFF2-40B4-BE49-F238E27FC236}">
                <a16:creationId xmlns:a16="http://schemas.microsoft.com/office/drawing/2014/main" id="{9EF733E9-A002-4C96-90E6-E896672B3CFD}"/>
              </a:ext>
            </a:extLst>
          </p:cNvPr>
          <p:cNvSpPr>
            <a:spLocks noGrp="1"/>
          </p:cNvSpPr>
          <p:nvPr/>
        </p:nvSpPr>
        <p:spPr>
          <a:xfrm>
            <a:off x="4690872" y="1984248"/>
            <a:ext cx="438912" cy="438912"/>
          </a:xfrm>
          <a:prstGeom prst="ellipse">
            <a:avLst/>
          </a:prstGeom>
          <a:solidFill>
            <a:srgbClr val="EAF8FC"/>
          </a:solidFill>
          <a:ln w="10160">
            <a:solidFill>
              <a:srgbClr val="D5EEF7"/>
            </a:solidFill>
            <a:prstDash val="solid"/>
          </a:ln>
        </p:spPr>
        <p:txBody>
          <a:bodyPr/>
          <a:lstStyle/>
          <a:p>
            <a:endParaRPr/>
          </a:p>
        </p:txBody>
      </p:sp>
      <p:sp>
        <p:nvSpPr>
          <p:cNvPr id="21" name="Text 19">
            <a:extLst>
              <a:ext uri="{FF2B5EF4-FFF2-40B4-BE49-F238E27FC236}">
                <a16:creationId xmlns:a16="http://schemas.microsoft.com/office/drawing/2014/main" id="{9D24A6A4-8B9E-4BFB-81F6-61A64001216C}"/>
              </a:ext>
            </a:extLst>
          </p:cNvPr>
          <p:cNvSpPr>
            <a:spLocks noGrp="1"/>
          </p:cNvSpPr>
          <p:nvPr/>
        </p:nvSpPr>
        <p:spPr>
          <a:xfrm>
            <a:off x="4690872" y="2043684"/>
            <a:ext cx="438912" cy="228600"/>
          </a:xfrm>
          <a:prstGeom prst="rect">
            <a:avLst/>
          </a:prstGeom>
          <a:noFill/>
        </p:spPr>
        <p:txBody>
          <a:bodyPr wrap="square" lIns="0" tIns="0" rIns="0" bIns="0" anchor="ctr"/>
          <a:lstStyle/>
          <a:p>
            <a:pPr marL="0" indent="0" algn="ctr">
              <a:buNone/>
            </a:pPr>
            <a:r>
              <a:rPr sz="1550">
                <a:solidFill>
                  <a:srgbClr val="17B7D7"/>
                </a:solidFill>
              </a:rPr>
              <a:t>2</a:t>
            </a:r>
          </a:p>
        </p:txBody>
      </p:sp>
      <p:sp>
        <p:nvSpPr>
          <p:cNvPr id="22" name="Text 20">
            <a:extLst>
              <a:ext uri="{FF2B5EF4-FFF2-40B4-BE49-F238E27FC236}">
                <a16:creationId xmlns:a16="http://schemas.microsoft.com/office/drawing/2014/main" id="{53B490FB-80F7-46A0-9B9C-886B1DD8EBF9}"/>
              </a:ext>
            </a:extLst>
          </p:cNvPr>
          <p:cNvSpPr>
            <a:spLocks noGrp="1"/>
          </p:cNvSpPr>
          <p:nvPr/>
        </p:nvSpPr>
        <p:spPr>
          <a:xfrm>
            <a:off x="521208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Distribución</a:t>
            </a:r>
          </a:p>
        </p:txBody>
      </p:sp>
      <p:sp>
        <p:nvSpPr>
          <p:cNvPr id="23" name="Shape 21">
            <a:extLst>
              <a:ext uri="{FF2B5EF4-FFF2-40B4-BE49-F238E27FC236}">
                <a16:creationId xmlns:a16="http://schemas.microsoft.com/office/drawing/2014/main" id="{D3F3A3F9-DEBD-4625-95BC-DAAAB52868A2}"/>
              </a:ext>
            </a:extLst>
          </p:cNvPr>
          <p:cNvSpPr>
            <a:spLocks noGrp="1"/>
          </p:cNvSpPr>
          <p:nvPr/>
        </p:nvSpPr>
        <p:spPr>
          <a:xfrm>
            <a:off x="5212080" y="2313432"/>
            <a:ext cx="411480" cy="0"/>
          </a:xfrm>
          <a:prstGeom prst="line">
            <a:avLst/>
          </a:prstGeom>
          <a:noFill/>
          <a:ln w="22860">
            <a:solidFill>
              <a:srgbClr val="17B7D7"/>
            </a:solidFill>
            <a:prstDash val="solid"/>
          </a:ln>
        </p:spPr>
        <p:txBody>
          <a:bodyPr/>
          <a:lstStyle/>
          <a:p>
            <a:endParaRPr/>
          </a:p>
        </p:txBody>
      </p:sp>
      <p:sp>
        <p:nvSpPr>
          <p:cNvPr id="24" name="Text 22">
            <a:extLst>
              <a:ext uri="{FF2B5EF4-FFF2-40B4-BE49-F238E27FC236}">
                <a16:creationId xmlns:a16="http://schemas.microsoft.com/office/drawing/2014/main" id="{E9610762-B4D3-4DD8-9CCD-A0F730F6ECB5}"/>
              </a:ext>
            </a:extLst>
          </p:cNvPr>
          <p:cNvSpPr>
            <a:spLocks noGrp="1"/>
          </p:cNvSpPr>
          <p:nvPr/>
        </p:nvSpPr>
        <p:spPr>
          <a:xfrm>
            <a:off x="472744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Valores sesgados alteran las estimaciones.</a:t>
            </a:r>
          </a:p>
        </p:txBody>
      </p:sp>
      <p:sp>
        <p:nvSpPr>
          <p:cNvPr id="25" name="Shape 23">
            <a:extLst>
              <a:ext uri="{FF2B5EF4-FFF2-40B4-BE49-F238E27FC236}">
                <a16:creationId xmlns:a16="http://schemas.microsoft.com/office/drawing/2014/main" id="{CCEF4718-176D-45F0-B2D4-BF2C7E320CBA}"/>
              </a:ext>
            </a:extLst>
          </p:cNvPr>
          <p:cNvSpPr>
            <a:spLocks noGrp="1"/>
          </p:cNvSpPr>
          <p:nvPr/>
        </p:nvSpPr>
        <p:spPr>
          <a:xfrm>
            <a:off x="813816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6" name="Shape 24">
            <a:extLst>
              <a:ext uri="{FF2B5EF4-FFF2-40B4-BE49-F238E27FC236}">
                <a16:creationId xmlns:a16="http://schemas.microsoft.com/office/drawing/2014/main" id="{8D44E5AE-8A67-4853-B244-F81052A007F4}"/>
              </a:ext>
            </a:extLst>
          </p:cNvPr>
          <p:cNvSpPr>
            <a:spLocks noGrp="1"/>
          </p:cNvSpPr>
          <p:nvPr/>
        </p:nvSpPr>
        <p:spPr>
          <a:xfrm>
            <a:off x="8302752" y="1984248"/>
            <a:ext cx="438912" cy="438912"/>
          </a:xfrm>
          <a:prstGeom prst="ellipse">
            <a:avLst/>
          </a:prstGeom>
          <a:solidFill>
            <a:srgbClr val="EAF8FC"/>
          </a:solidFill>
          <a:ln w="10160">
            <a:solidFill>
              <a:srgbClr val="D5EEF7"/>
            </a:solidFill>
            <a:prstDash val="solid"/>
          </a:ln>
        </p:spPr>
        <p:txBody>
          <a:bodyPr/>
          <a:lstStyle/>
          <a:p>
            <a:endParaRPr/>
          </a:p>
        </p:txBody>
      </p:sp>
      <p:sp>
        <p:nvSpPr>
          <p:cNvPr id="27" name="Text 25">
            <a:extLst>
              <a:ext uri="{FF2B5EF4-FFF2-40B4-BE49-F238E27FC236}">
                <a16:creationId xmlns:a16="http://schemas.microsoft.com/office/drawing/2014/main" id="{1E839E76-0723-4E97-92D6-AA1B56FF2E71}"/>
              </a:ext>
            </a:extLst>
          </p:cNvPr>
          <p:cNvSpPr>
            <a:spLocks noGrp="1"/>
          </p:cNvSpPr>
          <p:nvPr/>
        </p:nvSpPr>
        <p:spPr>
          <a:xfrm>
            <a:off x="8302752" y="2043684"/>
            <a:ext cx="438912" cy="228600"/>
          </a:xfrm>
          <a:prstGeom prst="rect">
            <a:avLst/>
          </a:prstGeom>
          <a:noFill/>
        </p:spPr>
        <p:txBody>
          <a:bodyPr wrap="square" lIns="0" tIns="0" rIns="0" bIns="0" anchor="ctr"/>
          <a:lstStyle/>
          <a:p>
            <a:pPr marL="0" indent="0" algn="ctr">
              <a:buNone/>
            </a:pPr>
            <a:r>
              <a:rPr sz="1550">
                <a:solidFill>
                  <a:srgbClr val="17B7D7"/>
                </a:solidFill>
              </a:rPr>
              <a:t>3</a:t>
            </a:r>
          </a:p>
        </p:txBody>
      </p:sp>
      <p:sp>
        <p:nvSpPr>
          <p:cNvPr id="28" name="Text 26">
            <a:extLst>
              <a:ext uri="{FF2B5EF4-FFF2-40B4-BE49-F238E27FC236}">
                <a16:creationId xmlns:a16="http://schemas.microsoft.com/office/drawing/2014/main" id="{39EAD97E-ACE2-4547-A6C7-EC305192AC81}"/>
              </a:ext>
            </a:extLst>
          </p:cNvPr>
          <p:cNvSpPr>
            <a:spLocks noGrp="1"/>
          </p:cNvSpPr>
          <p:nvPr/>
        </p:nvSpPr>
        <p:spPr>
          <a:xfrm>
            <a:off x="882396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Estadísticas</a:t>
            </a:r>
          </a:p>
        </p:txBody>
      </p:sp>
      <p:sp>
        <p:nvSpPr>
          <p:cNvPr id="29" name="Shape 27">
            <a:extLst>
              <a:ext uri="{FF2B5EF4-FFF2-40B4-BE49-F238E27FC236}">
                <a16:creationId xmlns:a16="http://schemas.microsoft.com/office/drawing/2014/main" id="{FCA73888-782F-4505-B3DD-DA63AA7D156F}"/>
              </a:ext>
            </a:extLst>
          </p:cNvPr>
          <p:cNvSpPr>
            <a:spLocks noGrp="1"/>
          </p:cNvSpPr>
          <p:nvPr/>
        </p:nvSpPr>
        <p:spPr>
          <a:xfrm>
            <a:off x="8823960" y="2313432"/>
            <a:ext cx="411480" cy="0"/>
          </a:xfrm>
          <a:prstGeom prst="line">
            <a:avLst/>
          </a:prstGeom>
          <a:noFill/>
          <a:ln w="22860">
            <a:solidFill>
              <a:srgbClr val="17B7D7"/>
            </a:solidFill>
            <a:prstDash val="solid"/>
          </a:ln>
        </p:spPr>
        <p:txBody>
          <a:bodyPr/>
          <a:lstStyle/>
          <a:p>
            <a:endParaRPr/>
          </a:p>
        </p:txBody>
      </p:sp>
      <p:sp>
        <p:nvSpPr>
          <p:cNvPr id="30" name="Text 28">
            <a:extLst>
              <a:ext uri="{FF2B5EF4-FFF2-40B4-BE49-F238E27FC236}">
                <a16:creationId xmlns:a16="http://schemas.microsoft.com/office/drawing/2014/main" id="{DD936180-33BC-4320-BA9F-81FA74FC0275}"/>
              </a:ext>
            </a:extLst>
          </p:cNvPr>
          <p:cNvSpPr>
            <a:spLocks noGrp="1"/>
          </p:cNvSpPr>
          <p:nvPr/>
        </p:nvSpPr>
        <p:spPr>
          <a:xfrm>
            <a:off x="833932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Ayudan al optimizador a calcular costos.</a:t>
            </a:r>
          </a:p>
        </p:txBody>
      </p:sp>
      <p:sp>
        <p:nvSpPr>
          <p:cNvPr id="31" name="Text 29">
            <a:extLst>
              <a:ext uri="{FF2B5EF4-FFF2-40B4-BE49-F238E27FC236}">
                <a16:creationId xmlns:a16="http://schemas.microsoft.com/office/drawing/2014/main" id="{5BD4C6CA-B995-4864-9406-0372256BA931}"/>
              </a:ext>
            </a:extLst>
          </p:cNvPr>
          <p:cNvSpPr>
            <a:spLocks noGrp="1"/>
          </p:cNvSpPr>
          <p:nvPr/>
        </p:nvSpPr>
        <p:spPr>
          <a:xfrm>
            <a:off x="914400" y="4800600"/>
            <a:ext cx="10332720" cy="411480"/>
          </a:xfrm>
          <a:prstGeom prst="rect">
            <a:avLst/>
          </a:prstGeom>
          <a:noFill/>
        </p:spPr>
        <p:txBody>
          <a:bodyPr wrap="square" anchor="ctr"/>
          <a:lstStyle/>
          <a:p>
            <a:pPr marL="0" indent="0" algn="ctr">
              <a:buNone/>
            </a:pPr>
            <a:r>
              <a:rPr sz="1800" b="1">
                <a:solidFill>
                  <a:srgbClr val="07245A"/>
                </a:solidFill>
              </a:rPr>
              <a:t>La misma columna puede ser selectiva para un valor y no para otro.</a:t>
            </a:r>
          </a:p>
        </p:txBody>
      </p:sp>
      <p:sp>
        <p:nvSpPr>
          <p:cNvPr id="32" name="Shape 30">
            <a:extLst>
              <a:ext uri="{FF2B5EF4-FFF2-40B4-BE49-F238E27FC236}">
                <a16:creationId xmlns:a16="http://schemas.microsoft.com/office/drawing/2014/main" id="{48DEFDF8-4233-43D1-ABC6-22926B0A171A}"/>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33" name="Text 31">
            <a:extLst>
              <a:ext uri="{FF2B5EF4-FFF2-40B4-BE49-F238E27FC236}">
                <a16:creationId xmlns:a16="http://schemas.microsoft.com/office/drawing/2014/main" id="{B6AAE201-650E-4F2F-8FFF-27F1A0DEDA4A}"/>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Tree>
    <p:extLst>
      <p:ext uri="{BB962C8B-B14F-4D97-AF65-F5344CB8AC3E}">
        <p14:creationId xmlns:p14="http://schemas.microsoft.com/office/powerpoint/2010/main" val="9683784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05CF088-86D1-4237-A8B6-86340931FA7C}"/>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847F890F-7C13-4F2A-84C6-BDC693CD35C7}"/>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7BB5CAB5-B296-4B90-B816-7720A845B7AF}"/>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93315444-6A06-4975-AAB4-F93BEAD99811}"/>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2FCAFC4E-8771-4726-B3C7-8BB4CF1BA10D}"/>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924EE4AA-ADBB-4B97-B2B8-D00FB2CB1693}"/>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7658BA90-9699-4AD7-B234-9BA2DF0BB11E}"/>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7F04B3A0-9ED9-4019-A5D3-4CE94D0DEC95}"/>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24</a:t>
            </a:r>
          </a:p>
        </p:txBody>
      </p:sp>
      <p:sp>
        <p:nvSpPr>
          <p:cNvPr id="10" name="Text 8">
            <a:extLst>
              <a:ext uri="{FF2B5EF4-FFF2-40B4-BE49-F238E27FC236}">
                <a16:creationId xmlns:a16="http://schemas.microsoft.com/office/drawing/2014/main" id="{BDFECAF7-7624-4B06-8A6D-78057E0F3E84}"/>
              </a:ext>
            </a:extLst>
          </p:cNvPr>
          <p:cNvSpPr>
            <a:spLocks noGrp="1"/>
          </p:cNvSpPr>
          <p:nvPr/>
        </p:nvSpPr>
        <p:spPr>
          <a:xfrm>
            <a:off x="658368" y="868680"/>
            <a:ext cx="10698480" cy="411480"/>
          </a:xfrm>
          <a:prstGeom prst="rect">
            <a:avLst/>
          </a:prstGeom>
          <a:noFill/>
        </p:spPr>
        <p:txBody>
          <a:bodyPr wrap="square" lIns="0" tIns="0" rIns="0" bIns="0" anchor="ctr">
            <a:normAutofit fontScale="92500"/>
          </a:bodyPr>
          <a:lstStyle/>
          <a:p>
            <a:pPr marL="0" indent="0">
              <a:buNone/>
            </a:pPr>
            <a:r>
              <a:rPr sz="3000" b="1">
                <a:solidFill>
                  <a:srgbClr val="07245A"/>
                </a:solidFill>
                <a:latin typeface="Aptos Display"/>
                <a:ea typeface="Aptos Display"/>
                <a:cs typeface="Aptos Display"/>
              </a:rPr>
              <a:t>Las estadísticas describen distribuciones reales</a:t>
            </a:r>
          </a:p>
        </p:txBody>
      </p:sp>
      <p:sp>
        <p:nvSpPr>
          <p:cNvPr id="11" name="Shape 9">
            <a:extLst>
              <a:ext uri="{FF2B5EF4-FFF2-40B4-BE49-F238E27FC236}">
                <a16:creationId xmlns:a16="http://schemas.microsoft.com/office/drawing/2014/main" id="{E235F766-8095-40E7-8FB7-7BAB365E9F39}"/>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DCA4F053-8464-4768-A38C-A17DBDE4DE3E}"/>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El optimizador mejora cuando conoce sesgos y relaciones.</a:t>
            </a:r>
          </a:p>
        </p:txBody>
      </p:sp>
      <p:sp>
        <p:nvSpPr>
          <p:cNvPr id="13" name="Shape 11">
            <a:extLst>
              <a:ext uri="{FF2B5EF4-FFF2-40B4-BE49-F238E27FC236}">
                <a16:creationId xmlns:a16="http://schemas.microsoft.com/office/drawing/2014/main" id="{C63EEA6D-0E00-40F3-9341-1FF53F90E8CA}"/>
              </a:ext>
            </a:extLst>
          </p:cNvPr>
          <p:cNvSpPr>
            <a:spLocks noGrp="1"/>
          </p:cNvSpPr>
          <p:nvPr/>
        </p:nvSpPr>
        <p:spPr>
          <a:xfrm>
            <a:off x="91440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14" name="Shape 12">
            <a:extLst>
              <a:ext uri="{FF2B5EF4-FFF2-40B4-BE49-F238E27FC236}">
                <a16:creationId xmlns:a16="http://schemas.microsoft.com/office/drawing/2014/main" id="{27906FF5-28C3-4BCE-9230-D8D754E343A5}"/>
              </a:ext>
            </a:extLst>
          </p:cNvPr>
          <p:cNvSpPr>
            <a:spLocks noGrp="1"/>
          </p:cNvSpPr>
          <p:nvPr/>
        </p:nvSpPr>
        <p:spPr>
          <a:xfrm>
            <a:off x="1078992" y="1984248"/>
            <a:ext cx="438912" cy="438912"/>
          </a:xfrm>
          <a:prstGeom prst="ellipse">
            <a:avLst/>
          </a:prstGeom>
          <a:solidFill>
            <a:srgbClr val="EAF8FC"/>
          </a:solidFill>
          <a:ln w="10160">
            <a:solidFill>
              <a:srgbClr val="D5EEF7"/>
            </a:solidFill>
            <a:prstDash val="solid"/>
          </a:ln>
        </p:spPr>
        <p:txBody>
          <a:bodyPr/>
          <a:lstStyle/>
          <a:p>
            <a:endParaRPr/>
          </a:p>
        </p:txBody>
      </p:sp>
      <p:sp>
        <p:nvSpPr>
          <p:cNvPr id="15" name="Text 13">
            <a:extLst>
              <a:ext uri="{FF2B5EF4-FFF2-40B4-BE49-F238E27FC236}">
                <a16:creationId xmlns:a16="http://schemas.microsoft.com/office/drawing/2014/main" id="{8E110575-9924-4A24-8884-A28E9FB4DF15}"/>
              </a:ext>
            </a:extLst>
          </p:cNvPr>
          <p:cNvSpPr>
            <a:spLocks noGrp="1"/>
          </p:cNvSpPr>
          <p:nvPr/>
        </p:nvSpPr>
        <p:spPr>
          <a:xfrm>
            <a:off x="1078992" y="2043684"/>
            <a:ext cx="438912" cy="228600"/>
          </a:xfrm>
          <a:prstGeom prst="rect">
            <a:avLst/>
          </a:prstGeom>
          <a:noFill/>
        </p:spPr>
        <p:txBody>
          <a:bodyPr wrap="square" lIns="0" tIns="0" rIns="0" bIns="0" anchor="ctr"/>
          <a:lstStyle/>
          <a:p>
            <a:pPr marL="0" indent="0" algn="ctr">
              <a:buNone/>
            </a:pPr>
            <a:r>
              <a:rPr sz="1550">
                <a:solidFill>
                  <a:srgbClr val="17B7D7"/>
                </a:solidFill>
              </a:rPr>
              <a:t>1</a:t>
            </a:r>
          </a:p>
        </p:txBody>
      </p:sp>
      <p:sp>
        <p:nvSpPr>
          <p:cNvPr id="16" name="Text 14">
            <a:extLst>
              <a:ext uri="{FF2B5EF4-FFF2-40B4-BE49-F238E27FC236}">
                <a16:creationId xmlns:a16="http://schemas.microsoft.com/office/drawing/2014/main" id="{1F68C214-B521-4066-9D3A-42A47BEA2852}"/>
              </a:ext>
            </a:extLst>
          </p:cNvPr>
          <p:cNvSpPr>
            <a:spLocks noGrp="1"/>
          </p:cNvSpPr>
          <p:nvPr/>
        </p:nvSpPr>
        <p:spPr>
          <a:xfrm>
            <a:off x="160020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Histogramas</a:t>
            </a:r>
          </a:p>
        </p:txBody>
      </p:sp>
      <p:sp>
        <p:nvSpPr>
          <p:cNvPr id="17" name="Shape 15">
            <a:extLst>
              <a:ext uri="{FF2B5EF4-FFF2-40B4-BE49-F238E27FC236}">
                <a16:creationId xmlns:a16="http://schemas.microsoft.com/office/drawing/2014/main" id="{520B91C2-EF3C-4B81-A26F-17D73073C2AE}"/>
              </a:ext>
            </a:extLst>
          </p:cNvPr>
          <p:cNvSpPr>
            <a:spLocks noGrp="1"/>
          </p:cNvSpPr>
          <p:nvPr/>
        </p:nvSpPr>
        <p:spPr>
          <a:xfrm>
            <a:off x="1600200" y="2313432"/>
            <a:ext cx="411480" cy="0"/>
          </a:xfrm>
          <a:prstGeom prst="line">
            <a:avLst/>
          </a:prstGeom>
          <a:noFill/>
          <a:ln w="22860">
            <a:solidFill>
              <a:srgbClr val="17B7D7"/>
            </a:solidFill>
            <a:prstDash val="solid"/>
          </a:ln>
        </p:spPr>
        <p:txBody>
          <a:bodyPr/>
          <a:lstStyle/>
          <a:p>
            <a:endParaRPr/>
          </a:p>
        </p:txBody>
      </p:sp>
      <p:sp>
        <p:nvSpPr>
          <p:cNvPr id="18" name="Text 16">
            <a:extLst>
              <a:ext uri="{FF2B5EF4-FFF2-40B4-BE49-F238E27FC236}">
                <a16:creationId xmlns:a16="http://schemas.microsoft.com/office/drawing/2014/main" id="{B4396596-5CDA-4DBE-8878-C0F74DCD22B4}"/>
              </a:ext>
            </a:extLst>
          </p:cNvPr>
          <p:cNvSpPr>
            <a:spLocks noGrp="1"/>
          </p:cNvSpPr>
          <p:nvPr/>
        </p:nvSpPr>
        <p:spPr>
          <a:xfrm>
            <a:off x="111556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Frecuencias, rangos y valores dominantes.</a:t>
            </a:r>
          </a:p>
        </p:txBody>
      </p:sp>
      <p:sp>
        <p:nvSpPr>
          <p:cNvPr id="19" name="Shape 17">
            <a:extLst>
              <a:ext uri="{FF2B5EF4-FFF2-40B4-BE49-F238E27FC236}">
                <a16:creationId xmlns:a16="http://schemas.microsoft.com/office/drawing/2014/main" id="{8147991A-6C9F-439E-B048-C7F909634508}"/>
              </a:ext>
            </a:extLst>
          </p:cNvPr>
          <p:cNvSpPr>
            <a:spLocks noGrp="1"/>
          </p:cNvSpPr>
          <p:nvPr/>
        </p:nvSpPr>
        <p:spPr>
          <a:xfrm>
            <a:off x="452628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0" name="Shape 18">
            <a:extLst>
              <a:ext uri="{FF2B5EF4-FFF2-40B4-BE49-F238E27FC236}">
                <a16:creationId xmlns:a16="http://schemas.microsoft.com/office/drawing/2014/main" id="{9EF733E9-A002-4C96-90E6-E896672B3CFD}"/>
              </a:ext>
            </a:extLst>
          </p:cNvPr>
          <p:cNvSpPr>
            <a:spLocks noGrp="1"/>
          </p:cNvSpPr>
          <p:nvPr/>
        </p:nvSpPr>
        <p:spPr>
          <a:xfrm>
            <a:off x="4690872" y="1984248"/>
            <a:ext cx="438912" cy="438912"/>
          </a:xfrm>
          <a:prstGeom prst="ellipse">
            <a:avLst/>
          </a:prstGeom>
          <a:solidFill>
            <a:srgbClr val="EAF8FC"/>
          </a:solidFill>
          <a:ln w="10160">
            <a:solidFill>
              <a:srgbClr val="D5EEF7"/>
            </a:solidFill>
            <a:prstDash val="solid"/>
          </a:ln>
        </p:spPr>
        <p:txBody>
          <a:bodyPr/>
          <a:lstStyle/>
          <a:p>
            <a:endParaRPr/>
          </a:p>
        </p:txBody>
      </p:sp>
      <p:sp>
        <p:nvSpPr>
          <p:cNvPr id="21" name="Text 19">
            <a:extLst>
              <a:ext uri="{FF2B5EF4-FFF2-40B4-BE49-F238E27FC236}">
                <a16:creationId xmlns:a16="http://schemas.microsoft.com/office/drawing/2014/main" id="{9D24A6A4-8B9E-4BFB-81F6-61A64001216C}"/>
              </a:ext>
            </a:extLst>
          </p:cNvPr>
          <p:cNvSpPr>
            <a:spLocks noGrp="1"/>
          </p:cNvSpPr>
          <p:nvPr/>
        </p:nvSpPr>
        <p:spPr>
          <a:xfrm>
            <a:off x="4690872" y="2043684"/>
            <a:ext cx="438912" cy="228600"/>
          </a:xfrm>
          <a:prstGeom prst="rect">
            <a:avLst/>
          </a:prstGeom>
          <a:noFill/>
        </p:spPr>
        <p:txBody>
          <a:bodyPr wrap="square" lIns="0" tIns="0" rIns="0" bIns="0" anchor="ctr"/>
          <a:lstStyle/>
          <a:p>
            <a:pPr marL="0" indent="0" algn="ctr">
              <a:buNone/>
            </a:pPr>
            <a:r>
              <a:rPr sz="1550">
                <a:solidFill>
                  <a:srgbClr val="17B7D7"/>
                </a:solidFill>
              </a:rPr>
              <a:t>2</a:t>
            </a:r>
          </a:p>
        </p:txBody>
      </p:sp>
      <p:sp>
        <p:nvSpPr>
          <p:cNvPr id="22" name="Text 20">
            <a:extLst>
              <a:ext uri="{FF2B5EF4-FFF2-40B4-BE49-F238E27FC236}">
                <a16:creationId xmlns:a16="http://schemas.microsoft.com/office/drawing/2014/main" id="{53B490FB-80F7-46A0-9B9C-886B1DD8EBF9}"/>
              </a:ext>
            </a:extLst>
          </p:cNvPr>
          <p:cNvSpPr>
            <a:spLocks noGrp="1"/>
          </p:cNvSpPr>
          <p:nvPr/>
        </p:nvSpPr>
        <p:spPr>
          <a:xfrm>
            <a:off x="521208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Correlación</a:t>
            </a:r>
          </a:p>
        </p:txBody>
      </p:sp>
      <p:sp>
        <p:nvSpPr>
          <p:cNvPr id="23" name="Shape 21">
            <a:extLst>
              <a:ext uri="{FF2B5EF4-FFF2-40B4-BE49-F238E27FC236}">
                <a16:creationId xmlns:a16="http://schemas.microsoft.com/office/drawing/2014/main" id="{D3F3A3F9-DEBD-4625-95BC-DAAAB52868A2}"/>
              </a:ext>
            </a:extLst>
          </p:cNvPr>
          <p:cNvSpPr>
            <a:spLocks noGrp="1"/>
          </p:cNvSpPr>
          <p:nvPr/>
        </p:nvSpPr>
        <p:spPr>
          <a:xfrm>
            <a:off x="5212080" y="2313432"/>
            <a:ext cx="411480" cy="0"/>
          </a:xfrm>
          <a:prstGeom prst="line">
            <a:avLst/>
          </a:prstGeom>
          <a:noFill/>
          <a:ln w="22860">
            <a:solidFill>
              <a:srgbClr val="17B7D7"/>
            </a:solidFill>
            <a:prstDash val="solid"/>
          </a:ln>
        </p:spPr>
        <p:txBody>
          <a:bodyPr/>
          <a:lstStyle/>
          <a:p>
            <a:endParaRPr/>
          </a:p>
        </p:txBody>
      </p:sp>
      <p:sp>
        <p:nvSpPr>
          <p:cNvPr id="24" name="Text 22">
            <a:extLst>
              <a:ext uri="{FF2B5EF4-FFF2-40B4-BE49-F238E27FC236}">
                <a16:creationId xmlns:a16="http://schemas.microsoft.com/office/drawing/2014/main" id="{E9610762-B4D3-4DD8-9CCD-A0F730F6ECB5}"/>
              </a:ext>
            </a:extLst>
          </p:cNvPr>
          <p:cNvSpPr>
            <a:spLocks noGrp="1"/>
          </p:cNvSpPr>
          <p:nvPr/>
        </p:nvSpPr>
        <p:spPr>
          <a:xfrm>
            <a:off x="472744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Columnas relacionadas no son independientes.</a:t>
            </a:r>
          </a:p>
        </p:txBody>
      </p:sp>
      <p:sp>
        <p:nvSpPr>
          <p:cNvPr id="25" name="Shape 23">
            <a:extLst>
              <a:ext uri="{FF2B5EF4-FFF2-40B4-BE49-F238E27FC236}">
                <a16:creationId xmlns:a16="http://schemas.microsoft.com/office/drawing/2014/main" id="{CCEF4718-176D-45F0-B2D4-BF2C7E320CBA}"/>
              </a:ext>
            </a:extLst>
          </p:cNvPr>
          <p:cNvSpPr>
            <a:spLocks noGrp="1"/>
          </p:cNvSpPr>
          <p:nvPr/>
        </p:nvSpPr>
        <p:spPr>
          <a:xfrm>
            <a:off x="813816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6" name="Shape 24">
            <a:extLst>
              <a:ext uri="{FF2B5EF4-FFF2-40B4-BE49-F238E27FC236}">
                <a16:creationId xmlns:a16="http://schemas.microsoft.com/office/drawing/2014/main" id="{8D44E5AE-8A67-4853-B244-F81052A007F4}"/>
              </a:ext>
            </a:extLst>
          </p:cNvPr>
          <p:cNvSpPr>
            <a:spLocks noGrp="1"/>
          </p:cNvSpPr>
          <p:nvPr/>
        </p:nvSpPr>
        <p:spPr>
          <a:xfrm>
            <a:off x="8302752" y="1984248"/>
            <a:ext cx="438912" cy="438912"/>
          </a:xfrm>
          <a:prstGeom prst="ellipse">
            <a:avLst/>
          </a:prstGeom>
          <a:solidFill>
            <a:srgbClr val="EAF8FC"/>
          </a:solidFill>
          <a:ln w="10160">
            <a:solidFill>
              <a:srgbClr val="D5EEF7"/>
            </a:solidFill>
            <a:prstDash val="solid"/>
          </a:ln>
        </p:spPr>
        <p:txBody>
          <a:bodyPr/>
          <a:lstStyle/>
          <a:p>
            <a:endParaRPr/>
          </a:p>
        </p:txBody>
      </p:sp>
      <p:sp>
        <p:nvSpPr>
          <p:cNvPr id="27" name="Text 25">
            <a:extLst>
              <a:ext uri="{FF2B5EF4-FFF2-40B4-BE49-F238E27FC236}">
                <a16:creationId xmlns:a16="http://schemas.microsoft.com/office/drawing/2014/main" id="{1E839E76-0723-4E97-92D6-AA1B56FF2E71}"/>
              </a:ext>
            </a:extLst>
          </p:cNvPr>
          <p:cNvSpPr>
            <a:spLocks noGrp="1"/>
          </p:cNvSpPr>
          <p:nvPr/>
        </p:nvSpPr>
        <p:spPr>
          <a:xfrm>
            <a:off x="8302752" y="2043684"/>
            <a:ext cx="438912" cy="228600"/>
          </a:xfrm>
          <a:prstGeom prst="rect">
            <a:avLst/>
          </a:prstGeom>
          <a:noFill/>
        </p:spPr>
        <p:txBody>
          <a:bodyPr wrap="square" lIns="0" tIns="0" rIns="0" bIns="0" anchor="ctr"/>
          <a:lstStyle/>
          <a:p>
            <a:pPr marL="0" indent="0" algn="ctr">
              <a:buNone/>
            </a:pPr>
            <a:r>
              <a:rPr sz="1550">
                <a:solidFill>
                  <a:srgbClr val="17B7D7"/>
                </a:solidFill>
              </a:rPr>
              <a:t>3</a:t>
            </a:r>
          </a:p>
        </p:txBody>
      </p:sp>
      <p:sp>
        <p:nvSpPr>
          <p:cNvPr id="28" name="Text 26">
            <a:extLst>
              <a:ext uri="{FF2B5EF4-FFF2-40B4-BE49-F238E27FC236}">
                <a16:creationId xmlns:a16="http://schemas.microsoft.com/office/drawing/2014/main" id="{39EAD97E-ACE2-4547-A6C7-EC305192AC81}"/>
              </a:ext>
            </a:extLst>
          </p:cNvPr>
          <p:cNvSpPr>
            <a:spLocks noGrp="1"/>
          </p:cNvSpPr>
          <p:nvPr/>
        </p:nvSpPr>
        <p:spPr>
          <a:xfrm>
            <a:off x="882396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Actualización</a:t>
            </a:r>
          </a:p>
        </p:txBody>
      </p:sp>
      <p:sp>
        <p:nvSpPr>
          <p:cNvPr id="29" name="Shape 27">
            <a:extLst>
              <a:ext uri="{FF2B5EF4-FFF2-40B4-BE49-F238E27FC236}">
                <a16:creationId xmlns:a16="http://schemas.microsoft.com/office/drawing/2014/main" id="{FCA73888-782F-4505-B3DD-DA63AA7D156F}"/>
              </a:ext>
            </a:extLst>
          </p:cNvPr>
          <p:cNvSpPr>
            <a:spLocks noGrp="1"/>
          </p:cNvSpPr>
          <p:nvPr/>
        </p:nvSpPr>
        <p:spPr>
          <a:xfrm>
            <a:off x="8823960" y="2313432"/>
            <a:ext cx="411480" cy="0"/>
          </a:xfrm>
          <a:prstGeom prst="line">
            <a:avLst/>
          </a:prstGeom>
          <a:noFill/>
          <a:ln w="22860">
            <a:solidFill>
              <a:srgbClr val="17B7D7"/>
            </a:solidFill>
            <a:prstDash val="solid"/>
          </a:ln>
        </p:spPr>
        <p:txBody>
          <a:bodyPr/>
          <a:lstStyle/>
          <a:p>
            <a:endParaRPr/>
          </a:p>
        </p:txBody>
      </p:sp>
      <p:sp>
        <p:nvSpPr>
          <p:cNvPr id="30" name="Text 28">
            <a:extLst>
              <a:ext uri="{FF2B5EF4-FFF2-40B4-BE49-F238E27FC236}">
                <a16:creationId xmlns:a16="http://schemas.microsoft.com/office/drawing/2014/main" id="{DD936180-33BC-4320-BA9F-81FA74FC0275}"/>
              </a:ext>
            </a:extLst>
          </p:cNvPr>
          <p:cNvSpPr>
            <a:spLocks noGrp="1"/>
          </p:cNvSpPr>
          <p:nvPr/>
        </p:nvSpPr>
        <p:spPr>
          <a:xfrm>
            <a:off x="833932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ANALYZE después de cambios significativos.</a:t>
            </a:r>
          </a:p>
        </p:txBody>
      </p:sp>
      <p:sp>
        <p:nvSpPr>
          <p:cNvPr id="31" name="Text 29">
            <a:extLst>
              <a:ext uri="{FF2B5EF4-FFF2-40B4-BE49-F238E27FC236}">
                <a16:creationId xmlns:a16="http://schemas.microsoft.com/office/drawing/2014/main" id="{5BD4C6CA-B995-4864-9406-0372256BA931}"/>
              </a:ext>
            </a:extLst>
          </p:cNvPr>
          <p:cNvSpPr>
            <a:spLocks noGrp="1"/>
          </p:cNvSpPr>
          <p:nvPr/>
        </p:nvSpPr>
        <p:spPr>
          <a:xfrm>
            <a:off x="914400" y="4800600"/>
            <a:ext cx="10332720" cy="411480"/>
          </a:xfrm>
          <a:prstGeom prst="rect">
            <a:avLst/>
          </a:prstGeom>
          <a:noFill/>
        </p:spPr>
        <p:txBody>
          <a:bodyPr wrap="square" anchor="ctr"/>
          <a:lstStyle/>
          <a:p>
            <a:pPr marL="0" indent="0" algn="ctr">
              <a:buNone/>
            </a:pPr>
            <a:r>
              <a:rPr sz="1800" b="1">
                <a:solidFill>
                  <a:srgbClr val="07245A"/>
                </a:solidFill>
              </a:rPr>
              <a:t>Una mala estimación puede producir un mal plan aun con buenos índices.</a:t>
            </a:r>
          </a:p>
        </p:txBody>
      </p:sp>
      <p:sp>
        <p:nvSpPr>
          <p:cNvPr id="32" name="Shape 30">
            <a:extLst>
              <a:ext uri="{FF2B5EF4-FFF2-40B4-BE49-F238E27FC236}">
                <a16:creationId xmlns:a16="http://schemas.microsoft.com/office/drawing/2014/main" id="{48DEFDF8-4233-43D1-ABC6-22926B0A171A}"/>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33" name="Text 31">
            <a:extLst>
              <a:ext uri="{FF2B5EF4-FFF2-40B4-BE49-F238E27FC236}">
                <a16:creationId xmlns:a16="http://schemas.microsoft.com/office/drawing/2014/main" id="{B6AAE201-650E-4F2F-8FFF-27F1A0DEDA4A}"/>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Tree>
    <p:extLst>
      <p:ext uri="{BB962C8B-B14F-4D97-AF65-F5344CB8AC3E}">
        <p14:creationId xmlns:p14="http://schemas.microsoft.com/office/powerpoint/2010/main" val="9683784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05CF088-86D1-4237-A8B6-86340931FA7C}"/>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847F890F-7C13-4F2A-84C6-BDC693CD35C7}"/>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7BB5CAB5-B296-4B90-B816-7720A845B7AF}"/>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93315444-6A06-4975-AAB4-F93BEAD99811}"/>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2FCAFC4E-8771-4726-B3C7-8BB4CF1BA10D}"/>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924EE4AA-ADBB-4B97-B2B8-D00FB2CB1693}"/>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7658BA90-9699-4AD7-B234-9BA2DF0BB11E}"/>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7F04B3A0-9ED9-4019-A5D3-4CE94D0DEC95}"/>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25</a:t>
            </a:r>
          </a:p>
        </p:txBody>
      </p:sp>
      <p:sp>
        <p:nvSpPr>
          <p:cNvPr id="10" name="Text 8">
            <a:extLst>
              <a:ext uri="{FF2B5EF4-FFF2-40B4-BE49-F238E27FC236}">
                <a16:creationId xmlns:a16="http://schemas.microsoft.com/office/drawing/2014/main" id="{BDFECAF7-7624-4B06-8A6D-78057E0F3E84}"/>
              </a:ext>
            </a:extLst>
          </p:cNvPr>
          <p:cNvSpPr>
            <a:spLocks noGrp="1"/>
          </p:cNvSpPr>
          <p:nvPr/>
        </p:nvSpPr>
        <p:spPr>
          <a:xfrm>
            <a:off x="658368" y="868680"/>
            <a:ext cx="10698480" cy="411480"/>
          </a:xfrm>
          <a:prstGeom prst="rect">
            <a:avLst/>
          </a:prstGeom>
          <a:noFill/>
        </p:spPr>
        <p:txBody>
          <a:bodyPr wrap="square" lIns="0" tIns="0" rIns="0" bIns="0" anchor="ctr">
            <a:normAutofit fontScale="88235" lnSpcReduction="20000"/>
          </a:bodyPr>
          <a:lstStyle/>
          <a:p>
            <a:pPr marL="0" indent="0">
              <a:buNone/>
            </a:pPr>
            <a:r>
              <a:rPr sz="3400" b="1">
                <a:solidFill>
                  <a:srgbClr val="07245A"/>
                </a:solidFill>
                <a:latin typeface="Aptos Display"/>
                <a:ea typeface="Aptos Display"/>
                <a:cs typeface="Aptos Display"/>
              </a:rPr>
              <a:t>Índices de cobertura</a:t>
            </a:r>
          </a:p>
        </p:txBody>
      </p:sp>
      <p:sp>
        <p:nvSpPr>
          <p:cNvPr id="11" name="Shape 9">
            <a:extLst>
              <a:ext uri="{FF2B5EF4-FFF2-40B4-BE49-F238E27FC236}">
                <a16:creationId xmlns:a16="http://schemas.microsoft.com/office/drawing/2014/main" id="{E235F766-8095-40E7-8FB7-7BAB365E9F39}"/>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DCA4F053-8464-4768-A38C-A17DBDE4DE3E}"/>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Menos lecturas a cambio de más estructura.</a:t>
            </a:r>
          </a:p>
        </p:txBody>
      </p:sp>
      <p:sp>
        <p:nvSpPr>
          <p:cNvPr id="13" name="Shape 11">
            <a:extLst>
              <a:ext uri="{FF2B5EF4-FFF2-40B4-BE49-F238E27FC236}">
                <a16:creationId xmlns:a16="http://schemas.microsoft.com/office/drawing/2014/main" id="{C63EEA6D-0E00-40F3-9341-1FF53F90E8CA}"/>
              </a:ext>
            </a:extLst>
          </p:cNvPr>
          <p:cNvSpPr>
            <a:spLocks noGrp="1"/>
          </p:cNvSpPr>
          <p:nvPr/>
        </p:nvSpPr>
        <p:spPr>
          <a:xfrm>
            <a:off x="91440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14" name="Shape 12">
            <a:extLst>
              <a:ext uri="{FF2B5EF4-FFF2-40B4-BE49-F238E27FC236}">
                <a16:creationId xmlns:a16="http://schemas.microsoft.com/office/drawing/2014/main" id="{27906FF5-28C3-4BCE-9230-D8D754E343A5}"/>
              </a:ext>
            </a:extLst>
          </p:cNvPr>
          <p:cNvSpPr>
            <a:spLocks noGrp="1"/>
          </p:cNvSpPr>
          <p:nvPr/>
        </p:nvSpPr>
        <p:spPr>
          <a:xfrm>
            <a:off x="1078992" y="1984248"/>
            <a:ext cx="438912" cy="438912"/>
          </a:xfrm>
          <a:prstGeom prst="ellipse">
            <a:avLst/>
          </a:prstGeom>
          <a:solidFill>
            <a:srgbClr val="EAF8FC"/>
          </a:solidFill>
          <a:ln w="10160">
            <a:solidFill>
              <a:srgbClr val="D5EEF7"/>
            </a:solidFill>
            <a:prstDash val="solid"/>
          </a:ln>
        </p:spPr>
        <p:txBody>
          <a:bodyPr/>
          <a:lstStyle/>
          <a:p>
            <a:endParaRPr/>
          </a:p>
        </p:txBody>
      </p:sp>
      <p:sp>
        <p:nvSpPr>
          <p:cNvPr id="15" name="Text 13">
            <a:extLst>
              <a:ext uri="{FF2B5EF4-FFF2-40B4-BE49-F238E27FC236}">
                <a16:creationId xmlns:a16="http://schemas.microsoft.com/office/drawing/2014/main" id="{8E110575-9924-4A24-8884-A28E9FB4DF15}"/>
              </a:ext>
            </a:extLst>
          </p:cNvPr>
          <p:cNvSpPr>
            <a:spLocks noGrp="1"/>
          </p:cNvSpPr>
          <p:nvPr/>
        </p:nvSpPr>
        <p:spPr>
          <a:xfrm>
            <a:off x="1078992" y="2043684"/>
            <a:ext cx="438912" cy="228600"/>
          </a:xfrm>
          <a:prstGeom prst="rect">
            <a:avLst/>
          </a:prstGeom>
          <a:noFill/>
        </p:spPr>
        <p:txBody>
          <a:bodyPr wrap="square" lIns="0" tIns="0" rIns="0" bIns="0" anchor="ctr"/>
          <a:lstStyle/>
          <a:p>
            <a:pPr marL="0" indent="0" algn="ctr">
              <a:buNone/>
            </a:pPr>
            <a:r>
              <a:rPr sz="1550">
                <a:solidFill>
                  <a:srgbClr val="17B7D7"/>
                </a:solidFill>
              </a:rPr>
              <a:t>1</a:t>
            </a:r>
          </a:p>
        </p:txBody>
      </p:sp>
      <p:sp>
        <p:nvSpPr>
          <p:cNvPr id="16" name="Text 14">
            <a:extLst>
              <a:ext uri="{FF2B5EF4-FFF2-40B4-BE49-F238E27FC236}">
                <a16:creationId xmlns:a16="http://schemas.microsoft.com/office/drawing/2014/main" id="{1F68C214-B521-4066-9D3A-42A47BEA2852}"/>
              </a:ext>
            </a:extLst>
          </p:cNvPr>
          <p:cNvSpPr>
            <a:spLocks noGrp="1"/>
          </p:cNvSpPr>
          <p:nvPr/>
        </p:nvSpPr>
        <p:spPr>
          <a:xfrm>
            <a:off x="160020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Cobertura</a:t>
            </a:r>
          </a:p>
        </p:txBody>
      </p:sp>
      <p:sp>
        <p:nvSpPr>
          <p:cNvPr id="17" name="Shape 15">
            <a:extLst>
              <a:ext uri="{FF2B5EF4-FFF2-40B4-BE49-F238E27FC236}">
                <a16:creationId xmlns:a16="http://schemas.microsoft.com/office/drawing/2014/main" id="{520B91C2-EF3C-4B81-A26F-17D73073C2AE}"/>
              </a:ext>
            </a:extLst>
          </p:cNvPr>
          <p:cNvSpPr>
            <a:spLocks noGrp="1"/>
          </p:cNvSpPr>
          <p:nvPr/>
        </p:nvSpPr>
        <p:spPr>
          <a:xfrm>
            <a:off x="1600200" y="2313432"/>
            <a:ext cx="411480" cy="0"/>
          </a:xfrm>
          <a:prstGeom prst="line">
            <a:avLst/>
          </a:prstGeom>
          <a:noFill/>
          <a:ln w="22860">
            <a:solidFill>
              <a:srgbClr val="17B7D7"/>
            </a:solidFill>
            <a:prstDash val="solid"/>
          </a:ln>
        </p:spPr>
        <p:txBody>
          <a:bodyPr/>
          <a:lstStyle/>
          <a:p>
            <a:endParaRPr/>
          </a:p>
        </p:txBody>
      </p:sp>
      <p:sp>
        <p:nvSpPr>
          <p:cNvPr id="18" name="Text 16">
            <a:extLst>
              <a:ext uri="{FF2B5EF4-FFF2-40B4-BE49-F238E27FC236}">
                <a16:creationId xmlns:a16="http://schemas.microsoft.com/office/drawing/2014/main" id="{B4396596-5CDA-4DBE-8878-C0F74DCD22B4}"/>
              </a:ext>
            </a:extLst>
          </p:cNvPr>
          <p:cNvSpPr>
            <a:spLocks noGrp="1"/>
          </p:cNvSpPr>
          <p:nvPr/>
        </p:nvSpPr>
        <p:spPr>
          <a:xfrm>
            <a:off x="111556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Incluye todas las columnas requeridas.</a:t>
            </a:r>
          </a:p>
        </p:txBody>
      </p:sp>
      <p:sp>
        <p:nvSpPr>
          <p:cNvPr id="19" name="Shape 17">
            <a:extLst>
              <a:ext uri="{FF2B5EF4-FFF2-40B4-BE49-F238E27FC236}">
                <a16:creationId xmlns:a16="http://schemas.microsoft.com/office/drawing/2014/main" id="{8147991A-6C9F-439E-B048-C7F909634508}"/>
              </a:ext>
            </a:extLst>
          </p:cNvPr>
          <p:cNvSpPr>
            <a:spLocks noGrp="1"/>
          </p:cNvSpPr>
          <p:nvPr/>
        </p:nvSpPr>
        <p:spPr>
          <a:xfrm>
            <a:off x="452628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0" name="Shape 18">
            <a:extLst>
              <a:ext uri="{FF2B5EF4-FFF2-40B4-BE49-F238E27FC236}">
                <a16:creationId xmlns:a16="http://schemas.microsoft.com/office/drawing/2014/main" id="{9EF733E9-A002-4C96-90E6-E896672B3CFD}"/>
              </a:ext>
            </a:extLst>
          </p:cNvPr>
          <p:cNvSpPr>
            <a:spLocks noGrp="1"/>
          </p:cNvSpPr>
          <p:nvPr/>
        </p:nvSpPr>
        <p:spPr>
          <a:xfrm>
            <a:off x="4690872" y="1984248"/>
            <a:ext cx="438912" cy="438912"/>
          </a:xfrm>
          <a:prstGeom prst="ellipse">
            <a:avLst/>
          </a:prstGeom>
          <a:solidFill>
            <a:srgbClr val="EAF8FC"/>
          </a:solidFill>
          <a:ln w="10160">
            <a:solidFill>
              <a:srgbClr val="D5EEF7"/>
            </a:solidFill>
            <a:prstDash val="solid"/>
          </a:ln>
        </p:spPr>
        <p:txBody>
          <a:bodyPr/>
          <a:lstStyle/>
          <a:p>
            <a:endParaRPr/>
          </a:p>
        </p:txBody>
      </p:sp>
      <p:sp>
        <p:nvSpPr>
          <p:cNvPr id="21" name="Text 19">
            <a:extLst>
              <a:ext uri="{FF2B5EF4-FFF2-40B4-BE49-F238E27FC236}">
                <a16:creationId xmlns:a16="http://schemas.microsoft.com/office/drawing/2014/main" id="{9D24A6A4-8B9E-4BFB-81F6-61A64001216C}"/>
              </a:ext>
            </a:extLst>
          </p:cNvPr>
          <p:cNvSpPr>
            <a:spLocks noGrp="1"/>
          </p:cNvSpPr>
          <p:nvPr/>
        </p:nvSpPr>
        <p:spPr>
          <a:xfrm>
            <a:off x="4690872" y="2043684"/>
            <a:ext cx="438912" cy="228600"/>
          </a:xfrm>
          <a:prstGeom prst="rect">
            <a:avLst/>
          </a:prstGeom>
          <a:noFill/>
        </p:spPr>
        <p:txBody>
          <a:bodyPr wrap="square" lIns="0" tIns="0" rIns="0" bIns="0" anchor="ctr"/>
          <a:lstStyle/>
          <a:p>
            <a:pPr marL="0" indent="0" algn="ctr">
              <a:buNone/>
            </a:pPr>
            <a:r>
              <a:rPr sz="1550">
                <a:solidFill>
                  <a:srgbClr val="17B7D7"/>
                </a:solidFill>
              </a:rPr>
              <a:t>2</a:t>
            </a:r>
          </a:p>
        </p:txBody>
      </p:sp>
      <p:sp>
        <p:nvSpPr>
          <p:cNvPr id="22" name="Text 20">
            <a:extLst>
              <a:ext uri="{FF2B5EF4-FFF2-40B4-BE49-F238E27FC236}">
                <a16:creationId xmlns:a16="http://schemas.microsoft.com/office/drawing/2014/main" id="{53B490FB-80F7-46A0-9B9C-886B1DD8EBF9}"/>
              </a:ext>
            </a:extLst>
          </p:cNvPr>
          <p:cNvSpPr>
            <a:spLocks noGrp="1"/>
          </p:cNvSpPr>
          <p:nvPr/>
        </p:nvSpPr>
        <p:spPr>
          <a:xfrm>
            <a:off x="521208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Beneficio</a:t>
            </a:r>
          </a:p>
        </p:txBody>
      </p:sp>
      <p:sp>
        <p:nvSpPr>
          <p:cNvPr id="23" name="Shape 21">
            <a:extLst>
              <a:ext uri="{FF2B5EF4-FFF2-40B4-BE49-F238E27FC236}">
                <a16:creationId xmlns:a16="http://schemas.microsoft.com/office/drawing/2014/main" id="{D3F3A3F9-DEBD-4625-95BC-DAAAB52868A2}"/>
              </a:ext>
            </a:extLst>
          </p:cNvPr>
          <p:cNvSpPr>
            <a:spLocks noGrp="1"/>
          </p:cNvSpPr>
          <p:nvPr/>
        </p:nvSpPr>
        <p:spPr>
          <a:xfrm>
            <a:off x="5212080" y="2313432"/>
            <a:ext cx="411480" cy="0"/>
          </a:xfrm>
          <a:prstGeom prst="line">
            <a:avLst/>
          </a:prstGeom>
          <a:noFill/>
          <a:ln w="22860">
            <a:solidFill>
              <a:srgbClr val="17B7D7"/>
            </a:solidFill>
            <a:prstDash val="solid"/>
          </a:ln>
        </p:spPr>
        <p:txBody>
          <a:bodyPr/>
          <a:lstStyle/>
          <a:p>
            <a:endParaRPr/>
          </a:p>
        </p:txBody>
      </p:sp>
      <p:sp>
        <p:nvSpPr>
          <p:cNvPr id="24" name="Text 22">
            <a:extLst>
              <a:ext uri="{FF2B5EF4-FFF2-40B4-BE49-F238E27FC236}">
                <a16:creationId xmlns:a16="http://schemas.microsoft.com/office/drawing/2014/main" id="{E9610762-B4D3-4DD8-9CCD-A0F730F6ECB5}"/>
              </a:ext>
            </a:extLst>
          </p:cNvPr>
          <p:cNvSpPr>
            <a:spLocks noGrp="1"/>
          </p:cNvSpPr>
          <p:nvPr/>
        </p:nvSpPr>
        <p:spPr>
          <a:xfrm>
            <a:off x="472744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Puede evitar el acceso a la tabla.</a:t>
            </a:r>
          </a:p>
        </p:txBody>
      </p:sp>
      <p:sp>
        <p:nvSpPr>
          <p:cNvPr id="25" name="Shape 23">
            <a:extLst>
              <a:ext uri="{FF2B5EF4-FFF2-40B4-BE49-F238E27FC236}">
                <a16:creationId xmlns:a16="http://schemas.microsoft.com/office/drawing/2014/main" id="{CCEF4718-176D-45F0-B2D4-BF2C7E320CBA}"/>
              </a:ext>
            </a:extLst>
          </p:cNvPr>
          <p:cNvSpPr>
            <a:spLocks noGrp="1"/>
          </p:cNvSpPr>
          <p:nvPr/>
        </p:nvSpPr>
        <p:spPr>
          <a:xfrm>
            <a:off x="813816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6" name="Shape 24">
            <a:extLst>
              <a:ext uri="{FF2B5EF4-FFF2-40B4-BE49-F238E27FC236}">
                <a16:creationId xmlns:a16="http://schemas.microsoft.com/office/drawing/2014/main" id="{8D44E5AE-8A67-4853-B244-F81052A007F4}"/>
              </a:ext>
            </a:extLst>
          </p:cNvPr>
          <p:cNvSpPr>
            <a:spLocks noGrp="1"/>
          </p:cNvSpPr>
          <p:nvPr/>
        </p:nvSpPr>
        <p:spPr>
          <a:xfrm>
            <a:off x="8302752" y="1984248"/>
            <a:ext cx="438912" cy="438912"/>
          </a:xfrm>
          <a:prstGeom prst="ellipse">
            <a:avLst/>
          </a:prstGeom>
          <a:solidFill>
            <a:srgbClr val="EAF8FC"/>
          </a:solidFill>
          <a:ln w="10160">
            <a:solidFill>
              <a:srgbClr val="D5EEF7"/>
            </a:solidFill>
            <a:prstDash val="solid"/>
          </a:ln>
        </p:spPr>
        <p:txBody>
          <a:bodyPr/>
          <a:lstStyle/>
          <a:p>
            <a:endParaRPr/>
          </a:p>
        </p:txBody>
      </p:sp>
      <p:sp>
        <p:nvSpPr>
          <p:cNvPr id="27" name="Text 25">
            <a:extLst>
              <a:ext uri="{FF2B5EF4-FFF2-40B4-BE49-F238E27FC236}">
                <a16:creationId xmlns:a16="http://schemas.microsoft.com/office/drawing/2014/main" id="{1E839E76-0723-4E97-92D6-AA1B56FF2E71}"/>
              </a:ext>
            </a:extLst>
          </p:cNvPr>
          <p:cNvSpPr>
            <a:spLocks noGrp="1"/>
          </p:cNvSpPr>
          <p:nvPr/>
        </p:nvSpPr>
        <p:spPr>
          <a:xfrm>
            <a:off x="8302752" y="2043684"/>
            <a:ext cx="438912" cy="228600"/>
          </a:xfrm>
          <a:prstGeom prst="rect">
            <a:avLst/>
          </a:prstGeom>
          <a:noFill/>
        </p:spPr>
        <p:txBody>
          <a:bodyPr wrap="square" lIns="0" tIns="0" rIns="0" bIns="0" anchor="ctr"/>
          <a:lstStyle/>
          <a:p>
            <a:pPr marL="0" indent="0" algn="ctr">
              <a:buNone/>
            </a:pPr>
            <a:r>
              <a:rPr sz="1550">
                <a:solidFill>
                  <a:srgbClr val="17B7D7"/>
                </a:solidFill>
              </a:rPr>
              <a:t>3</a:t>
            </a:r>
          </a:p>
        </p:txBody>
      </p:sp>
      <p:sp>
        <p:nvSpPr>
          <p:cNvPr id="28" name="Text 26">
            <a:extLst>
              <a:ext uri="{FF2B5EF4-FFF2-40B4-BE49-F238E27FC236}">
                <a16:creationId xmlns:a16="http://schemas.microsoft.com/office/drawing/2014/main" id="{39EAD97E-ACE2-4547-A6C7-EC305192AC81}"/>
              </a:ext>
            </a:extLst>
          </p:cNvPr>
          <p:cNvSpPr>
            <a:spLocks noGrp="1"/>
          </p:cNvSpPr>
          <p:nvPr/>
        </p:nvSpPr>
        <p:spPr>
          <a:xfrm>
            <a:off x="882396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Costo</a:t>
            </a:r>
          </a:p>
        </p:txBody>
      </p:sp>
      <p:sp>
        <p:nvSpPr>
          <p:cNvPr id="29" name="Shape 27">
            <a:extLst>
              <a:ext uri="{FF2B5EF4-FFF2-40B4-BE49-F238E27FC236}">
                <a16:creationId xmlns:a16="http://schemas.microsoft.com/office/drawing/2014/main" id="{FCA73888-782F-4505-B3DD-DA63AA7D156F}"/>
              </a:ext>
            </a:extLst>
          </p:cNvPr>
          <p:cNvSpPr>
            <a:spLocks noGrp="1"/>
          </p:cNvSpPr>
          <p:nvPr/>
        </p:nvSpPr>
        <p:spPr>
          <a:xfrm>
            <a:off x="8823960" y="2313432"/>
            <a:ext cx="411480" cy="0"/>
          </a:xfrm>
          <a:prstGeom prst="line">
            <a:avLst/>
          </a:prstGeom>
          <a:noFill/>
          <a:ln w="22860">
            <a:solidFill>
              <a:srgbClr val="17B7D7"/>
            </a:solidFill>
            <a:prstDash val="solid"/>
          </a:ln>
        </p:spPr>
        <p:txBody>
          <a:bodyPr/>
          <a:lstStyle/>
          <a:p>
            <a:endParaRPr/>
          </a:p>
        </p:txBody>
      </p:sp>
      <p:sp>
        <p:nvSpPr>
          <p:cNvPr id="30" name="Text 28">
            <a:extLst>
              <a:ext uri="{FF2B5EF4-FFF2-40B4-BE49-F238E27FC236}">
                <a16:creationId xmlns:a16="http://schemas.microsoft.com/office/drawing/2014/main" id="{DD936180-33BC-4320-BA9F-81FA74FC0275}"/>
              </a:ext>
            </a:extLst>
          </p:cNvPr>
          <p:cNvSpPr>
            <a:spLocks noGrp="1"/>
          </p:cNvSpPr>
          <p:nvPr/>
        </p:nvSpPr>
        <p:spPr>
          <a:xfrm>
            <a:off x="833932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Más espacio y mantenimiento.</a:t>
            </a:r>
          </a:p>
        </p:txBody>
      </p:sp>
      <p:sp>
        <p:nvSpPr>
          <p:cNvPr id="31" name="Text 29">
            <a:extLst>
              <a:ext uri="{FF2B5EF4-FFF2-40B4-BE49-F238E27FC236}">
                <a16:creationId xmlns:a16="http://schemas.microsoft.com/office/drawing/2014/main" id="{5BD4C6CA-B995-4864-9406-0372256BA931}"/>
              </a:ext>
            </a:extLst>
          </p:cNvPr>
          <p:cNvSpPr>
            <a:spLocks noGrp="1"/>
          </p:cNvSpPr>
          <p:nvPr/>
        </p:nvSpPr>
        <p:spPr>
          <a:xfrm>
            <a:off x="914400" y="4800600"/>
            <a:ext cx="10332720" cy="411480"/>
          </a:xfrm>
          <a:prstGeom prst="rect">
            <a:avLst/>
          </a:prstGeom>
          <a:noFill/>
        </p:spPr>
        <p:txBody>
          <a:bodyPr wrap="square" anchor="ctr"/>
          <a:lstStyle/>
          <a:p>
            <a:pPr marL="0" indent="0" algn="ctr">
              <a:buNone/>
            </a:pPr>
            <a:r>
              <a:rPr sz="1800" b="1">
                <a:solidFill>
                  <a:srgbClr val="07245A"/>
                </a:solidFill>
              </a:rPr>
              <a:t>Cubrir una consulta crítica debe justificarse con frecuencia y medición.</a:t>
            </a:r>
          </a:p>
        </p:txBody>
      </p:sp>
      <p:sp>
        <p:nvSpPr>
          <p:cNvPr id="32" name="Shape 30">
            <a:extLst>
              <a:ext uri="{FF2B5EF4-FFF2-40B4-BE49-F238E27FC236}">
                <a16:creationId xmlns:a16="http://schemas.microsoft.com/office/drawing/2014/main" id="{48DEFDF8-4233-43D1-ABC6-22926B0A171A}"/>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33" name="Text 31">
            <a:extLst>
              <a:ext uri="{FF2B5EF4-FFF2-40B4-BE49-F238E27FC236}">
                <a16:creationId xmlns:a16="http://schemas.microsoft.com/office/drawing/2014/main" id="{B6AAE201-650E-4F2F-8FFF-27F1A0DEDA4A}"/>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Tree>
    <p:extLst>
      <p:ext uri="{BB962C8B-B14F-4D97-AF65-F5344CB8AC3E}">
        <p14:creationId xmlns:p14="http://schemas.microsoft.com/office/powerpoint/2010/main" val="9683784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05CF088-86D1-4237-A8B6-86340931FA7C}"/>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847F890F-7C13-4F2A-84C6-BDC693CD35C7}"/>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7BB5CAB5-B296-4B90-B816-7720A845B7AF}"/>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93315444-6A06-4975-AAB4-F93BEAD99811}"/>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2FCAFC4E-8771-4726-B3C7-8BB4CF1BA10D}"/>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924EE4AA-ADBB-4B97-B2B8-D00FB2CB1693}"/>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7658BA90-9699-4AD7-B234-9BA2DF0BB11E}"/>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7F04B3A0-9ED9-4019-A5D3-4CE94D0DEC95}"/>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26</a:t>
            </a:r>
          </a:p>
        </p:txBody>
      </p:sp>
      <p:sp>
        <p:nvSpPr>
          <p:cNvPr id="10" name="Text 8">
            <a:extLst>
              <a:ext uri="{FF2B5EF4-FFF2-40B4-BE49-F238E27FC236}">
                <a16:creationId xmlns:a16="http://schemas.microsoft.com/office/drawing/2014/main" id="{BDFECAF7-7624-4B06-8A6D-78057E0F3E84}"/>
              </a:ext>
            </a:extLst>
          </p:cNvPr>
          <p:cNvSpPr>
            <a:spLocks noGrp="1"/>
          </p:cNvSpPr>
          <p:nvPr/>
        </p:nvSpPr>
        <p:spPr>
          <a:xfrm>
            <a:off x="658368" y="868680"/>
            <a:ext cx="10698480" cy="411480"/>
          </a:xfrm>
          <a:prstGeom prst="rect">
            <a:avLst/>
          </a:prstGeom>
          <a:noFill/>
        </p:spPr>
        <p:txBody>
          <a:bodyPr wrap="square" lIns="0" tIns="0" rIns="0" bIns="0" anchor="ctr">
            <a:normAutofit fontScale="88235" lnSpcReduction="20000"/>
          </a:bodyPr>
          <a:lstStyle/>
          <a:p>
            <a:pPr marL="0" indent="0">
              <a:buNone/>
            </a:pPr>
            <a:r>
              <a:rPr lang="es-AR" sz="3400" b="1" dirty="0">
                <a:solidFill>
                  <a:srgbClr val="07245A"/>
                </a:solidFill>
                <a:latin typeface="Aptos Display"/>
                <a:ea typeface="Aptos Display"/>
                <a:cs typeface="Aptos Display"/>
              </a:rPr>
              <a:t>Cierre Índices: </a:t>
            </a:r>
            <a:r>
              <a:rPr sz="3400" b="1" dirty="0">
                <a:solidFill>
                  <a:srgbClr val="07245A"/>
                </a:solidFill>
                <a:latin typeface="Aptos Display"/>
                <a:ea typeface="Aptos Display"/>
                <a:cs typeface="Aptos Display"/>
              </a:rPr>
              <a:t>El </a:t>
            </a:r>
            <a:r>
              <a:rPr sz="3400" b="1" dirty="0" err="1">
                <a:solidFill>
                  <a:srgbClr val="07245A"/>
                </a:solidFill>
                <a:latin typeface="Aptos Display"/>
                <a:ea typeface="Aptos Display"/>
                <a:cs typeface="Aptos Display"/>
              </a:rPr>
              <a:t>costo</a:t>
            </a:r>
            <a:r>
              <a:rPr sz="3400" b="1" dirty="0">
                <a:solidFill>
                  <a:srgbClr val="07245A"/>
                </a:solidFill>
                <a:latin typeface="Aptos Display"/>
                <a:ea typeface="Aptos Display"/>
                <a:cs typeface="Aptos Display"/>
              </a:rPr>
              <a:t> </a:t>
            </a:r>
            <a:r>
              <a:rPr sz="3400" b="1" dirty="0" err="1">
                <a:solidFill>
                  <a:srgbClr val="07245A"/>
                </a:solidFill>
                <a:latin typeface="Aptos Display"/>
                <a:ea typeface="Aptos Display"/>
                <a:cs typeface="Aptos Display"/>
              </a:rPr>
              <a:t>oculto</a:t>
            </a:r>
            <a:r>
              <a:rPr sz="3400" b="1" dirty="0">
                <a:solidFill>
                  <a:srgbClr val="07245A"/>
                </a:solidFill>
                <a:latin typeface="Aptos Display"/>
                <a:ea typeface="Aptos Display"/>
                <a:cs typeface="Aptos Display"/>
              </a:rPr>
              <a:t> de </a:t>
            </a:r>
            <a:r>
              <a:rPr sz="3400" b="1" dirty="0" err="1">
                <a:solidFill>
                  <a:srgbClr val="07245A"/>
                </a:solidFill>
                <a:latin typeface="Aptos Display"/>
                <a:ea typeface="Aptos Display"/>
                <a:cs typeface="Aptos Display"/>
              </a:rPr>
              <a:t>los</a:t>
            </a:r>
            <a:r>
              <a:rPr sz="3400" b="1" dirty="0">
                <a:solidFill>
                  <a:srgbClr val="07245A"/>
                </a:solidFill>
                <a:latin typeface="Aptos Display"/>
                <a:ea typeface="Aptos Display"/>
                <a:cs typeface="Aptos Display"/>
              </a:rPr>
              <a:t> </a:t>
            </a:r>
            <a:r>
              <a:rPr sz="3400" b="1" dirty="0" err="1">
                <a:solidFill>
                  <a:srgbClr val="07245A"/>
                </a:solidFill>
                <a:latin typeface="Aptos Display"/>
                <a:ea typeface="Aptos Display"/>
                <a:cs typeface="Aptos Display"/>
              </a:rPr>
              <a:t>índices</a:t>
            </a:r>
            <a:endParaRPr sz="3400" b="1" dirty="0">
              <a:solidFill>
                <a:srgbClr val="07245A"/>
              </a:solidFill>
              <a:latin typeface="Aptos Display"/>
              <a:ea typeface="Aptos Display"/>
              <a:cs typeface="Aptos Display"/>
            </a:endParaRPr>
          </a:p>
        </p:txBody>
      </p:sp>
      <p:sp>
        <p:nvSpPr>
          <p:cNvPr id="11" name="Shape 9">
            <a:extLst>
              <a:ext uri="{FF2B5EF4-FFF2-40B4-BE49-F238E27FC236}">
                <a16:creationId xmlns:a16="http://schemas.microsoft.com/office/drawing/2014/main" id="{E235F766-8095-40E7-8FB7-7BAB365E9F39}"/>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DCA4F053-8464-4768-A38C-A17DBDE4DE3E}"/>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Las escrituras mantienen cada estructura.</a:t>
            </a:r>
          </a:p>
        </p:txBody>
      </p:sp>
      <p:sp>
        <p:nvSpPr>
          <p:cNvPr id="13" name="Shape 11">
            <a:extLst>
              <a:ext uri="{FF2B5EF4-FFF2-40B4-BE49-F238E27FC236}">
                <a16:creationId xmlns:a16="http://schemas.microsoft.com/office/drawing/2014/main" id="{C63EEA6D-0E00-40F3-9341-1FF53F90E8CA}"/>
              </a:ext>
            </a:extLst>
          </p:cNvPr>
          <p:cNvSpPr>
            <a:spLocks noGrp="1"/>
          </p:cNvSpPr>
          <p:nvPr/>
        </p:nvSpPr>
        <p:spPr>
          <a:xfrm>
            <a:off x="91440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14" name="Shape 12">
            <a:extLst>
              <a:ext uri="{FF2B5EF4-FFF2-40B4-BE49-F238E27FC236}">
                <a16:creationId xmlns:a16="http://schemas.microsoft.com/office/drawing/2014/main" id="{27906FF5-28C3-4BCE-9230-D8D754E343A5}"/>
              </a:ext>
            </a:extLst>
          </p:cNvPr>
          <p:cNvSpPr>
            <a:spLocks noGrp="1"/>
          </p:cNvSpPr>
          <p:nvPr/>
        </p:nvSpPr>
        <p:spPr>
          <a:xfrm>
            <a:off x="1078992" y="1984248"/>
            <a:ext cx="438912" cy="438912"/>
          </a:xfrm>
          <a:prstGeom prst="ellipse">
            <a:avLst/>
          </a:prstGeom>
          <a:solidFill>
            <a:srgbClr val="EAF8FC"/>
          </a:solidFill>
          <a:ln w="10160">
            <a:solidFill>
              <a:srgbClr val="D5EEF7"/>
            </a:solidFill>
            <a:prstDash val="solid"/>
          </a:ln>
        </p:spPr>
        <p:txBody>
          <a:bodyPr/>
          <a:lstStyle/>
          <a:p>
            <a:endParaRPr/>
          </a:p>
        </p:txBody>
      </p:sp>
      <p:sp>
        <p:nvSpPr>
          <p:cNvPr id="15" name="Text 13">
            <a:extLst>
              <a:ext uri="{FF2B5EF4-FFF2-40B4-BE49-F238E27FC236}">
                <a16:creationId xmlns:a16="http://schemas.microsoft.com/office/drawing/2014/main" id="{8E110575-9924-4A24-8884-A28E9FB4DF15}"/>
              </a:ext>
            </a:extLst>
          </p:cNvPr>
          <p:cNvSpPr>
            <a:spLocks noGrp="1"/>
          </p:cNvSpPr>
          <p:nvPr/>
        </p:nvSpPr>
        <p:spPr>
          <a:xfrm>
            <a:off x="1078992" y="2043684"/>
            <a:ext cx="438912" cy="228600"/>
          </a:xfrm>
          <a:prstGeom prst="rect">
            <a:avLst/>
          </a:prstGeom>
          <a:noFill/>
        </p:spPr>
        <p:txBody>
          <a:bodyPr wrap="square" lIns="0" tIns="0" rIns="0" bIns="0" anchor="ctr"/>
          <a:lstStyle/>
          <a:p>
            <a:pPr marL="0" indent="0" algn="ctr">
              <a:buNone/>
            </a:pPr>
            <a:r>
              <a:rPr sz="1550">
                <a:solidFill>
                  <a:srgbClr val="17B7D7"/>
                </a:solidFill>
              </a:rPr>
              <a:t>1</a:t>
            </a:r>
          </a:p>
        </p:txBody>
      </p:sp>
      <p:sp>
        <p:nvSpPr>
          <p:cNvPr id="16" name="Text 14">
            <a:extLst>
              <a:ext uri="{FF2B5EF4-FFF2-40B4-BE49-F238E27FC236}">
                <a16:creationId xmlns:a16="http://schemas.microsoft.com/office/drawing/2014/main" id="{1F68C214-B521-4066-9D3A-42A47BEA2852}"/>
              </a:ext>
            </a:extLst>
          </p:cNvPr>
          <p:cNvSpPr>
            <a:spLocks noGrp="1"/>
          </p:cNvSpPr>
          <p:nvPr/>
        </p:nvSpPr>
        <p:spPr>
          <a:xfrm>
            <a:off x="160020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Espacio</a:t>
            </a:r>
          </a:p>
        </p:txBody>
      </p:sp>
      <p:sp>
        <p:nvSpPr>
          <p:cNvPr id="17" name="Shape 15">
            <a:extLst>
              <a:ext uri="{FF2B5EF4-FFF2-40B4-BE49-F238E27FC236}">
                <a16:creationId xmlns:a16="http://schemas.microsoft.com/office/drawing/2014/main" id="{520B91C2-EF3C-4B81-A26F-17D73073C2AE}"/>
              </a:ext>
            </a:extLst>
          </p:cNvPr>
          <p:cNvSpPr>
            <a:spLocks noGrp="1"/>
          </p:cNvSpPr>
          <p:nvPr/>
        </p:nvSpPr>
        <p:spPr>
          <a:xfrm>
            <a:off x="1600200" y="2313432"/>
            <a:ext cx="411480" cy="0"/>
          </a:xfrm>
          <a:prstGeom prst="line">
            <a:avLst/>
          </a:prstGeom>
          <a:noFill/>
          <a:ln w="22860">
            <a:solidFill>
              <a:srgbClr val="17B7D7"/>
            </a:solidFill>
            <a:prstDash val="solid"/>
          </a:ln>
        </p:spPr>
        <p:txBody>
          <a:bodyPr/>
          <a:lstStyle/>
          <a:p>
            <a:endParaRPr/>
          </a:p>
        </p:txBody>
      </p:sp>
      <p:sp>
        <p:nvSpPr>
          <p:cNvPr id="18" name="Text 16">
            <a:extLst>
              <a:ext uri="{FF2B5EF4-FFF2-40B4-BE49-F238E27FC236}">
                <a16:creationId xmlns:a16="http://schemas.microsoft.com/office/drawing/2014/main" id="{B4396596-5CDA-4DBE-8878-C0F74DCD22B4}"/>
              </a:ext>
            </a:extLst>
          </p:cNvPr>
          <p:cNvSpPr>
            <a:spLocks noGrp="1"/>
          </p:cNvSpPr>
          <p:nvPr/>
        </p:nvSpPr>
        <p:spPr>
          <a:xfrm>
            <a:off x="111556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Páginas adicionales y memoria.</a:t>
            </a:r>
          </a:p>
        </p:txBody>
      </p:sp>
      <p:sp>
        <p:nvSpPr>
          <p:cNvPr id="19" name="Shape 17">
            <a:extLst>
              <a:ext uri="{FF2B5EF4-FFF2-40B4-BE49-F238E27FC236}">
                <a16:creationId xmlns:a16="http://schemas.microsoft.com/office/drawing/2014/main" id="{8147991A-6C9F-439E-B048-C7F909634508}"/>
              </a:ext>
            </a:extLst>
          </p:cNvPr>
          <p:cNvSpPr>
            <a:spLocks noGrp="1"/>
          </p:cNvSpPr>
          <p:nvPr/>
        </p:nvSpPr>
        <p:spPr>
          <a:xfrm>
            <a:off x="452628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0" name="Shape 18">
            <a:extLst>
              <a:ext uri="{FF2B5EF4-FFF2-40B4-BE49-F238E27FC236}">
                <a16:creationId xmlns:a16="http://schemas.microsoft.com/office/drawing/2014/main" id="{9EF733E9-A002-4C96-90E6-E896672B3CFD}"/>
              </a:ext>
            </a:extLst>
          </p:cNvPr>
          <p:cNvSpPr>
            <a:spLocks noGrp="1"/>
          </p:cNvSpPr>
          <p:nvPr/>
        </p:nvSpPr>
        <p:spPr>
          <a:xfrm>
            <a:off x="4690872" y="1984248"/>
            <a:ext cx="438912" cy="438912"/>
          </a:xfrm>
          <a:prstGeom prst="ellipse">
            <a:avLst/>
          </a:prstGeom>
          <a:solidFill>
            <a:srgbClr val="EAF8FC"/>
          </a:solidFill>
          <a:ln w="10160">
            <a:solidFill>
              <a:srgbClr val="D5EEF7"/>
            </a:solidFill>
            <a:prstDash val="solid"/>
          </a:ln>
        </p:spPr>
        <p:txBody>
          <a:bodyPr/>
          <a:lstStyle/>
          <a:p>
            <a:endParaRPr/>
          </a:p>
        </p:txBody>
      </p:sp>
      <p:sp>
        <p:nvSpPr>
          <p:cNvPr id="21" name="Text 19">
            <a:extLst>
              <a:ext uri="{FF2B5EF4-FFF2-40B4-BE49-F238E27FC236}">
                <a16:creationId xmlns:a16="http://schemas.microsoft.com/office/drawing/2014/main" id="{9D24A6A4-8B9E-4BFB-81F6-61A64001216C}"/>
              </a:ext>
            </a:extLst>
          </p:cNvPr>
          <p:cNvSpPr>
            <a:spLocks noGrp="1"/>
          </p:cNvSpPr>
          <p:nvPr/>
        </p:nvSpPr>
        <p:spPr>
          <a:xfrm>
            <a:off x="4690872" y="2043684"/>
            <a:ext cx="438912" cy="228600"/>
          </a:xfrm>
          <a:prstGeom prst="rect">
            <a:avLst/>
          </a:prstGeom>
          <a:noFill/>
        </p:spPr>
        <p:txBody>
          <a:bodyPr wrap="square" lIns="0" tIns="0" rIns="0" bIns="0" anchor="ctr"/>
          <a:lstStyle/>
          <a:p>
            <a:pPr marL="0" indent="0" algn="ctr">
              <a:buNone/>
            </a:pPr>
            <a:r>
              <a:rPr sz="1550">
                <a:solidFill>
                  <a:srgbClr val="17B7D7"/>
                </a:solidFill>
              </a:rPr>
              <a:t>2</a:t>
            </a:r>
          </a:p>
        </p:txBody>
      </p:sp>
      <p:sp>
        <p:nvSpPr>
          <p:cNvPr id="22" name="Text 20">
            <a:extLst>
              <a:ext uri="{FF2B5EF4-FFF2-40B4-BE49-F238E27FC236}">
                <a16:creationId xmlns:a16="http://schemas.microsoft.com/office/drawing/2014/main" id="{53B490FB-80F7-46A0-9B9C-886B1DD8EBF9}"/>
              </a:ext>
            </a:extLst>
          </p:cNvPr>
          <p:cNvSpPr>
            <a:spLocks noGrp="1"/>
          </p:cNvSpPr>
          <p:nvPr/>
        </p:nvSpPr>
        <p:spPr>
          <a:xfrm>
            <a:off x="521208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Mantenimiento</a:t>
            </a:r>
          </a:p>
        </p:txBody>
      </p:sp>
      <p:sp>
        <p:nvSpPr>
          <p:cNvPr id="23" name="Shape 21">
            <a:extLst>
              <a:ext uri="{FF2B5EF4-FFF2-40B4-BE49-F238E27FC236}">
                <a16:creationId xmlns:a16="http://schemas.microsoft.com/office/drawing/2014/main" id="{D3F3A3F9-DEBD-4625-95BC-DAAAB52868A2}"/>
              </a:ext>
            </a:extLst>
          </p:cNvPr>
          <p:cNvSpPr>
            <a:spLocks noGrp="1"/>
          </p:cNvSpPr>
          <p:nvPr/>
        </p:nvSpPr>
        <p:spPr>
          <a:xfrm>
            <a:off x="5212080" y="2313432"/>
            <a:ext cx="411480" cy="0"/>
          </a:xfrm>
          <a:prstGeom prst="line">
            <a:avLst/>
          </a:prstGeom>
          <a:noFill/>
          <a:ln w="22860">
            <a:solidFill>
              <a:srgbClr val="17B7D7"/>
            </a:solidFill>
            <a:prstDash val="solid"/>
          </a:ln>
        </p:spPr>
        <p:txBody>
          <a:bodyPr/>
          <a:lstStyle/>
          <a:p>
            <a:endParaRPr/>
          </a:p>
        </p:txBody>
      </p:sp>
      <p:sp>
        <p:nvSpPr>
          <p:cNvPr id="24" name="Text 22">
            <a:extLst>
              <a:ext uri="{FF2B5EF4-FFF2-40B4-BE49-F238E27FC236}">
                <a16:creationId xmlns:a16="http://schemas.microsoft.com/office/drawing/2014/main" id="{E9610762-B4D3-4DD8-9CCD-A0F730F6ECB5}"/>
              </a:ext>
            </a:extLst>
          </p:cNvPr>
          <p:cNvSpPr>
            <a:spLocks noGrp="1"/>
          </p:cNvSpPr>
          <p:nvPr/>
        </p:nvSpPr>
        <p:spPr>
          <a:xfrm>
            <a:off x="472744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INSERT, DELETE y columnas modificadas.</a:t>
            </a:r>
          </a:p>
        </p:txBody>
      </p:sp>
      <p:sp>
        <p:nvSpPr>
          <p:cNvPr id="25" name="Shape 23">
            <a:extLst>
              <a:ext uri="{FF2B5EF4-FFF2-40B4-BE49-F238E27FC236}">
                <a16:creationId xmlns:a16="http://schemas.microsoft.com/office/drawing/2014/main" id="{CCEF4718-176D-45F0-B2D4-BF2C7E320CBA}"/>
              </a:ext>
            </a:extLst>
          </p:cNvPr>
          <p:cNvSpPr>
            <a:spLocks noGrp="1"/>
          </p:cNvSpPr>
          <p:nvPr/>
        </p:nvSpPr>
        <p:spPr>
          <a:xfrm>
            <a:off x="813816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6" name="Shape 24">
            <a:extLst>
              <a:ext uri="{FF2B5EF4-FFF2-40B4-BE49-F238E27FC236}">
                <a16:creationId xmlns:a16="http://schemas.microsoft.com/office/drawing/2014/main" id="{8D44E5AE-8A67-4853-B244-F81052A007F4}"/>
              </a:ext>
            </a:extLst>
          </p:cNvPr>
          <p:cNvSpPr>
            <a:spLocks noGrp="1"/>
          </p:cNvSpPr>
          <p:nvPr/>
        </p:nvSpPr>
        <p:spPr>
          <a:xfrm>
            <a:off x="8302752" y="1984248"/>
            <a:ext cx="438912" cy="438912"/>
          </a:xfrm>
          <a:prstGeom prst="ellipse">
            <a:avLst/>
          </a:prstGeom>
          <a:solidFill>
            <a:srgbClr val="EAF8FC"/>
          </a:solidFill>
          <a:ln w="10160">
            <a:solidFill>
              <a:srgbClr val="D5EEF7"/>
            </a:solidFill>
            <a:prstDash val="solid"/>
          </a:ln>
        </p:spPr>
        <p:txBody>
          <a:bodyPr/>
          <a:lstStyle/>
          <a:p>
            <a:endParaRPr/>
          </a:p>
        </p:txBody>
      </p:sp>
      <p:sp>
        <p:nvSpPr>
          <p:cNvPr id="27" name="Text 25">
            <a:extLst>
              <a:ext uri="{FF2B5EF4-FFF2-40B4-BE49-F238E27FC236}">
                <a16:creationId xmlns:a16="http://schemas.microsoft.com/office/drawing/2014/main" id="{1E839E76-0723-4E97-92D6-AA1B56FF2E71}"/>
              </a:ext>
            </a:extLst>
          </p:cNvPr>
          <p:cNvSpPr>
            <a:spLocks noGrp="1"/>
          </p:cNvSpPr>
          <p:nvPr/>
        </p:nvSpPr>
        <p:spPr>
          <a:xfrm>
            <a:off x="8302752" y="2043684"/>
            <a:ext cx="438912" cy="228600"/>
          </a:xfrm>
          <a:prstGeom prst="rect">
            <a:avLst/>
          </a:prstGeom>
          <a:noFill/>
        </p:spPr>
        <p:txBody>
          <a:bodyPr wrap="square" lIns="0" tIns="0" rIns="0" bIns="0" anchor="ctr"/>
          <a:lstStyle/>
          <a:p>
            <a:pPr marL="0" indent="0" algn="ctr">
              <a:buNone/>
            </a:pPr>
            <a:r>
              <a:rPr sz="1550">
                <a:solidFill>
                  <a:srgbClr val="17B7D7"/>
                </a:solidFill>
              </a:rPr>
              <a:t>3</a:t>
            </a:r>
          </a:p>
        </p:txBody>
      </p:sp>
      <p:sp>
        <p:nvSpPr>
          <p:cNvPr id="28" name="Text 26">
            <a:extLst>
              <a:ext uri="{FF2B5EF4-FFF2-40B4-BE49-F238E27FC236}">
                <a16:creationId xmlns:a16="http://schemas.microsoft.com/office/drawing/2014/main" id="{39EAD97E-ACE2-4547-A6C7-EC305192AC81}"/>
              </a:ext>
            </a:extLst>
          </p:cNvPr>
          <p:cNvSpPr>
            <a:spLocks noGrp="1"/>
          </p:cNvSpPr>
          <p:nvPr/>
        </p:nvSpPr>
        <p:spPr>
          <a:xfrm>
            <a:off x="882396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Decisión</a:t>
            </a:r>
          </a:p>
        </p:txBody>
      </p:sp>
      <p:sp>
        <p:nvSpPr>
          <p:cNvPr id="29" name="Shape 27">
            <a:extLst>
              <a:ext uri="{FF2B5EF4-FFF2-40B4-BE49-F238E27FC236}">
                <a16:creationId xmlns:a16="http://schemas.microsoft.com/office/drawing/2014/main" id="{FCA73888-782F-4505-B3DD-DA63AA7D156F}"/>
              </a:ext>
            </a:extLst>
          </p:cNvPr>
          <p:cNvSpPr>
            <a:spLocks noGrp="1"/>
          </p:cNvSpPr>
          <p:nvPr/>
        </p:nvSpPr>
        <p:spPr>
          <a:xfrm>
            <a:off x="8823960" y="2313432"/>
            <a:ext cx="411480" cy="0"/>
          </a:xfrm>
          <a:prstGeom prst="line">
            <a:avLst/>
          </a:prstGeom>
          <a:noFill/>
          <a:ln w="22860">
            <a:solidFill>
              <a:srgbClr val="17B7D7"/>
            </a:solidFill>
            <a:prstDash val="solid"/>
          </a:ln>
        </p:spPr>
        <p:txBody>
          <a:bodyPr/>
          <a:lstStyle/>
          <a:p>
            <a:endParaRPr/>
          </a:p>
        </p:txBody>
      </p:sp>
      <p:sp>
        <p:nvSpPr>
          <p:cNvPr id="30" name="Text 28">
            <a:extLst>
              <a:ext uri="{FF2B5EF4-FFF2-40B4-BE49-F238E27FC236}">
                <a16:creationId xmlns:a16="http://schemas.microsoft.com/office/drawing/2014/main" id="{DD936180-33BC-4320-BA9F-81FA74FC0275}"/>
              </a:ext>
            </a:extLst>
          </p:cNvPr>
          <p:cNvSpPr>
            <a:spLocks noGrp="1"/>
          </p:cNvSpPr>
          <p:nvPr/>
        </p:nvSpPr>
        <p:spPr>
          <a:xfrm>
            <a:off x="833932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Beneficio de lectura frente a costo total.</a:t>
            </a:r>
          </a:p>
        </p:txBody>
      </p:sp>
      <p:sp>
        <p:nvSpPr>
          <p:cNvPr id="31" name="Text 29">
            <a:extLst>
              <a:ext uri="{FF2B5EF4-FFF2-40B4-BE49-F238E27FC236}">
                <a16:creationId xmlns:a16="http://schemas.microsoft.com/office/drawing/2014/main" id="{5BD4C6CA-B995-4864-9406-0372256BA931}"/>
              </a:ext>
            </a:extLst>
          </p:cNvPr>
          <p:cNvSpPr>
            <a:spLocks noGrp="1"/>
          </p:cNvSpPr>
          <p:nvPr/>
        </p:nvSpPr>
        <p:spPr>
          <a:xfrm>
            <a:off x="914400" y="4800600"/>
            <a:ext cx="10332720" cy="411480"/>
          </a:xfrm>
          <a:prstGeom prst="rect">
            <a:avLst/>
          </a:prstGeom>
          <a:noFill/>
        </p:spPr>
        <p:txBody>
          <a:bodyPr wrap="square" anchor="ctr"/>
          <a:lstStyle/>
          <a:p>
            <a:pPr marL="0" indent="0" algn="ctr">
              <a:buNone/>
            </a:pPr>
            <a:r>
              <a:rPr sz="1800" b="1">
                <a:solidFill>
                  <a:srgbClr val="07245A"/>
                </a:solidFill>
              </a:rPr>
              <a:t>Antes de crear: qué mejora, cuánto se usa y qué operación encarece.</a:t>
            </a:r>
          </a:p>
        </p:txBody>
      </p:sp>
      <p:sp>
        <p:nvSpPr>
          <p:cNvPr id="32" name="Shape 30">
            <a:extLst>
              <a:ext uri="{FF2B5EF4-FFF2-40B4-BE49-F238E27FC236}">
                <a16:creationId xmlns:a16="http://schemas.microsoft.com/office/drawing/2014/main" id="{48DEFDF8-4233-43D1-ABC6-22926B0A171A}"/>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33" name="Text 31">
            <a:extLst>
              <a:ext uri="{FF2B5EF4-FFF2-40B4-BE49-F238E27FC236}">
                <a16:creationId xmlns:a16="http://schemas.microsoft.com/office/drawing/2014/main" id="{B6AAE201-650E-4F2F-8FFF-27F1A0DEDA4A}"/>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Tree>
    <p:extLst>
      <p:ext uri="{BB962C8B-B14F-4D97-AF65-F5344CB8AC3E}">
        <p14:creationId xmlns:p14="http://schemas.microsoft.com/office/powerpoint/2010/main" val="9683784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05CF088-86D1-4237-A8B6-86340931FA7C}"/>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847F890F-7C13-4F2A-84C6-BDC693CD35C7}"/>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7BB5CAB5-B296-4B90-B816-7720A845B7AF}"/>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93315444-6A06-4975-AAB4-F93BEAD99811}"/>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2FCAFC4E-8771-4726-B3C7-8BB4CF1BA10D}"/>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924EE4AA-ADBB-4B97-B2B8-D00FB2CB1693}"/>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7658BA90-9699-4AD7-B234-9BA2DF0BB11E}"/>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7F04B3A0-9ED9-4019-A5D3-4CE94D0DEC95}"/>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27</a:t>
            </a:r>
          </a:p>
        </p:txBody>
      </p:sp>
      <p:sp>
        <p:nvSpPr>
          <p:cNvPr id="10" name="Text 8">
            <a:extLst>
              <a:ext uri="{FF2B5EF4-FFF2-40B4-BE49-F238E27FC236}">
                <a16:creationId xmlns:a16="http://schemas.microsoft.com/office/drawing/2014/main" id="{BDFECAF7-7624-4B06-8A6D-78057E0F3E84}"/>
              </a:ext>
            </a:extLst>
          </p:cNvPr>
          <p:cNvSpPr>
            <a:spLocks noGrp="1"/>
          </p:cNvSpPr>
          <p:nvPr/>
        </p:nvSpPr>
        <p:spPr>
          <a:xfrm>
            <a:off x="658368" y="868680"/>
            <a:ext cx="10698480" cy="411480"/>
          </a:xfrm>
          <a:prstGeom prst="rect">
            <a:avLst/>
          </a:prstGeom>
          <a:noFill/>
        </p:spPr>
        <p:txBody>
          <a:bodyPr wrap="square" lIns="0" tIns="0" rIns="0" bIns="0" anchor="ctr">
            <a:normAutofit fontScale="91765" lnSpcReduction="20000"/>
          </a:bodyPr>
          <a:lstStyle/>
          <a:p>
            <a:pPr marL="0" indent="0">
              <a:buNone/>
            </a:pPr>
            <a:r>
              <a:rPr sz="3400" b="1">
                <a:solidFill>
                  <a:srgbClr val="07245A"/>
                </a:solidFill>
                <a:latin typeface="Aptos Display"/>
                <a:ea typeface="Aptos Display"/>
                <a:cs typeface="Aptos Display"/>
              </a:rPr>
              <a:t>El costo aparece bajo concurrencia</a:t>
            </a:r>
          </a:p>
        </p:txBody>
      </p:sp>
      <p:sp>
        <p:nvSpPr>
          <p:cNvPr id="11" name="Shape 9">
            <a:extLst>
              <a:ext uri="{FF2B5EF4-FFF2-40B4-BE49-F238E27FC236}">
                <a16:creationId xmlns:a16="http://schemas.microsoft.com/office/drawing/2014/main" id="{E235F766-8095-40E7-8FB7-7BAB365E9F39}"/>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DCA4F053-8464-4768-A38C-A17DBDE4DE3E}"/>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Una mejora aislada puede competir por recursos en producción.</a:t>
            </a:r>
          </a:p>
        </p:txBody>
      </p:sp>
      <p:sp>
        <p:nvSpPr>
          <p:cNvPr id="13" name="Shape 11">
            <a:extLst>
              <a:ext uri="{FF2B5EF4-FFF2-40B4-BE49-F238E27FC236}">
                <a16:creationId xmlns:a16="http://schemas.microsoft.com/office/drawing/2014/main" id="{C63EEA6D-0E00-40F3-9341-1FF53F90E8CA}"/>
              </a:ext>
            </a:extLst>
          </p:cNvPr>
          <p:cNvSpPr>
            <a:spLocks noGrp="1"/>
          </p:cNvSpPr>
          <p:nvPr/>
        </p:nvSpPr>
        <p:spPr>
          <a:xfrm>
            <a:off x="91440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14" name="Shape 12">
            <a:extLst>
              <a:ext uri="{FF2B5EF4-FFF2-40B4-BE49-F238E27FC236}">
                <a16:creationId xmlns:a16="http://schemas.microsoft.com/office/drawing/2014/main" id="{27906FF5-28C3-4BCE-9230-D8D754E343A5}"/>
              </a:ext>
            </a:extLst>
          </p:cNvPr>
          <p:cNvSpPr>
            <a:spLocks noGrp="1"/>
          </p:cNvSpPr>
          <p:nvPr/>
        </p:nvSpPr>
        <p:spPr>
          <a:xfrm>
            <a:off x="1078992" y="1984248"/>
            <a:ext cx="438912" cy="438912"/>
          </a:xfrm>
          <a:prstGeom prst="ellipse">
            <a:avLst/>
          </a:prstGeom>
          <a:solidFill>
            <a:srgbClr val="EAF8FC"/>
          </a:solidFill>
          <a:ln w="10160">
            <a:solidFill>
              <a:srgbClr val="D5EEF7"/>
            </a:solidFill>
            <a:prstDash val="solid"/>
          </a:ln>
        </p:spPr>
        <p:txBody>
          <a:bodyPr/>
          <a:lstStyle/>
          <a:p>
            <a:endParaRPr/>
          </a:p>
        </p:txBody>
      </p:sp>
      <p:sp>
        <p:nvSpPr>
          <p:cNvPr id="15" name="Text 13">
            <a:extLst>
              <a:ext uri="{FF2B5EF4-FFF2-40B4-BE49-F238E27FC236}">
                <a16:creationId xmlns:a16="http://schemas.microsoft.com/office/drawing/2014/main" id="{8E110575-9924-4A24-8884-A28E9FB4DF15}"/>
              </a:ext>
            </a:extLst>
          </p:cNvPr>
          <p:cNvSpPr>
            <a:spLocks noGrp="1"/>
          </p:cNvSpPr>
          <p:nvPr/>
        </p:nvSpPr>
        <p:spPr>
          <a:xfrm>
            <a:off x="1078992" y="2043684"/>
            <a:ext cx="438912" cy="228600"/>
          </a:xfrm>
          <a:prstGeom prst="rect">
            <a:avLst/>
          </a:prstGeom>
          <a:noFill/>
        </p:spPr>
        <p:txBody>
          <a:bodyPr wrap="square" lIns="0" tIns="0" rIns="0" bIns="0" anchor="ctr"/>
          <a:lstStyle/>
          <a:p>
            <a:pPr marL="0" indent="0" algn="ctr">
              <a:buNone/>
            </a:pPr>
            <a:r>
              <a:rPr sz="1550">
                <a:solidFill>
                  <a:srgbClr val="17B7D7"/>
                </a:solidFill>
              </a:rPr>
              <a:t>1</a:t>
            </a:r>
          </a:p>
        </p:txBody>
      </p:sp>
      <p:sp>
        <p:nvSpPr>
          <p:cNvPr id="16" name="Text 14">
            <a:extLst>
              <a:ext uri="{FF2B5EF4-FFF2-40B4-BE49-F238E27FC236}">
                <a16:creationId xmlns:a16="http://schemas.microsoft.com/office/drawing/2014/main" id="{1F68C214-B521-4066-9D3A-42A47BEA2852}"/>
              </a:ext>
            </a:extLst>
          </p:cNvPr>
          <p:cNvSpPr>
            <a:spLocks noGrp="1"/>
          </p:cNvSpPr>
          <p:nvPr/>
        </p:nvSpPr>
        <p:spPr>
          <a:xfrm>
            <a:off x="160020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Contención</a:t>
            </a:r>
          </a:p>
        </p:txBody>
      </p:sp>
      <p:sp>
        <p:nvSpPr>
          <p:cNvPr id="17" name="Shape 15">
            <a:extLst>
              <a:ext uri="{FF2B5EF4-FFF2-40B4-BE49-F238E27FC236}">
                <a16:creationId xmlns:a16="http://schemas.microsoft.com/office/drawing/2014/main" id="{520B91C2-EF3C-4B81-A26F-17D73073C2AE}"/>
              </a:ext>
            </a:extLst>
          </p:cNvPr>
          <p:cNvSpPr>
            <a:spLocks noGrp="1"/>
          </p:cNvSpPr>
          <p:nvPr/>
        </p:nvSpPr>
        <p:spPr>
          <a:xfrm>
            <a:off x="1600200" y="2313432"/>
            <a:ext cx="411480" cy="0"/>
          </a:xfrm>
          <a:prstGeom prst="line">
            <a:avLst/>
          </a:prstGeom>
          <a:noFill/>
          <a:ln w="22860">
            <a:solidFill>
              <a:srgbClr val="17B7D7"/>
            </a:solidFill>
            <a:prstDash val="solid"/>
          </a:ln>
        </p:spPr>
        <p:txBody>
          <a:bodyPr/>
          <a:lstStyle/>
          <a:p>
            <a:endParaRPr/>
          </a:p>
        </p:txBody>
      </p:sp>
      <p:sp>
        <p:nvSpPr>
          <p:cNvPr id="18" name="Text 16">
            <a:extLst>
              <a:ext uri="{FF2B5EF4-FFF2-40B4-BE49-F238E27FC236}">
                <a16:creationId xmlns:a16="http://schemas.microsoft.com/office/drawing/2014/main" id="{B4396596-5CDA-4DBE-8878-C0F74DCD22B4}"/>
              </a:ext>
            </a:extLst>
          </p:cNvPr>
          <p:cNvSpPr>
            <a:spLocks noGrp="1"/>
          </p:cNvSpPr>
          <p:nvPr/>
        </p:nvSpPr>
        <p:spPr>
          <a:xfrm>
            <a:off x="111556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Bloqueos y sesiones sobre datos calientes.</a:t>
            </a:r>
          </a:p>
        </p:txBody>
      </p:sp>
      <p:sp>
        <p:nvSpPr>
          <p:cNvPr id="19" name="Shape 17">
            <a:extLst>
              <a:ext uri="{FF2B5EF4-FFF2-40B4-BE49-F238E27FC236}">
                <a16:creationId xmlns:a16="http://schemas.microsoft.com/office/drawing/2014/main" id="{8147991A-6C9F-439E-B048-C7F909634508}"/>
              </a:ext>
            </a:extLst>
          </p:cNvPr>
          <p:cNvSpPr>
            <a:spLocks noGrp="1"/>
          </p:cNvSpPr>
          <p:nvPr/>
        </p:nvSpPr>
        <p:spPr>
          <a:xfrm>
            <a:off x="452628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0" name="Shape 18">
            <a:extLst>
              <a:ext uri="{FF2B5EF4-FFF2-40B4-BE49-F238E27FC236}">
                <a16:creationId xmlns:a16="http://schemas.microsoft.com/office/drawing/2014/main" id="{9EF733E9-A002-4C96-90E6-E896672B3CFD}"/>
              </a:ext>
            </a:extLst>
          </p:cNvPr>
          <p:cNvSpPr>
            <a:spLocks noGrp="1"/>
          </p:cNvSpPr>
          <p:nvPr/>
        </p:nvSpPr>
        <p:spPr>
          <a:xfrm>
            <a:off x="4690872" y="1984248"/>
            <a:ext cx="438912" cy="438912"/>
          </a:xfrm>
          <a:prstGeom prst="ellipse">
            <a:avLst/>
          </a:prstGeom>
          <a:solidFill>
            <a:srgbClr val="EAF8FC"/>
          </a:solidFill>
          <a:ln w="10160">
            <a:solidFill>
              <a:srgbClr val="D5EEF7"/>
            </a:solidFill>
            <a:prstDash val="solid"/>
          </a:ln>
        </p:spPr>
        <p:txBody>
          <a:bodyPr/>
          <a:lstStyle/>
          <a:p>
            <a:endParaRPr/>
          </a:p>
        </p:txBody>
      </p:sp>
      <p:sp>
        <p:nvSpPr>
          <p:cNvPr id="21" name="Text 19">
            <a:extLst>
              <a:ext uri="{FF2B5EF4-FFF2-40B4-BE49-F238E27FC236}">
                <a16:creationId xmlns:a16="http://schemas.microsoft.com/office/drawing/2014/main" id="{9D24A6A4-8B9E-4BFB-81F6-61A64001216C}"/>
              </a:ext>
            </a:extLst>
          </p:cNvPr>
          <p:cNvSpPr>
            <a:spLocks noGrp="1"/>
          </p:cNvSpPr>
          <p:nvPr/>
        </p:nvSpPr>
        <p:spPr>
          <a:xfrm>
            <a:off x="4690872" y="2043684"/>
            <a:ext cx="438912" cy="228600"/>
          </a:xfrm>
          <a:prstGeom prst="rect">
            <a:avLst/>
          </a:prstGeom>
          <a:noFill/>
        </p:spPr>
        <p:txBody>
          <a:bodyPr wrap="square" lIns="0" tIns="0" rIns="0" bIns="0" anchor="ctr"/>
          <a:lstStyle/>
          <a:p>
            <a:pPr marL="0" indent="0" algn="ctr">
              <a:buNone/>
            </a:pPr>
            <a:r>
              <a:rPr sz="1550">
                <a:solidFill>
                  <a:srgbClr val="17B7D7"/>
                </a:solidFill>
              </a:rPr>
              <a:t>2</a:t>
            </a:r>
          </a:p>
        </p:txBody>
      </p:sp>
      <p:sp>
        <p:nvSpPr>
          <p:cNvPr id="22" name="Text 20">
            <a:extLst>
              <a:ext uri="{FF2B5EF4-FFF2-40B4-BE49-F238E27FC236}">
                <a16:creationId xmlns:a16="http://schemas.microsoft.com/office/drawing/2014/main" id="{53B490FB-80F7-46A0-9B9C-886B1DD8EBF9}"/>
              </a:ext>
            </a:extLst>
          </p:cNvPr>
          <p:cNvSpPr>
            <a:spLocks noGrp="1"/>
          </p:cNvSpPr>
          <p:nvPr/>
        </p:nvSpPr>
        <p:spPr>
          <a:xfrm>
            <a:off x="521208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Registro</a:t>
            </a:r>
          </a:p>
        </p:txBody>
      </p:sp>
      <p:sp>
        <p:nvSpPr>
          <p:cNvPr id="23" name="Shape 21">
            <a:extLst>
              <a:ext uri="{FF2B5EF4-FFF2-40B4-BE49-F238E27FC236}">
                <a16:creationId xmlns:a16="http://schemas.microsoft.com/office/drawing/2014/main" id="{D3F3A3F9-DEBD-4625-95BC-DAAAB52868A2}"/>
              </a:ext>
            </a:extLst>
          </p:cNvPr>
          <p:cNvSpPr>
            <a:spLocks noGrp="1"/>
          </p:cNvSpPr>
          <p:nvPr/>
        </p:nvSpPr>
        <p:spPr>
          <a:xfrm>
            <a:off x="5212080" y="2313432"/>
            <a:ext cx="411480" cy="0"/>
          </a:xfrm>
          <a:prstGeom prst="line">
            <a:avLst/>
          </a:prstGeom>
          <a:noFill/>
          <a:ln w="22860">
            <a:solidFill>
              <a:srgbClr val="17B7D7"/>
            </a:solidFill>
            <a:prstDash val="solid"/>
          </a:ln>
        </p:spPr>
        <p:txBody>
          <a:bodyPr/>
          <a:lstStyle/>
          <a:p>
            <a:endParaRPr/>
          </a:p>
        </p:txBody>
      </p:sp>
      <p:sp>
        <p:nvSpPr>
          <p:cNvPr id="24" name="Text 22">
            <a:extLst>
              <a:ext uri="{FF2B5EF4-FFF2-40B4-BE49-F238E27FC236}">
                <a16:creationId xmlns:a16="http://schemas.microsoft.com/office/drawing/2014/main" id="{E9610762-B4D3-4DD8-9CCD-A0F730F6ECB5}"/>
              </a:ext>
            </a:extLst>
          </p:cNvPr>
          <p:cNvSpPr>
            <a:spLocks noGrp="1"/>
          </p:cNvSpPr>
          <p:nvPr/>
        </p:nvSpPr>
        <p:spPr>
          <a:xfrm>
            <a:off x="472744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Más estructuras implican más WAL/redo y caché.</a:t>
            </a:r>
          </a:p>
        </p:txBody>
      </p:sp>
      <p:sp>
        <p:nvSpPr>
          <p:cNvPr id="25" name="Shape 23">
            <a:extLst>
              <a:ext uri="{FF2B5EF4-FFF2-40B4-BE49-F238E27FC236}">
                <a16:creationId xmlns:a16="http://schemas.microsoft.com/office/drawing/2014/main" id="{CCEF4718-176D-45F0-B2D4-BF2C7E320CBA}"/>
              </a:ext>
            </a:extLst>
          </p:cNvPr>
          <p:cNvSpPr>
            <a:spLocks noGrp="1"/>
          </p:cNvSpPr>
          <p:nvPr/>
        </p:nvSpPr>
        <p:spPr>
          <a:xfrm>
            <a:off x="813816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6" name="Shape 24">
            <a:extLst>
              <a:ext uri="{FF2B5EF4-FFF2-40B4-BE49-F238E27FC236}">
                <a16:creationId xmlns:a16="http://schemas.microsoft.com/office/drawing/2014/main" id="{8D44E5AE-8A67-4853-B244-F81052A007F4}"/>
              </a:ext>
            </a:extLst>
          </p:cNvPr>
          <p:cNvSpPr>
            <a:spLocks noGrp="1"/>
          </p:cNvSpPr>
          <p:nvPr/>
        </p:nvSpPr>
        <p:spPr>
          <a:xfrm>
            <a:off x="8302752" y="1984248"/>
            <a:ext cx="438912" cy="438912"/>
          </a:xfrm>
          <a:prstGeom prst="ellipse">
            <a:avLst/>
          </a:prstGeom>
          <a:solidFill>
            <a:srgbClr val="EAF8FC"/>
          </a:solidFill>
          <a:ln w="10160">
            <a:solidFill>
              <a:srgbClr val="D5EEF7"/>
            </a:solidFill>
            <a:prstDash val="solid"/>
          </a:ln>
        </p:spPr>
        <p:txBody>
          <a:bodyPr/>
          <a:lstStyle/>
          <a:p>
            <a:endParaRPr/>
          </a:p>
        </p:txBody>
      </p:sp>
      <p:sp>
        <p:nvSpPr>
          <p:cNvPr id="27" name="Text 25">
            <a:extLst>
              <a:ext uri="{FF2B5EF4-FFF2-40B4-BE49-F238E27FC236}">
                <a16:creationId xmlns:a16="http://schemas.microsoft.com/office/drawing/2014/main" id="{1E839E76-0723-4E97-92D6-AA1B56FF2E71}"/>
              </a:ext>
            </a:extLst>
          </p:cNvPr>
          <p:cNvSpPr>
            <a:spLocks noGrp="1"/>
          </p:cNvSpPr>
          <p:nvPr/>
        </p:nvSpPr>
        <p:spPr>
          <a:xfrm>
            <a:off x="8302752" y="2043684"/>
            <a:ext cx="438912" cy="228600"/>
          </a:xfrm>
          <a:prstGeom prst="rect">
            <a:avLst/>
          </a:prstGeom>
          <a:noFill/>
        </p:spPr>
        <p:txBody>
          <a:bodyPr wrap="square" lIns="0" tIns="0" rIns="0" bIns="0" anchor="ctr"/>
          <a:lstStyle/>
          <a:p>
            <a:pPr marL="0" indent="0" algn="ctr">
              <a:buNone/>
            </a:pPr>
            <a:r>
              <a:rPr sz="1550">
                <a:solidFill>
                  <a:srgbClr val="17B7D7"/>
                </a:solidFill>
              </a:rPr>
              <a:t>3</a:t>
            </a:r>
          </a:p>
        </p:txBody>
      </p:sp>
      <p:sp>
        <p:nvSpPr>
          <p:cNvPr id="28" name="Text 26">
            <a:extLst>
              <a:ext uri="{FF2B5EF4-FFF2-40B4-BE49-F238E27FC236}">
                <a16:creationId xmlns:a16="http://schemas.microsoft.com/office/drawing/2014/main" id="{39EAD97E-ACE2-4547-A6C7-EC305192AC81}"/>
              </a:ext>
            </a:extLst>
          </p:cNvPr>
          <p:cNvSpPr>
            <a:spLocks noGrp="1"/>
          </p:cNvSpPr>
          <p:nvPr/>
        </p:nvSpPr>
        <p:spPr>
          <a:xfrm>
            <a:off x="882396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Hot spots</a:t>
            </a:r>
          </a:p>
        </p:txBody>
      </p:sp>
      <p:sp>
        <p:nvSpPr>
          <p:cNvPr id="29" name="Shape 27">
            <a:extLst>
              <a:ext uri="{FF2B5EF4-FFF2-40B4-BE49-F238E27FC236}">
                <a16:creationId xmlns:a16="http://schemas.microsoft.com/office/drawing/2014/main" id="{FCA73888-782F-4505-B3DD-DA63AA7D156F}"/>
              </a:ext>
            </a:extLst>
          </p:cNvPr>
          <p:cNvSpPr>
            <a:spLocks noGrp="1"/>
          </p:cNvSpPr>
          <p:nvPr/>
        </p:nvSpPr>
        <p:spPr>
          <a:xfrm>
            <a:off x="8823960" y="2313432"/>
            <a:ext cx="411480" cy="0"/>
          </a:xfrm>
          <a:prstGeom prst="line">
            <a:avLst/>
          </a:prstGeom>
          <a:noFill/>
          <a:ln w="22860">
            <a:solidFill>
              <a:srgbClr val="17B7D7"/>
            </a:solidFill>
            <a:prstDash val="solid"/>
          </a:ln>
        </p:spPr>
        <p:txBody>
          <a:bodyPr/>
          <a:lstStyle/>
          <a:p>
            <a:endParaRPr/>
          </a:p>
        </p:txBody>
      </p:sp>
      <p:sp>
        <p:nvSpPr>
          <p:cNvPr id="30" name="Text 28">
            <a:extLst>
              <a:ext uri="{FF2B5EF4-FFF2-40B4-BE49-F238E27FC236}">
                <a16:creationId xmlns:a16="http://schemas.microsoft.com/office/drawing/2014/main" id="{DD936180-33BC-4320-BA9F-81FA74FC0275}"/>
              </a:ext>
            </a:extLst>
          </p:cNvPr>
          <p:cNvSpPr>
            <a:spLocks noGrp="1"/>
          </p:cNvSpPr>
          <p:nvPr/>
        </p:nvSpPr>
        <p:spPr>
          <a:xfrm>
            <a:off x="833932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Claves y escrituras concentradas amplifican espera.</a:t>
            </a:r>
          </a:p>
        </p:txBody>
      </p:sp>
      <p:sp>
        <p:nvSpPr>
          <p:cNvPr id="31" name="Text 29">
            <a:extLst>
              <a:ext uri="{FF2B5EF4-FFF2-40B4-BE49-F238E27FC236}">
                <a16:creationId xmlns:a16="http://schemas.microsoft.com/office/drawing/2014/main" id="{5BD4C6CA-B995-4864-9406-0372256BA931}"/>
              </a:ext>
            </a:extLst>
          </p:cNvPr>
          <p:cNvSpPr>
            <a:spLocks noGrp="1"/>
          </p:cNvSpPr>
          <p:nvPr/>
        </p:nvSpPr>
        <p:spPr>
          <a:xfrm>
            <a:off x="914400" y="4800600"/>
            <a:ext cx="10332720" cy="411480"/>
          </a:xfrm>
          <a:prstGeom prst="rect">
            <a:avLst/>
          </a:prstGeom>
          <a:noFill/>
        </p:spPr>
        <p:txBody>
          <a:bodyPr wrap="square" anchor="ctr"/>
          <a:lstStyle/>
          <a:p>
            <a:pPr marL="0" indent="0" algn="ctr">
              <a:buNone/>
            </a:pPr>
            <a:r>
              <a:rPr sz="1800" b="1">
                <a:solidFill>
                  <a:srgbClr val="07245A"/>
                </a:solidFill>
              </a:rPr>
              <a:t>Medir una sesión no reemplaza probar la carga concurrente.</a:t>
            </a:r>
          </a:p>
        </p:txBody>
      </p:sp>
      <p:sp>
        <p:nvSpPr>
          <p:cNvPr id="32" name="Shape 30">
            <a:extLst>
              <a:ext uri="{FF2B5EF4-FFF2-40B4-BE49-F238E27FC236}">
                <a16:creationId xmlns:a16="http://schemas.microsoft.com/office/drawing/2014/main" id="{48DEFDF8-4233-43D1-ABC6-22926B0A171A}"/>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33" name="Text 31">
            <a:extLst>
              <a:ext uri="{FF2B5EF4-FFF2-40B4-BE49-F238E27FC236}">
                <a16:creationId xmlns:a16="http://schemas.microsoft.com/office/drawing/2014/main" id="{B6AAE201-650E-4F2F-8FFF-27F1A0DEDA4A}"/>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Tree>
    <p:extLst>
      <p:ext uri="{BB962C8B-B14F-4D97-AF65-F5344CB8AC3E}">
        <p14:creationId xmlns:p14="http://schemas.microsoft.com/office/powerpoint/2010/main" val="9683784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05CF088-86D1-4237-A8B6-86340931FA7C}"/>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847F890F-7C13-4F2A-84C6-BDC693CD35C7}"/>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7BB5CAB5-B296-4B90-B816-7720A845B7AF}"/>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93315444-6A06-4975-AAB4-F93BEAD99811}"/>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2FCAFC4E-8771-4726-B3C7-8BB4CF1BA10D}"/>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924EE4AA-ADBB-4B97-B2B8-D00FB2CB1693}"/>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7658BA90-9699-4AD7-B234-9BA2DF0BB11E}"/>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7F04B3A0-9ED9-4019-A5D3-4CE94D0DEC95}"/>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28</a:t>
            </a:r>
          </a:p>
        </p:txBody>
      </p:sp>
      <p:sp>
        <p:nvSpPr>
          <p:cNvPr id="10" name="Text 8">
            <a:extLst>
              <a:ext uri="{FF2B5EF4-FFF2-40B4-BE49-F238E27FC236}">
                <a16:creationId xmlns:a16="http://schemas.microsoft.com/office/drawing/2014/main" id="{BDFECAF7-7624-4B06-8A6D-78057E0F3E84}"/>
              </a:ext>
            </a:extLst>
          </p:cNvPr>
          <p:cNvSpPr>
            <a:spLocks noGrp="1"/>
          </p:cNvSpPr>
          <p:nvPr/>
        </p:nvSpPr>
        <p:spPr>
          <a:xfrm>
            <a:off x="658368" y="868680"/>
            <a:ext cx="10698480" cy="411480"/>
          </a:xfrm>
          <a:prstGeom prst="rect">
            <a:avLst/>
          </a:prstGeom>
          <a:noFill/>
        </p:spPr>
        <p:txBody>
          <a:bodyPr wrap="square" lIns="0" tIns="0" rIns="0" bIns="0" anchor="ctr">
            <a:normAutofit fontScale="80735" lnSpcReduction="10000"/>
          </a:bodyPr>
          <a:lstStyle/>
          <a:p>
            <a:pPr marL="0" indent="0">
              <a:buNone/>
            </a:pPr>
            <a:r>
              <a:rPr lang="es-AR" sz="3400" b="1" dirty="0">
                <a:solidFill>
                  <a:srgbClr val="07245A"/>
                </a:solidFill>
                <a:latin typeface="Aptos Display"/>
                <a:ea typeface="Aptos Display"/>
                <a:cs typeface="Aptos Display"/>
              </a:rPr>
              <a:t>El otro recurso popular (o no tanto</a:t>
            </a:r>
            <a:r>
              <a:rPr lang="es-AR" sz="3400" b="1">
                <a:solidFill>
                  <a:srgbClr val="07245A"/>
                </a:solidFill>
                <a:latin typeface="Aptos Display"/>
                <a:ea typeface="Aptos Display"/>
                <a:cs typeface="Aptos Display"/>
              </a:rPr>
              <a:t>) Particionamiento (Divide y reinaras) </a:t>
            </a:r>
            <a:endParaRPr sz="3400" b="1" dirty="0">
              <a:solidFill>
                <a:srgbClr val="07245A"/>
              </a:solidFill>
              <a:latin typeface="Aptos Display"/>
              <a:ea typeface="Aptos Display"/>
              <a:cs typeface="Aptos Display"/>
            </a:endParaRPr>
          </a:p>
        </p:txBody>
      </p:sp>
      <p:sp>
        <p:nvSpPr>
          <p:cNvPr id="11" name="Shape 9">
            <a:extLst>
              <a:ext uri="{FF2B5EF4-FFF2-40B4-BE49-F238E27FC236}">
                <a16:creationId xmlns:a16="http://schemas.microsoft.com/office/drawing/2014/main" id="{E235F766-8095-40E7-8FB7-7BAB365E9F39}"/>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DCA4F053-8464-4768-A38C-A17DBDE4DE3E}"/>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Dividir una tabla según una clave y regla.</a:t>
            </a:r>
          </a:p>
        </p:txBody>
      </p:sp>
      <p:sp>
        <p:nvSpPr>
          <p:cNvPr id="13" name="Shape 11">
            <a:extLst>
              <a:ext uri="{FF2B5EF4-FFF2-40B4-BE49-F238E27FC236}">
                <a16:creationId xmlns:a16="http://schemas.microsoft.com/office/drawing/2014/main" id="{C63EEA6D-0E00-40F3-9341-1FF53F90E8CA}"/>
              </a:ext>
            </a:extLst>
          </p:cNvPr>
          <p:cNvSpPr>
            <a:spLocks noGrp="1"/>
          </p:cNvSpPr>
          <p:nvPr/>
        </p:nvSpPr>
        <p:spPr>
          <a:xfrm>
            <a:off x="91440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14" name="Shape 12">
            <a:extLst>
              <a:ext uri="{FF2B5EF4-FFF2-40B4-BE49-F238E27FC236}">
                <a16:creationId xmlns:a16="http://schemas.microsoft.com/office/drawing/2014/main" id="{27906FF5-28C3-4BCE-9230-D8D754E343A5}"/>
              </a:ext>
            </a:extLst>
          </p:cNvPr>
          <p:cNvSpPr>
            <a:spLocks noGrp="1"/>
          </p:cNvSpPr>
          <p:nvPr/>
        </p:nvSpPr>
        <p:spPr>
          <a:xfrm>
            <a:off x="1078992" y="1984248"/>
            <a:ext cx="438912" cy="438912"/>
          </a:xfrm>
          <a:prstGeom prst="ellipse">
            <a:avLst/>
          </a:prstGeom>
          <a:solidFill>
            <a:srgbClr val="EAF8FC"/>
          </a:solidFill>
          <a:ln w="10160">
            <a:solidFill>
              <a:srgbClr val="D5EEF7"/>
            </a:solidFill>
            <a:prstDash val="solid"/>
          </a:ln>
        </p:spPr>
        <p:txBody>
          <a:bodyPr/>
          <a:lstStyle/>
          <a:p>
            <a:endParaRPr/>
          </a:p>
        </p:txBody>
      </p:sp>
      <p:sp>
        <p:nvSpPr>
          <p:cNvPr id="15" name="Text 13">
            <a:extLst>
              <a:ext uri="{FF2B5EF4-FFF2-40B4-BE49-F238E27FC236}">
                <a16:creationId xmlns:a16="http://schemas.microsoft.com/office/drawing/2014/main" id="{8E110575-9924-4A24-8884-A28E9FB4DF15}"/>
              </a:ext>
            </a:extLst>
          </p:cNvPr>
          <p:cNvSpPr>
            <a:spLocks noGrp="1"/>
          </p:cNvSpPr>
          <p:nvPr/>
        </p:nvSpPr>
        <p:spPr>
          <a:xfrm>
            <a:off x="1078992" y="2043684"/>
            <a:ext cx="438912" cy="228600"/>
          </a:xfrm>
          <a:prstGeom prst="rect">
            <a:avLst/>
          </a:prstGeom>
          <a:noFill/>
        </p:spPr>
        <p:txBody>
          <a:bodyPr wrap="square" lIns="0" tIns="0" rIns="0" bIns="0" anchor="ctr"/>
          <a:lstStyle/>
          <a:p>
            <a:pPr marL="0" indent="0" algn="ctr">
              <a:buNone/>
            </a:pPr>
            <a:r>
              <a:rPr sz="1550">
                <a:solidFill>
                  <a:srgbClr val="17B7D7"/>
                </a:solidFill>
              </a:rPr>
              <a:t>1</a:t>
            </a:r>
          </a:p>
        </p:txBody>
      </p:sp>
      <p:sp>
        <p:nvSpPr>
          <p:cNvPr id="16" name="Text 14">
            <a:extLst>
              <a:ext uri="{FF2B5EF4-FFF2-40B4-BE49-F238E27FC236}">
                <a16:creationId xmlns:a16="http://schemas.microsoft.com/office/drawing/2014/main" id="{1F68C214-B521-4066-9D3A-42A47BEA2852}"/>
              </a:ext>
            </a:extLst>
          </p:cNvPr>
          <p:cNvSpPr>
            <a:spLocks noGrp="1"/>
          </p:cNvSpPr>
          <p:nvPr/>
        </p:nvSpPr>
        <p:spPr>
          <a:xfrm>
            <a:off x="160020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Acceso</a:t>
            </a:r>
          </a:p>
        </p:txBody>
      </p:sp>
      <p:sp>
        <p:nvSpPr>
          <p:cNvPr id="17" name="Shape 15">
            <a:extLst>
              <a:ext uri="{FF2B5EF4-FFF2-40B4-BE49-F238E27FC236}">
                <a16:creationId xmlns:a16="http://schemas.microsoft.com/office/drawing/2014/main" id="{520B91C2-EF3C-4B81-A26F-17D73073C2AE}"/>
              </a:ext>
            </a:extLst>
          </p:cNvPr>
          <p:cNvSpPr>
            <a:spLocks noGrp="1"/>
          </p:cNvSpPr>
          <p:nvPr/>
        </p:nvSpPr>
        <p:spPr>
          <a:xfrm>
            <a:off x="1600200" y="2313432"/>
            <a:ext cx="411480" cy="0"/>
          </a:xfrm>
          <a:prstGeom prst="line">
            <a:avLst/>
          </a:prstGeom>
          <a:noFill/>
          <a:ln w="22860">
            <a:solidFill>
              <a:srgbClr val="17B7D7"/>
            </a:solidFill>
            <a:prstDash val="solid"/>
          </a:ln>
        </p:spPr>
        <p:txBody>
          <a:bodyPr/>
          <a:lstStyle/>
          <a:p>
            <a:endParaRPr/>
          </a:p>
        </p:txBody>
      </p:sp>
      <p:sp>
        <p:nvSpPr>
          <p:cNvPr id="18" name="Text 16">
            <a:extLst>
              <a:ext uri="{FF2B5EF4-FFF2-40B4-BE49-F238E27FC236}">
                <a16:creationId xmlns:a16="http://schemas.microsoft.com/office/drawing/2014/main" id="{B4396596-5CDA-4DBE-8878-C0F74DCD22B4}"/>
              </a:ext>
            </a:extLst>
          </p:cNvPr>
          <p:cNvSpPr>
            <a:spLocks noGrp="1"/>
          </p:cNvSpPr>
          <p:nvPr/>
        </p:nvSpPr>
        <p:spPr>
          <a:xfrm>
            <a:off x="111556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Partition pruning descarta particiones antes de buscar filas.</a:t>
            </a:r>
          </a:p>
        </p:txBody>
      </p:sp>
      <p:sp>
        <p:nvSpPr>
          <p:cNvPr id="19" name="Shape 17">
            <a:extLst>
              <a:ext uri="{FF2B5EF4-FFF2-40B4-BE49-F238E27FC236}">
                <a16:creationId xmlns:a16="http://schemas.microsoft.com/office/drawing/2014/main" id="{8147991A-6C9F-439E-B048-C7F909634508}"/>
              </a:ext>
            </a:extLst>
          </p:cNvPr>
          <p:cNvSpPr>
            <a:spLocks noGrp="1"/>
          </p:cNvSpPr>
          <p:nvPr/>
        </p:nvSpPr>
        <p:spPr>
          <a:xfrm>
            <a:off x="452628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0" name="Shape 18">
            <a:extLst>
              <a:ext uri="{FF2B5EF4-FFF2-40B4-BE49-F238E27FC236}">
                <a16:creationId xmlns:a16="http://schemas.microsoft.com/office/drawing/2014/main" id="{9EF733E9-A002-4C96-90E6-E896672B3CFD}"/>
              </a:ext>
            </a:extLst>
          </p:cNvPr>
          <p:cNvSpPr>
            <a:spLocks noGrp="1"/>
          </p:cNvSpPr>
          <p:nvPr/>
        </p:nvSpPr>
        <p:spPr>
          <a:xfrm>
            <a:off x="4690872" y="1984248"/>
            <a:ext cx="438912" cy="438912"/>
          </a:xfrm>
          <a:prstGeom prst="ellipse">
            <a:avLst/>
          </a:prstGeom>
          <a:solidFill>
            <a:srgbClr val="EAF8FC"/>
          </a:solidFill>
          <a:ln w="10160">
            <a:solidFill>
              <a:srgbClr val="D5EEF7"/>
            </a:solidFill>
            <a:prstDash val="solid"/>
          </a:ln>
        </p:spPr>
        <p:txBody>
          <a:bodyPr/>
          <a:lstStyle/>
          <a:p>
            <a:endParaRPr/>
          </a:p>
        </p:txBody>
      </p:sp>
      <p:sp>
        <p:nvSpPr>
          <p:cNvPr id="21" name="Text 19">
            <a:extLst>
              <a:ext uri="{FF2B5EF4-FFF2-40B4-BE49-F238E27FC236}">
                <a16:creationId xmlns:a16="http://schemas.microsoft.com/office/drawing/2014/main" id="{9D24A6A4-8B9E-4BFB-81F6-61A64001216C}"/>
              </a:ext>
            </a:extLst>
          </p:cNvPr>
          <p:cNvSpPr>
            <a:spLocks noGrp="1"/>
          </p:cNvSpPr>
          <p:nvPr/>
        </p:nvSpPr>
        <p:spPr>
          <a:xfrm>
            <a:off x="4690872" y="2043684"/>
            <a:ext cx="438912" cy="228600"/>
          </a:xfrm>
          <a:prstGeom prst="rect">
            <a:avLst/>
          </a:prstGeom>
          <a:noFill/>
        </p:spPr>
        <p:txBody>
          <a:bodyPr wrap="square" lIns="0" tIns="0" rIns="0" bIns="0" anchor="ctr"/>
          <a:lstStyle/>
          <a:p>
            <a:pPr marL="0" indent="0" algn="ctr">
              <a:buNone/>
            </a:pPr>
            <a:r>
              <a:rPr sz="1550">
                <a:solidFill>
                  <a:srgbClr val="17B7D7"/>
                </a:solidFill>
              </a:rPr>
              <a:t>2</a:t>
            </a:r>
          </a:p>
        </p:txBody>
      </p:sp>
      <p:sp>
        <p:nvSpPr>
          <p:cNvPr id="22" name="Text 20">
            <a:extLst>
              <a:ext uri="{FF2B5EF4-FFF2-40B4-BE49-F238E27FC236}">
                <a16:creationId xmlns:a16="http://schemas.microsoft.com/office/drawing/2014/main" id="{53B490FB-80F7-46A0-9B9C-886B1DD8EBF9}"/>
              </a:ext>
            </a:extLst>
          </p:cNvPr>
          <p:cNvSpPr>
            <a:spLocks noGrp="1"/>
          </p:cNvSpPr>
          <p:nvPr/>
        </p:nvSpPr>
        <p:spPr>
          <a:xfrm>
            <a:off x="521208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Operación</a:t>
            </a:r>
          </a:p>
        </p:txBody>
      </p:sp>
      <p:sp>
        <p:nvSpPr>
          <p:cNvPr id="23" name="Shape 21">
            <a:extLst>
              <a:ext uri="{FF2B5EF4-FFF2-40B4-BE49-F238E27FC236}">
                <a16:creationId xmlns:a16="http://schemas.microsoft.com/office/drawing/2014/main" id="{D3F3A3F9-DEBD-4625-95BC-DAAAB52868A2}"/>
              </a:ext>
            </a:extLst>
          </p:cNvPr>
          <p:cNvSpPr>
            <a:spLocks noGrp="1"/>
          </p:cNvSpPr>
          <p:nvPr/>
        </p:nvSpPr>
        <p:spPr>
          <a:xfrm>
            <a:off x="5212080" y="2313432"/>
            <a:ext cx="411480" cy="0"/>
          </a:xfrm>
          <a:prstGeom prst="line">
            <a:avLst/>
          </a:prstGeom>
          <a:noFill/>
          <a:ln w="22860">
            <a:solidFill>
              <a:srgbClr val="17B7D7"/>
            </a:solidFill>
            <a:prstDash val="solid"/>
          </a:ln>
        </p:spPr>
        <p:txBody>
          <a:bodyPr/>
          <a:lstStyle/>
          <a:p>
            <a:endParaRPr/>
          </a:p>
        </p:txBody>
      </p:sp>
      <p:sp>
        <p:nvSpPr>
          <p:cNvPr id="24" name="Text 22">
            <a:extLst>
              <a:ext uri="{FF2B5EF4-FFF2-40B4-BE49-F238E27FC236}">
                <a16:creationId xmlns:a16="http://schemas.microsoft.com/office/drawing/2014/main" id="{E9610762-B4D3-4DD8-9CCD-A0F730F6ECB5}"/>
              </a:ext>
            </a:extLst>
          </p:cNvPr>
          <p:cNvSpPr>
            <a:spLocks noGrp="1"/>
          </p:cNvSpPr>
          <p:nvPr/>
        </p:nvSpPr>
        <p:spPr>
          <a:xfrm>
            <a:off x="472744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Permite retirar períodos completos sin borrar fila por fila.</a:t>
            </a:r>
          </a:p>
        </p:txBody>
      </p:sp>
      <p:sp>
        <p:nvSpPr>
          <p:cNvPr id="25" name="Shape 23">
            <a:extLst>
              <a:ext uri="{FF2B5EF4-FFF2-40B4-BE49-F238E27FC236}">
                <a16:creationId xmlns:a16="http://schemas.microsoft.com/office/drawing/2014/main" id="{CCEF4718-176D-45F0-B2D4-BF2C7E320CBA}"/>
              </a:ext>
            </a:extLst>
          </p:cNvPr>
          <p:cNvSpPr>
            <a:spLocks noGrp="1"/>
          </p:cNvSpPr>
          <p:nvPr/>
        </p:nvSpPr>
        <p:spPr>
          <a:xfrm>
            <a:off x="813816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6" name="Shape 24">
            <a:extLst>
              <a:ext uri="{FF2B5EF4-FFF2-40B4-BE49-F238E27FC236}">
                <a16:creationId xmlns:a16="http://schemas.microsoft.com/office/drawing/2014/main" id="{8D44E5AE-8A67-4853-B244-F81052A007F4}"/>
              </a:ext>
            </a:extLst>
          </p:cNvPr>
          <p:cNvSpPr>
            <a:spLocks noGrp="1"/>
          </p:cNvSpPr>
          <p:nvPr/>
        </p:nvSpPr>
        <p:spPr>
          <a:xfrm>
            <a:off x="8302752" y="1984248"/>
            <a:ext cx="438912" cy="438912"/>
          </a:xfrm>
          <a:prstGeom prst="ellipse">
            <a:avLst/>
          </a:prstGeom>
          <a:solidFill>
            <a:srgbClr val="EAF8FC"/>
          </a:solidFill>
          <a:ln w="10160">
            <a:solidFill>
              <a:srgbClr val="D5EEF7"/>
            </a:solidFill>
            <a:prstDash val="solid"/>
          </a:ln>
        </p:spPr>
        <p:txBody>
          <a:bodyPr/>
          <a:lstStyle/>
          <a:p>
            <a:endParaRPr/>
          </a:p>
        </p:txBody>
      </p:sp>
      <p:sp>
        <p:nvSpPr>
          <p:cNvPr id="27" name="Text 25">
            <a:extLst>
              <a:ext uri="{FF2B5EF4-FFF2-40B4-BE49-F238E27FC236}">
                <a16:creationId xmlns:a16="http://schemas.microsoft.com/office/drawing/2014/main" id="{1E839E76-0723-4E97-92D6-AA1B56FF2E71}"/>
              </a:ext>
            </a:extLst>
          </p:cNvPr>
          <p:cNvSpPr>
            <a:spLocks noGrp="1"/>
          </p:cNvSpPr>
          <p:nvPr/>
        </p:nvSpPr>
        <p:spPr>
          <a:xfrm>
            <a:off x="8302752" y="2043684"/>
            <a:ext cx="438912" cy="228600"/>
          </a:xfrm>
          <a:prstGeom prst="rect">
            <a:avLst/>
          </a:prstGeom>
          <a:noFill/>
        </p:spPr>
        <p:txBody>
          <a:bodyPr wrap="square" lIns="0" tIns="0" rIns="0" bIns="0" anchor="ctr"/>
          <a:lstStyle/>
          <a:p>
            <a:pPr marL="0" indent="0" algn="ctr">
              <a:buNone/>
            </a:pPr>
            <a:r>
              <a:rPr sz="1550">
                <a:solidFill>
                  <a:srgbClr val="17B7D7"/>
                </a:solidFill>
              </a:rPr>
              <a:t>3</a:t>
            </a:r>
          </a:p>
        </p:txBody>
      </p:sp>
      <p:sp>
        <p:nvSpPr>
          <p:cNvPr id="28" name="Text 26">
            <a:extLst>
              <a:ext uri="{FF2B5EF4-FFF2-40B4-BE49-F238E27FC236}">
                <a16:creationId xmlns:a16="http://schemas.microsoft.com/office/drawing/2014/main" id="{39EAD97E-ACE2-4547-A6C7-EC305192AC81}"/>
              </a:ext>
            </a:extLst>
          </p:cNvPr>
          <p:cNvSpPr>
            <a:spLocks noGrp="1"/>
          </p:cNvSpPr>
          <p:nvPr/>
        </p:nvSpPr>
        <p:spPr>
          <a:xfrm>
            <a:off x="882396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Límite</a:t>
            </a:r>
          </a:p>
        </p:txBody>
      </p:sp>
      <p:sp>
        <p:nvSpPr>
          <p:cNvPr id="29" name="Shape 27">
            <a:extLst>
              <a:ext uri="{FF2B5EF4-FFF2-40B4-BE49-F238E27FC236}">
                <a16:creationId xmlns:a16="http://schemas.microsoft.com/office/drawing/2014/main" id="{FCA73888-782F-4505-B3DD-DA63AA7D156F}"/>
              </a:ext>
            </a:extLst>
          </p:cNvPr>
          <p:cNvSpPr>
            <a:spLocks noGrp="1"/>
          </p:cNvSpPr>
          <p:nvPr/>
        </p:nvSpPr>
        <p:spPr>
          <a:xfrm>
            <a:off x="8823960" y="2313432"/>
            <a:ext cx="411480" cy="0"/>
          </a:xfrm>
          <a:prstGeom prst="line">
            <a:avLst/>
          </a:prstGeom>
          <a:noFill/>
          <a:ln w="22860">
            <a:solidFill>
              <a:srgbClr val="17B7D7"/>
            </a:solidFill>
            <a:prstDash val="solid"/>
          </a:ln>
        </p:spPr>
        <p:txBody>
          <a:bodyPr/>
          <a:lstStyle/>
          <a:p>
            <a:endParaRPr/>
          </a:p>
        </p:txBody>
      </p:sp>
      <p:sp>
        <p:nvSpPr>
          <p:cNvPr id="30" name="Text 28">
            <a:extLst>
              <a:ext uri="{FF2B5EF4-FFF2-40B4-BE49-F238E27FC236}">
                <a16:creationId xmlns:a16="http://schemas.microsoft.com/office/drawing/2014/main" id="{DD936180-33BC-4320-BA9F-81FA74FC0275}"/>
              </a:ext>
            </a:extLst>
          </p:cNvPr>
          <p:cNvSpPr>
            <a:spLocks noGrp="1"/>
          </p:cNvSpPr>
          <p:nvPr/>
        </p:nvSpPr>
        <p:spPr>
          <a:xfrm>
            <a:off x="833932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No reemplaza el índice necesario dentro del histórico.</a:t>
            </a:r>
          </a:p>
        </p:txBody>
      </p:sp>
      <p:sp>
        <p:nvSpPr>
          <p:cNvPr id="31" name="Text 29">
            <a:extLst>
              <a:ext uri="{FF2B5EF4-FFF2-40B4-BE49-F238E27FC236}">
                <a16:creationId xmlns:a16="http://schemas.microsoft.com/office/drawing/2014/main" id="{5BD4C6CA-B995-4864-9406-0372256BA931}"/>
              </a:ext>
            </a:extLst>
          </p:cNvPr>
          <p:cNvSpPr>
            <a:spLocks noGrp="1"/>
          </p:cNvSpPr>
          <p:nvPr/>
        </p:nvSpPr>
        <p:spPr>
          <a:xfrm>
            <a:off x="914400" y="4800600"/>
            <a:ext cx="10332720" cy="411480"/>
          </a:xfrm>
          <a:prstGeom prst="rect">
            <a:avLst/>
          </a:prstGeom>
          <a:noFill/>
        </p:spPr>
        <p:txBody>
          <a:bodyPr wrap="square" anchor="ctr"/>
          <a:lstStyle/>
          <a:p>
            <a:pPr marL="0" indent="0" algn="ctr">
              <a:buNone/>
            </a:pPr>
            <a:r>
              <a:rPr sz="1800" b="1">
                <a:solidFill>
                  <a:srgbClr val="07245A"/>
                </a:solidFill>
              </a:rPr>
              <a:t>Particionar reduce lo recorrido; indexar localiza filas dentro de lo conservado.</a:t>
            </a:r>
          </a:p>
        </p:txBody>
      </p:sp>
      <p:sp>
        <p:nvSpPr>
          <p:cNvPr id="32" name="Shape 30">
            <a:extLst>
              <a:ext uri="{FF2B5EF4-FFF2-40B4-BE49-F238E27FC236}">
                <a16:creationId xmlns:a16="http://schemas.microsoft.com/office/drawing/2014/main" id="{48DEFDF8-4233-43D1-ABC6-22926B0A171A}"/>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33" name="Text 31">
            <a:extLst>
              <a:ext uri="{FF2B5EF4-FFF2-40B4-BE49-F238E27FC236}">
                <a16:creationId xmlns:a16="http://schemas.microsoft.com/office/drawing/2014/main" id="{B6AAE201-650E-4F2F-8FFF-27F1A0DEDA4A}"/>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Tree>
    <p:extLst>
      <p:ext uri="{BB962C8B-B14F-4D97-AF65-F5344CB8AC3E}">
        <p14:creationId xmlns:p14="http://schemas.microsoft.com/office/powerpoint/2010/main" val="9683784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05CF088-86D1-4237-A8B6-86340931FA7C}"/>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847F890F-7C13-4F2A-84C6-BDC693CD35C7}"/>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7BB5CAB5-B296-4B90-B816-7720A845B7AF}"/>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93315444-6A06-4975-AAB4-F93BEAD99811}"/>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2FCAFC4E-8771-4726-B3C7-8BB4CF1BA10D}"/>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924EE4AA-ADBB-4B97-B2B8-D00FB2CB1693}"/>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7658BA90-9699-4AD7-B234-9BA2DF0BB11E}"/>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7F04B3A0-9ED9-4019-A5D3-4CE94D0DEC95}"/>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29</a:t>
            </a:r>
          </a:p>
        </p:txBody>
      </p:sp>
      <p:sp>
        <p:nvSpPr>
          <p:cNvPr id="10" name="Text 8">
            <a:extLst>
              <a:ext uri="{FF2B5EF4-FFF2-40B4-BE49-F238E27FC236}">
                <a16:creationId xmlns:a16="http://schemas.microsoft.com/office/drawing/2014/main" id="{BDFECAF7-7624-4B06-8A6D-78057E0F3E84}"/>
              </a:ext>
            </a:extLst>
          </p:cNvPr>
          <p:cNvSpPr>
            <a:spLocks noGrp="1"/>
          </p:cNvSpPr>
          <p:nvPr/>
        </p:nvSpPr>
        <p:spPr>
          <a:xfrm>
            <a:off x="658368" y="868680"/>
            <a:ext cx="10698480" cy="411480"/>
          </a:xfrm>
          <a:prstGeom prst="rect">
            <a:avLst/>
          </a:prstGeom>
          <a:noFill/>
        </p:spPr>
        <p:txBody>
          <a:bodyPr wrap="square" lIns="0" tIns="0" rIns="0" bIns="0" anchor="ctr">
            <a:normAutofit fontScale="88235" lnSpcReduction="20000"/>
          </a:bodyPr>
          <a:lstStyle/>
          <a:p>
            <a:pPr marL="0" indent="0">
              <a:buNone/>
            </a:pPr>
            <a:r>
              <a:rPr sz="3400" b="1">
                <a:solidFill>
                  <a:srgbClr val="07245A"/>
                </a:solidFill>
                <a:latin typeface="Aptos Display"/>
                <a:ea typeface="Aptos Display"/>
                <a:cs typeface="Aptos Display"/>
              </a:rPr>
              <a:t>Estrategias de particionamiento</a:t>
            </a:r>
          </a:p>
        </p:txBody>
      </p:sp>
      <p:sp>
        <p:nvSpPr>
          <p:cNvPr id="11" name="Shape 9">
            <a:extLst>
              <a:ext uri="{FF2B5EF4-FFF2-40B4-BE49-F238E27FC236}">
                <a16:creationId xmlns:a16="http://schemas.microsoft.com/office/drawing/2014/main" id="{E235F766-8095-40E7-8FB7-7BAB365E9F39}"/>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DCA4F053-8464-4768-A38C-A17DBDE4DE3E}"/>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La regla debe responder al caso.</a:t>
            </a:r>
          </a:p>
        </p:txBody>
      </p:sp>
      <p:sp>
        <p:nvSpPr>
          <p:cNvPr id="13" name="Shape 11">
            <a:extLst>
              <a:ext uri="{FF2B5EF4-FFF2-40B4-BE49-F238E27FC236}">
                <a16:creationId xmlns:a16="http://schemas.microsoft.com/office/drawing/2014/main" id="{C63EEA6D-0E00-40F3-9341-1FF53F90E8CA}"/>
              </a:ext>
            </a:extLst>
          </p:cNvPr>
          <p:cNvSpPr>
            <a:spLocks noGrp="1"/>
          </p:cNvSpPr>
          <p:nvPr/>
        </p:nvSpPr>
        <p:spPr>
          <a:xfrm>
            <a:off x="91440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14" name="Shape 12">
            <a:extLst>
              <a:ext uri="{FF2B5EF4-FFF2-40B4-BE49-F238E27FC236}">
                <a16:creationId xmlns:a16="http://schemas.microsoft.com/office/drawing/2014/main" id="{27906FF5-28C3-4BCE-9230-D8D754E343A5}"/>
              </a:ext>
            </a:extLst>
          </p:cNvPr>
          <p:cNvSpPr>
            <a:spLocks noGrp="1"/>
          </p:cNvSpPr>
          <p:nvPr/>
        </p:nvSpPr>
        <p:spPr>
          <a:xfrm>
            <a:off x="1078992" y="1984248"/>
            <a:ext cx="438912" cy="438912"/>
          </a:xfrm>
          <a:prstGeom prst="ellipse">
            <a:avLst/>
          </a:prstGeom>
          <a:solidFill>
            <a:srgbClr val="EAF8FC"/>
          </a:solidFill>
          <a:ln w="10160">
            <a:solidFill>
              <a:srgbClr val="D5EEF7"/>
            </a:solidFill>
            <a:prstDash val="solid"/>
          </a:ln>
        </p:spPr>
        <p:txBody>
          <a:bodyPr/>
          <a:lstStyle/>
          <a:p>
            <a:endParaRPr/>
          </a:p>
        </p:txBody>
      </p:sp>
      <p:sp>
        <p:nvSpPr>
          <p:cNvPr id="15" name="Text 13">
            <a:extLst>
              <a:ext uri="{FF2B5EF4-FFF2-40B4-BE49-F238E27FC236}">
                <a16:creationId xmlns:a16="http://schemas.microsoft.com/office/drawing/2014/main" id="{8E110575-9924-4A24-8884-A28E9FB4DF15}"/>
              </a:ext>
            </a:extLst>
          </p:cNvPr>
          <p:cNvSpPr>
            <a:spLocks noGrp="1"/>
          </p:cNvSpPr>
          <p:nvPr/>
        </p:nvSpPr>
        <p:spPr>
          <a:xfrm>
            <a:off x="1078992" y="2043684"/>
            <a:ext cx="438912" cy="228600"/>
          </a:xfrm>
          <a:prstGeom prst="rect">
            <a:avLst/>
          </a:prstGeom>
          <a:noFill/>
        </p:spPr>
        <p:txBody>
          <a:bodyPr wrap="square" lIns="0" tIns="0" rIns="0" bIns="0" anchor="ctr"/>
          <a:lstStyle/>
          <a:p>
            <a:pPr marL="0" indent="0" algn="ctr">
              <a:buNone/>
            </a:pPr>
            <a:r>
              <a:rPr sz="1550">
                <a:solidFill>
                  <a:srgbClr val="17B7D7"/>
                </a:solidFill>
              </a:rPr>
              <a:t>1</a:t>
            </a:r>
          </a:p>
        </p:txBody>
      </p:sp>
      <p:sp>
        <p:nvSpPr>
          <p:cNvPr id="16" name="Text 14">
            <a:extLst>
              <a:ext uri="{FF2B5EF4-FFF2-40B4-BE49-F238E27FC236}">
                <a16:creationId xmlns:a16="http://schemas.microsoft.com/office/drawing/2014/main" id="{1F68C214-B521-4066-9D3A-42A47BEA2852}"/>
              </a:ext>
            </a:extLst>
          </p:cNvPr>
          <p:cNvSpPr>
            <a:spLocks noGrp="1"/>
          </p:cNvSpPr>
          <p:nvPr/>
        </p:nvSpPr>
        <p:spPr>
          <a:xfrm>
            <a:off x="160020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Rango</a:t>
            </a:r>
          </a:p>
        </p:txBody>
      </p:sp>
      <p:sp>
        <p:nvSpPr>
          <p:cNvPr id="17" name="Shape 15">
            <a:extLst>
              <a:ext uri="{FF2B5EF4-FFF2-40B4-BE49-F238E27FC236}">
                <a16:creationId xmlns:a16="http://schemas.microsoft.com/office/drawing/2014/main" id="{520B91C2-EF3C-4B81-A26F-17D73073C2AE}"/>
              </a:ext>
            </a:extLst>
          </p:cNvPr>
          <p:cNvSpPr>
            <a:spLocks noGrp="1"/>
          </p:cNvSpPr>
          <p:nvPr/>
        </p:nvSpPr>
        <p:spPr>
          <a:xfrm>
            <a:off x="1600200" y="2313432"/>
            <a:ext cx="411480" cy="0"/>
          </a:xfrm>
          <a:prstGeom prst="line">
            <a:avLst/>
          </a:prstGeom>
          <a:noFill/>
          <a:ln w="22860">
            <a:solidFill>
              <a:srgbClr val="17B7D7"/>
            </a:solidFill>
            <a:prstDash val="solid"/>
          </a:ln>
        </p:spPr>
        <p:txBody>
          <a:bodyPr/>
          <a:lstStyle/>
          <a:p>
            <a:endParaRPr/>
          </a:p>
        </p:txBody>
      </p:sp>
      <p:sp>
        <p:nvSpPr>
          <p:cNvPr id="18" name="Text 16">
            <a:extLst>
              <a:ext uri="{FF2B5EF4-FFF2-40B4-BE49-F238E27FC236}">
                <a16:creationId xmlns:a16="http://schemas.microsoft.com/office/drawing/2014/main" id="{B4396596-5CDA-4DBE-8878-C0F74DCD22B4}"/>
              </a:ext>
            </a:extLst>
          </p:cNvPr>
          <p:cNvSpPr>
            <a:spLocks noGrp="1"/>
          </p:cNvSpPr>
          <p:nvPr/>
        </p:nvSpPr>
        <p:spPr>
          <a:xfrm>
            <a:off x="111556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Fechas, períodos o secuencias.</a:t>
            </a:r>
          </a:p>
        </p:txBody>
      </p:sp>
      <p:sp>
        <p:nvSpPr>
          <p:cNvPr id="19" name="Shape 17">
            <a:extLst>
              <a:ext uri="{FF2B5EF4-FFF2-40B4-BE49-F238E27FC236}">
                <a16:creationId xmlns:a16="http://schemas.microsoft.com/office/drawing/2014/main" id="{8147991A-6C9F-439E-B048-C7F909634508}"/>
              </a:ext>
            </a:extLst>
          </p:cNvPr>
          <p:cNvSpPr>
            <a:spLocks noGrp="1"/>
          </p:cNvSpPr>
          <p:nvPr/>
        </p:nvSpPr>
        <p:spPr>
          <a:xfrm>
            <a:off x="452628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0" name="Shape 18">
            <a:extLst>
              <a:ext uri="{FF2B5EF4-FFF2-40B4-BE49-F238E27FC236}">
                <a16:creationId xmlns:a16="http://schemas.microsoft.com/office/drawing/2014/main" id="{9EF733E9-A002-4C96-90E6-E896672B3CFD}"/>
              </a:ext>
            </a:extLst>
          </p:cNvPr>
          <p:cNvSpPr>
            <a:spLocks noGrp="1"/>
          </p:cNvSpPr>
          <p:nvPr/>
        </p:nvSpPr>
        <p:spPr>
          <a:xfrm>
            <a:off x="4690872" y="1984248"/>
            <a:ext cx="438912" cy="438912"/>
          </a:xfrm>
          <a:prstGeom prst="ellipse">
            <a:avLst/>
          </a:prstGeom>
          <a:solidFill>
            <a:srgbClr val="EAF8FC"/>
          </a:solidFill>
          <a:ln w="10160">
            <a:solidFill>
              <a:srgbClr val="D5EEF7"/>
            </a:solidFill>
            <a:prstDash val="solid"/>
          </a:ln>
        </p:spPr>
        <p:txBody>
          <a:bodyPr/>
          <a:lstStyle/>
          <a:p>
            <a:endParaRPr/>
          </a:p>
        </p:txBody>
      </p:sp>
      <p:sp>
        <p:nvSpPr>
          <p:cNvPr id="21" name="Text 19">
            <a:extLst>
              <a:ext uri="{FF2B5EF4-FFF2-40B4-BE49-F238E27FC236}">
                <a16:creationId xmlns:a16="http://schemas.microsoft.com/office/drawing/2014/main" id="{9D24A6A4-8B9E-4BFB-81F6-61A64001216C}"/>
              </a:ext>
            </a:extLst>
          </p:cNvPr>
          <p:cNvSpPr>
            <a:spLocks noGrp="1"/>
          </p:cNvSpPr>
          <p:nvPr/>
        </p:nvSpPr>
        <p:spPr>
          <a:xfrm>
            <a:off x="4690872" y="2043684"/>
            <a:ext cx="438912" cy="228600"/>
          </a:xfrm>
          <a:prstGeom prst="rect">
            <a:avLst/>
          </a:prstGeom>
          <a:noFill/>
        </p:spPr>
        <p:txBody>
          <a:bodyPr wrap="square" lIns="0" tIns="0" rIns="0" bIns="0" anchor="ctr"/>
          <a:lstStyle/>
          <a:p>
            <a:pPr marL="0" indent="0" algn="ctr">
              <a:buNone/>
            </a:pPr>
            <a:r>
              <a:rPr sz="1550">
                <a:solidFill>
                  <a:srgbClr val="17B7D7"/>
                </a:solidFill>
              </a:rPr>
              <a:t>2</a:t>
            </a:r>
          </a:p>
        </p:txBody>
      </p:sp>
      <p:sp>
        <p:nvSpPr>
          <p:cNvPr id="22" name="Text 20">
            <a:extLst>
              <a:ext uri="{FF2B5EF4-FFF2-40B4-BE49-F238E27FC236}">
                <a16:creationId xmlns:a16="http://schemas.microsoft.com/office/drawing/2014/main" id="{53B490FB-80F7-46A0-9B9C-886B1DD8EBF9}"/>
              </a:ext>
            </a:extLst>
          </p:cNvPr>
          <p:cNvSpPr>
            <a:spLocks noGrp="1"/>
          </p:cNvSpPr>
          <p:nvPr/>
        </p:nvSpPr>
        <p:spPr>
          <a:xfrm>
            <a:off x="521208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Lista</a:t>
            </a:r>
          </a:p>
        </p:txBody>
      </p:sp>
      <p:sp>
        <p:nvSpPr>
          <p:cNvPr id="23" name="Shape 21">
            <a:extLst>
              <a:ext uri="{FF2B5EF4-FFF2-40B4-BE49-F238E27FC236}">
                <a16:creationId xmlns:a16="http://schemas.microsoft.com/office/drawing/2014/main" id="{D3F3A3F9-DEBD-4625-95BC-DAAAB52868A2}"/>
              </a:ext>
            </a:extLst>
          </p:cNvPr>
          <p:cNvSpPr>
            <a:spLocks noGrp="1"/>
          </p:cNvSpPr>
          <p:nvPr/>
        </p:nvSpPr>
        <p:spPr>
          <a:xfrm>
            <a:off x="5212080" y="2313432"/>
            <a:ext cx="411480" cy="0"/>
          </a:xfrm>
          <a:prstGeom prst="line">
            <a:avLst/>
          </a:prstGeom>
          <a:noFill/>
          <a:ln w="22860">
            <a:solidFill>
              <a:srgbClr val="17B7D7"/>
            </a:solidFill>
            <a:prstDash val="solid"/>
          </a:ln>
        </p:spPr>
        <p:txBody>
          <a:bodyPr/>
          <a:lstStyle/>
          <a:p>
            <a:endParaRPr/>
          </a:p>
        </p:txBody>
      </p:sp>
      <p:sp>
        <p:nvSpPr>
          <p:cNvPr id="24" name="Text 22">
            <a:extLst>
              <a:ext uri="{FF2B5EF4-FFF2-40B4-BE49-F238E27FC236}">
                <a16:creationId xmlns:a16="http://schemas.microsoft.com/office/drawing/2014/main" id="{E9610762-B4D3-4DD8-9CCD-A0F730F6ECB5}"/>
              </a:ext>
            </a:extLst>
          </p:cNvPr>
          <p:cNvSpPr>
            <a:spLocks noGrp="1"/>
          </p:cNvSpPr>
          <p:nvPr/>
        </p:nvSpPr>
        <p:spPr>
          <a:xfrm>
            <a:off x="472744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Regiones o categorías conocidas.</a:t>
            </a:r>
          </a:p>
        </p:txBody>
      </p:sp>
      <p:sp>
        <p:nvSpPr>
          <p:cNvPr id="25" name="Shape 23">
            <a:extLst>
              <a:ext uri="{FF2B5EF4-FFF2-40B4-BE49-F238E27FC236}">
                <a16:creationId xmlns:a16="http://schemas.microsoft.com/office/drawing/2014/main" id="{CCEF4718-176D-45F0-B2D4-BF2C7E320CBA}"/>
              </a:ext>
            </a:extLst>
          </p:cNvPr>
          <p:cNvSpPr>
            <a:spLocks noGrp="1"/>
          </p:cNvSpPr>
          <p:nvPr/>
        </p:nvSpPr>
        <p:spPr>
          <a:xfrm>
            <a:off x="813816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6" name="Shape 24">
            <a:extLst>
              <a:ext uri="{FF2B5EF4-FFF2-40B4-BE49-F238E27FC236}">
                <a16:creationId xmlns:a16="http://schemas.microsoft.com/office/drawing/2014/main" id="{8D44E5AE-8A67-4853-B244-F81052A007F4}"/>
              </a:ext>
            </a:extLst>
          </p:cNvPr>
          <p:cNvSpPr>
            <a:spLocks noGrp="1"/>
          </p:cNvSpPr>
          <p:nvPr/>
        </p:nvSpPr>
        <p:spPr>
          <a:xfrm>
            <a:off x="8302752" y="1984248"/>
            <a:ext cx="438912" cy="438912"/>
          </a:xfrm>
          <a:prstGeom prst="ellipse">
            <a:avLst/>
          </a:prstGeom>
          <a:solidFill>
            <a:srgbClr val="EAF8FC"/>
          </a:solidFill>
          <a:ln w="10160">
            <a:solidFill>
              <a:srgbClr val="D5EEF7"/>
            </a:solidFill>
            <a:prstDash val="solid"/>
          </a:ln>
        </p:spPr>
        <p:txBody>
          <a:bodyPr/>
          <a:lstStyle/>
          <a:p>
            <a:endParaRPr/>
          </a:p>
        </p:txBody>
      </p:sp>
      <p:sp>
        <p:nvSpPr>
          <p:cNvPr id="27" name="Text 25">
            <a:extLst>
              <a:ext uri="{FF2B5EF4-FFF2-40B4-BE49-F238E27FC236}">
                <a16:creationId xmlns:a16="http://schemas.microsoft.com/office/drawing/2014/main" id="{1E839E76-0723-4E97-92D6-AA1B56FF2E71}"/>
              </a:ext>
            </a:extLst>
          </p:cNvPr>
          <p:cNvSpPr>
            <a:spLocks noGrp="1"/>
          </p:cNvSpPr>
          <p:nvPr/>
        </p:nvSpPr>
        <p:spPr>
          <a:xfrm>
            <a:off x="8302752" y="2043684"/>
            <a:ext cx="438912" cy="228600"/>
          </a:xfrm>
          <a:prstGeom prst="rect">
            <a:avLst/>
          </a:prstGeom>
          <a:noFill/>
        </p:spPr>
        <p:txBody>
          <a:bodyPr wrap="square" lIns="0" tIns="0" rIns="0" bIns="0" anchor="ctr"/>
          <a:lstStyle/>
          <a:p>
            <a:pPr marL="0" indent="0" algn="ctr">
              <a:buNone/>
            </a:pPr>
            <a:r>
              <a:rPr sz="1550">
                <a:solidFill>
                  <a:srgbClr val="17B7D7"/>
                </a:solidFill>
              </a:rPr>
              <a:t>3</a:t>
            </a:r>
          </a:p>
        </p:txBody>
      </p:sp>
      <p:sp>
        <p:nvSpPr>
          <p:cNvPr id="28" name="Text 26">
            <a:extLst>
              <a:ext uri="{FF2B5EF4-FFF2-40B4-BE49-F238E27FC236}">
                <a16:creationId xmlns:a16="http://schemas.microsoft.com/office/drawing/2014/main" id="{39EAD97E-ACE2-4547-A6C7-EC305192AC81}"/>
              </a:ext>
            </a:extLst>
          </p:cNvPr>
          <p:cNvSpPr>
            <a:spLocks noGrp="1"/>
          </p:cNvSpPr>
          <p:nvPr/>
        </p:nvSpPr>
        <p:spPr>
          <a:xfrm>
            <a:off x="882396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Hash</a:t>
            </a:r>
          </a:p>
        </p:txBody>
      </p:sp>
      <p:sp>
        <p:nvSpPr>
          <p:cNvPr id="29" name="Shape 27">
            <a:extLst>
              <a:ext uri="{FF2B5EF4-FFF2-40B4-BE49-F238E27FC236}">
                <a16:creationId xmlns:a16="http://schemas.microsoft.com/office/drawing/2014/main" id="{FCA73888-782F-4505-B3DD-DA63AA7D156F}"/>
              </a:ext>
            </a:extLst>
          </p:cNvPr>
          <p:cNvSpPr>
            <a:spLocks noGrp="1"/>
          </p:cNvSpPr>
          <p:nvPr/>
        </p:nvSpPr>
        <p:spPr>
          <a:xfrm>
            <a:off x="8823960" y="2313432"/>
            <a:ext cx="411480" cy="0"/>
          </a:xfrm>
          <a:prstGeom prst="line">
            <a:avLst/>
          </a:prstGeom>
          <a:noFill/>
          <a:ln w="22860">
            <a:solidFill>
              <a:srgbClr val="17B7D7"/>
            </a:solidFill>
            <a:prstDash val="solid"/>
          </a:ln>
        </p:spPr>
        <p:txBody>
          <a:bodyPr/>
          <a:lstStyle/>
          <a:p>
            <a:endParaRPr/>
          </a:p>
        </p:txBody>
      </p:sp>
      <p:sp>
        <p:nvSpPr>
          <p:cNvPr id="30" name="Text 28">
            <a:extLst>
              <a:ext uri="{FF2B5EF4-FFF2-40B4-BE49-F238E27FC236}">
                <a16:creationId xmlns:a16="http://schemas.microsoft.com/office/drawing/2014/main" id="{DD936180-33BC-4320-BA9F-81FA74FC0275}"/>
              </a:ext>
            </a:extLst>
          </p:cNvPr>
          <p:cNvSpPr>
            <a:spLocks noGrp="1"/>
          </p:cNvSpPr>
          <p:nvPr/>
        </p:nvSpPr>
        <p:spPr>
          <a:xfrm>
            <a:off x="833932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Distribución uniforme entre particiones.</a:t>
            </a:r>
          </a:p>
        </p:txBody>
      </p:sp>
      <p:sp>
        <p:nvSpPr>
          <p:cNvPr id="31" name="Text 29">
            <a:extLst>
              <a:ext uri="{FF2B5EF4-FFF2-40B4-BE49-F238E27FC236}">
                <a16:creationId xmlns:a16="http://schemas.microsoft.com/office/drawing/2014/main" id="{5BD4C6CA-B995-4864-9406-0372256BA931}"/>
              </a:ext>
            </a:extLst>
          </p:cNvPr>
          <p:cNvSpPr>
            <a:spLocks noGrp="1"/>
          </p:cNvSpPr>
          <p:nvPr/>
        </p:nvSpPr>
        <p:spPr>
          <a:xfrm>
            <a:off x="914400" y="4800600"/>
            <a:ext cx="10332720" cy="411480"/>
          </a:xfrm>
          <a:prstGeom prst="rect">
            <a:avLst/>
          </a:prstGeom>
          <a:noFill/>
        </p:spPr>
        <p:txBody>
          <a:bodyPr wrap="square" anchor="ctr"/>
          <a:lstStyle/>
          <a:p>
            <a:pPr marL="0" indent="0" algn="ctr">
              <a:buNone/>
            </a:pPr>
            <a:r>
              <a:rPr sz="1800" b="1">
                <a:solidFill>
                  <a:srgbClr val="07245A"/>
                </a:solidFill>
              </a:rPr>
              <a:t>Diseñar para crecimiento, retención, pruning y consultas sobre el histórico.</a:t>
            </a:r>
          </a:p>
        </p:txBody>
      </p:sp>
      <p:sp>
        <p:nvSpPr>
          <p:cNvPr id="32" name="Shape 30">
            <a:extLst>
              <a:ext uri="{FF2B5EF4-FFF2-40B4-BE49-F238E27FC236}">
                <a16:creationId xmlns:a16="http://schemas.microsoft.com/office/drawing/2014/main" id="{48DEFDF8-4233-43D1-ABC6-22926B0A171A}"/>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33" name="Text 31">
            <a:extLst>
              <a:ext uri="{FF2B5EF4-FFF2-40B4-BE49-F238E27FC236}">
                <a16:creationId xmlns:a16="http://schemas.microsoft.com/office/drawing/2014/main" id="{B6AAE201-650E-4F2F-8FFF-27F1A0DEDA4A}"/>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Tree>
    <p:extLst>
      <p:ext uri="{BB962C8B-B14F-4D97-AF65-F5344CB8AC3E}">
        <p14:creationId xmlns:p14="http://schemas.microsoft.com/office/powerpoint/2010/main" val="9683784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05CF088-86D1-4237-A8B6-86340931FA7C}"/>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847F890F-7C13-4F2A-84C6-BDC693CD35C7}"/>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7BB5CAB5-B296-4B90-B816-7720A845B7AF}"/>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93315444-6A06-4975-AAB4-F93BEAD99811}"/>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2FCAFC4E-8771-4726-B3C7-8BB4CF1BA10D}"/>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924EE4AA-ADBB-4B97-B2B8-D00FB2CB1693}"/>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7658BA90-9699-4AD7-B234-9BA2DF0BB11E}"/>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7F04B3A0-9ED9-4019-A5D3-4CE94D0DEC95}"/>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30</a:t>
            </a:r>
          </a:p>
        </p:txBody>
      </p:sp>
      <p:sp>
        <p:nvSpPr>
          <p:cNvPr id="10" name="Text 8">
            <a:extLst>
              <a:ext uri="{FF2B5EF4-FFF2-40B4-BE49-F238E27FC236}">
                <a16:creationId xmlns:a16="http://schemas.microsoft.com/office/drawing/2014/main" id="{BDFECAF7-7624-4B06-8A6D-78057E0F3E84}"/>
              </a:ext>
            </a:extLst>
          </p:cNvPr>
          <p:cNvSpPr>
            <a:spLocks noGrp="1"/>
          </p:cNvSpPr>
          <p:nvPr/>
        </p:nvSpPr>
        <p:spPr>
          <a:xfrm>
            <a:off x="658368" y="868680"/>
            <a:ext cx="10698480" cy="411480"/>
          </a:xfrm>
          <a:prstGeom prst="rect">
            <a:avLst/>
          </a:prstGeom>
          <a:noFill/>
        </p:spPr>
        <p:txBody>
          <a:bodyPr wrap="square" lIns="0" tIns="0" rIns="0" bIns="0" anchor="ctr">
            <a:normAutofit fontScale="88235" lnSpcReduction="20000"/>
          </a:bodyPr>
          <a:lstStyle/>
          <a:p>
            <a:pPr marL="0" indent="0">
              <a:buNone/>
            </a:pPr>
            <a:r>
              <a:rPr sz="3400" b="1">
                <a:solidFill>
                  <a:srgbClr val="07245A"/>
                </a:solidFill>
                <a:latin typeface="Aptos Display"/>
                <a:ea typeface="Aptos Display"/>
                <a:cs typeface="Aptos Display"/>
              </a:rPr>
              <a:t>Desnormalizar con evidencia</a:t>
            </a:r>
          </a:p>
        </p:txBody>
      </p:sp>
      <p:sp>
        <p:nvSpPr>
          <p:cNvPr id="11" name="Shape 9">
            <a:extLst>
              <a:ext uri="{FF2B5EF4-FFF2-40B4-BE49-F238E27FC236}">
                <a16:creationId xmlns:a16="http://schemas.microsoft.com/office/drawing/2014/main" id="{E235F766-8095-40E7-8FB7-7BAB365E9F39}"/>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DCA4F053-8464-4768-A38C-A17DBDE4DE3E}"/>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La redundancia controlada es una excepción.</a:t>
            </a:r>
          </a:p>
        </p:txBody>
      </p:sp>
      <p:sp>
        <p:nvSpPr>
          <p:cNvPr id="13" name="Shape 11">
            <a:extLst>
              <a:ext uri="{FF2B5EF4-FFF2-40B4-BE49-F238E27FC236}">
                <a16:creationId xmlns:a16="http://schemas.microsoft.com/office/drawing/2014/main" id="{C63EEA6D-0E00-40F3-9341-1FF53F90E8CA}"/>
              </a:ext>
            </a:extLst>
          </p:cNvPr>
          <p:cNvSpPr>
            <a:spLocks noGrp="1"/>
          </p:cNvSpPr>
          <p:nvPr/>
        </p:nvSpPr>
        <p:spPr>
          <a:xfrm>
            <a:off x="91440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14" name="Shape 12">
            <a:extLst>
              <a:ext uri="{FF2B5EF4-FFF2-40B4-BE49-F238E27FC236}">
                <a16:creationId xmlns:a16="http://schemas.microsoft.com/office/drawing/2014/main" id="{27906FF5-28C3-4BCE-9230-D8D754E343A5}"/>
              </a:ext>
            </a:extLst>
          </p:cNvPr>
          <p:cNvSpPr>
            <a:spLocks noGrp="1"/>
          </p:cNvSpPr>
          <p:nvPr/>
        </p:nvSpPr>
        <p:spPr>
          <a:xfrm>
            <a:off x="1078992" y="1984248"/>
            <a:ext cx="438912" cy="438912"/>
          </a:xfrm>
          <a:prstGeom prst="ellipse">
            <a:avLst/>
          </a:prstGeom>
          <a:solidFill>
            <a:srgbClr val="EAF8FC"/>
          </a:solidFill>
          <a:ln w="10160">
            <a:solidFill>
              <a:srgbClr val="D5EEF7"/>
            </a:solidFill>
            <a:prstDash val="solid"/>
          </a:ln>
        </p:spPr>
        <p:txBody>
          <a:bodyPr/>
          <a:lstStyle/>
          <a:p>
            <a:endParaRPr/>
          </a:p>
        </p:txBody>
      </p:sp>
      <p:sp>
        <p:nvSpPr>
          <p:cNvPr id="15" name="Text 13">
            <a:extLst>
              <a:ext uri="{FF2B5EF4-FFF2-40B4-BE49-F238E27FC236}">
                <a16:creationId xmlns:a16="http://schemas.microsoft.com/office/drawing/2014/main" id="{8E110575-9924-4A24-8884-A28E9FB4DF15}"/>
              </a:ext>
            </a:extLst>
          </p:cNvPr>
          <p:cNvSpPr>
            <a:spLocks noGrp="1"/>
          </p:cNvSpPr>
          <p:nvPr/>
        </p:nvSpPr>
        <p:spPr>
          <a:xfrm>
            <a:off x="1078992" y="2043684"/>
            <a:ext cx="438912" cy="228600"/>
          </a:xfrm>
          <a:prstGeom prst="rect">
            <a:avLst/>
          </a:prstGeom>
          <a:noFill/>
        </p:spPr>
        <p:txBody>
          <a:bodyPr wrap="square" lIns="0" tIns="0" rIns="0" bIns="0" anchor="ctr"/>
          <a:lstStyle/>
          <a:p>
            <a:pPr marL="0" indent="0" algn="ctr">
              <a:buNone/>
            </a:pPr>
            <a:r>
              <a:rPr sz="1550">
                <a:solidFill>
                  <a:srgbClr val="17B7D7"/>
                </a:solidFill>
              </a:rPr>
              <a:t>1</a:t>
            </a:r>
          </a:p>
        </p:txBody>
      </p:sp>
      <p:sp>
        <p:nvSpPr>
          <p:cNvPr id="16" name="Text 14">
            <a:extLst>
              <a:ext uri="{FF2B5EF4-FFF2-40B4-BE49-F238E27FC236}">
                <a16:creationId xmlns:a16="http://schemas.microsoft.com/office/drawing/2014/main" id="{1F68C214-B521-4066-9D3A-42A47BEA2852}"/>
              </a:ext>
            </a:extLst>
          </p:cNvPr>
          <p:cNvSpPr>
            <a:spLocks noGrp="1"/>
          </p:cNvSpPr>
          <p:nvPr/>
        </p:nvSpPr>
        <p:spPr>
          <a:xfrm>
            <a:off x="160020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Motivo</a:t>
            </a:r>
          </a:p>
        </p:txBody>
      </p:sp>
      <p:sp>
        <p:nvSpPr>
          <p:cNvPr id="17" name="Shape 15">
            <a:extLst>
              <a:ext uri="{FF2B5EF4-FFF2-40B4-BE49-F238E27FC236}">
                <a16:creationId xmlns:a16="http://schemas.microsoft.com/office/drawing/2014/main" id="{520B91C2-EF3C-4B81-A26F-17D73073C2AE}"/>
              </a:ext>
            </a:extLst>
          </p:cNvPr>
          <p:cNvSpPr>
            <a:spLocks noGrp="1"/>
          </p:cNvSpPr>
          <p:nvPr/>
        </p:nvSpPr>
        <p:spPr>
          <a:xfrm>
            <a:off x="1600200" y="2313432"/>
            <a:ext cx="411480" cy="0"/>
          </a:xfrm>
          <a:prstGeom prst="line">
            <a:avLst/>
          </a:prstGeom>
          <a:noFill/>
          <a:ln w="22860">
            <a:solidFill>
              <a:srgbClr val="17B7D7"/>
            </a:solidFill>
            <a:prstDash val="solid"/>
          </a:ln>
        </p:spPr>
        <p:txBody>
          <a:bodyPr/>
          <a:lstStyle/>
          <a:p>
            <a:endParaRPr/>
          </a:p>
        </p:txBody>
      </p:sp>
      <p:sp>
        <p:nvSpPr>
          <p:cNvPr id="18" name="Text 16">
            <a:extLst>
              <a:ext uri="{FF2B5EF4-FFF2-40B4-BE49-F238E27FC236}">
                <a16:creationId xmlns:a16="http://schemas.microsoft.com/office/drawing/2014/main" id="{B4396596-5CDA-4DBE-8878-C0F74DCD22B4}"/>
              </a:ext>
            </a:extLst>
          </p:cNvPr>
          <p:cNvSpPr>
            <a:spLocks noGrp="1"/>
          </p:cNvSpPr>
          <p:nvPr/>
        </p:nvSpPr>
        <p:spPr>
          <a:xfrm>
            <a:off x="111556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Reducir joins o cálculos realmente costosos.</a:t>
            </a:r>
          </a:p>
        </p:txBody>
      </p:sp>
      <p:sp>
        <p:nvSpPr>
          <p:cNvPr id="19" name="Shape 17">
            <a:extLst>
              <a:ext uri="{FF2B5EF4-FFF2-40B4-BE49-F238E27FC236}">
                <a16:creationId xmlns:a16="http://schemas.microsoft.com/office/drawing/2014/main" id="{8147991A-6C9F-439E-B048-C7F909634508}"/>
              </a:ext>
            </a:extLst>
          </p:cNvPr>
          <p:cNvSpPr>
            <a:spLocks noGrp="1"/>
          </p:cNvSpPr>
          <p:nvPr/>
        </p:nvSpPr>
        <p:spPr>
          <a:xfrm>
            <a:off x="452628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0" name="Shape 18">
            <a:extLst>
              <a:ext uri="{FF2B5EF4-FFF2-40B4-BE49-F238E27FC236}">
                <a16:creationId xmlns:a16="http://schemas.microsoft.com/office/drawing/2014/main" id="{9EF733E9-A002-4C96-90E6-E896672B3CFD}"/>
              </a:ext>
            </a:extLst>
          </p:cNvPr>
          <p:cNvSpPr>
            <a:spLocks noGrp="1"/>
          </p:cNvSpPr>
          <p:nvPr/>
        </p:nvSpPr>
        <p:spPr>
          <a:xfrm>
            <a:off x="4690872" y="1984248"/>
            <a:ext cx="438912" cy="438912"/>
          </a:xfrm>
          <a:prstGeom prst="ellipse">
            <a:avLst/>
          </a:prstGeom>
          <a:solidFill>
            <a:srgbClr val="EAF8FC"/>
          </a:solidFill>
          <a:ln w="10160">
            <a:solidFill>
              <a:srgbClr val="D5EEF7"/>
            </a:solidFill>
            <a:prstDash val="solid"/>
          </a:ln>
        </p:spPr>
        <p:txBody>
          <a:bodyPr/>
          <a:lstStyle/>
          <a:p>
            <a:endParaRPr/>
          </a:p>
        </p:txBody>
      </p:sp>
      <p:sp>
        <p:nvSpPr>
          <p:cNvPr id="21" name="Text 19">
            <a:extLst>
              <a:ext uri="{FF2B5EF4-FFF2-40B4-BE49-F238E27FC236}">
                <a16:creationId xmlns:a16="http://schemas.microsoft.com/office/drawing/2014/main" id="{9D24A6A4-8B9E-4BFB-81F6-61A64001216C}"/>
              </a:ext>
            </a:extLst>
          </p:cNvPr>
          <p:cNvSpPr>
            <a:spLocks noGrp="1"/>
          </p:cNvSpPr>
          <p:nvPr/>
        </p:nvSpPr>
        <p:spPr>
          <a:xfrm>
            <a:off x="4690872" y="2043684"/>
            <a:ext cx="438912" cy="228600"/>
          </a:xfrm>
          <a:prstGeom prst="rect">
            <a:avLst/>
          </a:prstGeom>
          <a:noFill/>
        </p:spPr>
        <p:txBody>
          <a:bodyPr wrap="square" lIns="0" tIns="0" rIns="0" bIns="0" anchor="ctr"/>
          <a:lstStyle/>
          <a:p>
            <a:pPr marL="0" indent="0" algn="ctr">
              <a:buNone/>
            </a:pPr>
            <a:r>
              <a:rPr sz="1550">
                <a:solidFill>
                  <a:srgbClr val="17B7D7"/>
                </a:solidFill>
              </a:rPr>
              <a:t>2</a:t>
            </a:r>
          </a:p>
        </p:txBody>
      </p:sp>
      <p:sp>
        <p:nvSpPr>
          <p:cNvPr id="22" name="Text 20">
            <a:extLst>
              <a:ext uri="{FF2B5EF4-FFF2-40B4-BE49-F238E27FC236}">
                <a16:creationId xmlns:a16="http://schemas.microsoft.com/office/drawing/2014/main" id="{53B490FB-80F7-46A0-9B9C-886B1DD8EBF9}"/>
              </a:ext>
            </a:extLst>
          </p:cNvPr>
          <p:cNvSpPr>
            <a:spLocks noGrp="1"/>
          </p:cNvSpPr>
          <p:nvPr/>
        </p:nvSpPr>
        <p:spPr>
          <a:xfrm>
            <a:off x="521208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Riesgo</a:t>
            </a:r>
          </a:p>
        </p:txBody>
      </p:sp>
      <p:sp>
        <p:nvSpPr>
          <p:cNvPr id="23" name="Shape 21">
            <a:extLst>
              <a:ext uri="{FF2B5EF4-FFF2-40B4-BE49-F238E27FC236}">
                <a16:creationId xmlns:a16="http://schemas.microsoft.com/office/drawing/2014/main" id="{D3F3A3F9-DEBD-4625-95BC-DAAAB52868A2}"/>
              </a:ext>
            </a:extLst>
          </p:cNvPr>
          <p:cNvSpPr>
            <a:spLocks noGrp="1"/>
          </p:cNvSpPr>
          <p:nvPr/>
        </p:nvSpPr>
        <p:spPr>
          <a:xfrm>
            <a:off x="5212080" y="2313432"/>
            <a:ext cx="411480" cy="0"/>
          </a:xfrm>
          <a:prstGeom prst="line">
            <a:avLst/>
          </a:prstGeom>
          <a:noFill/>
          <a:ln w="22860">
            <a:solidFill>
              <a:srgbClr val="17B7D7"/>
            </a:solidFill>
            <a:prstDash val="solid"/>
          </a:ln>
        </p:spPr>
        <p:txBody>
          <a:bodyPr/>
          <a:lstStyle/>
          <a:p>
            <a:endParaRPr/>
          </a:p>
        </p:txBody>
      </p:sp>
      <p:sp>
        <p:nvSpPr>
          <p:cNvPr id="24" name="Text 22">
            <a:extLst>
              <a:ext uri="{FF2B5EF4-FFF2-40B4-BE49-F238E27FC236}">
                <a16:creationId xmlns:a16="http://schemas.microsoft.com/office/drawing/2014/main" id="{E9610762-B4D3-4DD8-9CCD-A0F730F6ECB5}"/>
              </a:ext>
            </a:extLst>
          </p:cNvPr>
          <p:cNvSpPr>
            <a:spLocks noGrp="1"/>
          </p:cNvSpPr>
          <p:nvPr/>
        </p:nvSpPr>
        <p:spPr>
          <a:xfrm>
            <a:off x="472744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Duplicación e inconsistencias.</a:t>
            </a:r>
          </a:p>
        </p:txBody>
      </p:sp>
      <p:sp>
        <p:nvSpPr>
          <p:cNvPr id="25" name="Shape 23">
            <a:extLst>
              <a:ext uri="{FF2B5EF4-FFF2-40B4-BE49-F238E27FC236}">
                <a16:creationId xmlns:a16="http://schemas.microsoft.com/office/drawing/2014/main" id="{CCEF4718-176D-45F0-B2D4-BF2C7E320CBA}"/>
              </a:ext>
            </a:extLst>
          </p:cNvPr>
          <p:cNvSpPr>
            <a:spLocks noGrp="1"/>
          </p:cNvSpPr>
          <p:nvPr/>
        </p:nvSpPr>
        <p:spPr>
          <a:xfrm>
            <a:off x="813816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6" name="Shape 24">
            <a:extLst>
              <a:ext uri="{FF2B5EF4-FFF2-40B4-BE49-F238E27FC236}">
                <a16:creationId xmlns:a16="http://schemas.microsoft.com/office/drawing/2014/main" id="{8D44E5AE-8A67-4853-B244-F81052A007F4}"/>
              </a:ext>
            </a:extLst>
          </p:cNvPr>
          <p:cNvSpPr>
            <a:spLocks noGrp="1"/>
          </p:cNvSpPr>
          <p:nvPr/>
        </p:nvSpPr>
        <p:spPr>
          <a:xfrm>
            <a:off x="8302752" y="1984248"/>
            <a:ext cx="438912" cy="438912"/>
          </a:xfrm>
          <a:prstGeom prst="ellipse">
            <a:avLst/>
          </a:prstGeom>
          <a:solidFill>
            <a:srgbClr val="EAF8FC"/>
          </a:solidFill>
          <a:ln w="10160">
            <a:solidFill>
              <a:srgbClr val="D5EEF7"/>
            </a:solidFill>
            <a:prstDash val="solid"/>
          </a:ln>
        </p:spPr>
        <p:txBody>
          <a:bodyPr/>
          <a:lstStyle/>
          <a:p>
            <a:endParaRPr/>
          </a:p>
        </p:txBody>
      </p:sp>
      <p:sp>
        <p:nvSpPr>
          <p:cNvPr id="27" name="Text 25">
            <a:extLst>
              <a:ext uri="{FF2B5EF4-FFF2-40B4-BE49-F238E27FC236}">
                <a16:creationId xmlns:a16="http://schemas.microsoft.com/office/drawing/2014/main" id="{1E839E76-0723-4E97-92D6-AA1B56FF2E71}"/>
              </a:ext>
            </a:extLst>
          </p:cNvPr>
          <p:cNvSpPr>
            <a:spLocks noGrp="1"/>
          </p:cNvSpPr>
          <p:nvPr/>
        </p:nvSpPr>
        <p:spPr>
          <a:xfrm>
            <a:off x="8302752" y="2043684"/>
            <a:ext cx="438912" cy="228600"/>
          </a:xfrm>
          <a:prstGeom prst="rect">
            <a:avLst/>
          </a:prstGeom>
          <a:noFill/>
        </p:spPr>
        <p:txBody>
          <a:bodyPr wrap="square" lIns="0" tIns="0" rIns="0" bIns="0" anchor="ctr"/>
          <a:lstStyle/>
          <a:p>
            <a:pPr marL="0" indent="0" algn="ctr">
              <a:buNone/>
            </a:pPr>
            <a:r>
              <a:rPr sz="1550">
                <a:solidFill>
                  <a:srgbClr val="17B7D7"/>
                </a:solidFill>
              </a:rPr>
              <a:t>3</a:t>
            </a:r>
          </a:p>
        </p:txBody>
      </p:sp>
      <p:sp>
        <p:nvSpPr>
          <p:cNvPr id="28" name="Text 26">
            <a:extLst>
              <a:ext uri="{FF2B5EF4-FFF2-40B4-BE49-F238E27FC236}">
                <a16:creationId xmlns:a16="http://schemas.microsoft.com/office/drawing/2014/main" id="{39EAD97E-ACE2-4547-A6C7-EC305192AC81}"/>
              </a:ext>
            </a:extLst>
          </p:cNvPr>
          <p:cNvSpPr>
            <a:spLocks noGrp="1"/>
          </p:cNvSpPr>
          <p:nvPr/>
        </p:nvSpPr>
        <p:spPr>
          <a:xfrm>
            <a:off x="882396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Control</a:t>
            </a:r>
          </a:p>
        </p:txBody>
      </p:sp>
      <p:sp>
        <p:nvSpPr>
          <p:cNvPr id="29" name="Shape 27">
            <a:extLst>
              <a:ext uri="{FF2B5EF4-FFF2-40B4-BE49-F238E27FC236}">
                <a16:creationId xmlns:a16="http://schemas.microsoft.com/office/drawing/2014/main" id="{FCA73888-782F-4505-B3DD-DA63AA7D156F}"/>
              </a:ext>
            </a:extLst>
          </p:cNvPr>
          <p:cNvSpPr>
            <a:spLocks noGrp="1"/>
          </p:cNvSpPr>
          <p:nvPr/>
        </p:nvSpPr>
        <p:spPr>
          <a:xfrm>
            <a:off x="8823960" y="2313432"/>
            <a:ext cx="411480" cy="0"/>
          </a:xfrm>
          <a:prstGeom prst="line">
            <a:avLst/>
          </a:prstGeom>
          <a:noFill/>
          <a:ln w="22860">
            <a:solidFill>
              <a:srgbClr val="17B7D7"/>
            </a:solidFill>
            <a:prstDash val="solid"/>
          </a:ln>
        </p:spPr>
        <p:txBody>
          <a:bodyPr/>
          <a:lstStyle/>
          <a:p>
            <a:endParaRPr/>
          </a:p>
        </p:txBody>
      </p:sp>
      <p:sp>
        <p:nvSpPr>
          <p:cNvPr id="30" name="Text 28">
            <a:extLst>
              <a:ext uri="{FF2B5EF4-FFF2-40B4-BE49-F238E27FC236}">
                <a16:creationId xmlns:a16="http://schemas.microsoft.com/office/drawing/2014/main" id="{DD936180-33BC-4320-BA9F-81FA74FC0275}"/>
              </a:ext>
            </a:extLst>
          </p:cNvPr>
          <p:cNvSpPr>
            <a:spLocks noGrp="1"/>
          </p:cNvSpPr>
          <p:nvPr/>
        </p:nvSpPr>
        <p:spPr>
          <a:xfrm>
            <a:off x="833932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Fuente de verdad y sincronización documentadas.</a:t>
            </a:r>
          </a:p>
        </p:txBody>
      </p:sp>
      <p:sp>
        <p:nvSpPr>
          <p:cNvPr id="31" name="Text 29">
            <a:extLst>
              <a:ext uri="{FF2B5EF4-FFF2-40B4-BE49-F238E27FC236}">
                <a16:creationId xmlns:a16="http://schemas.microsoft.com/office/drawing/2014/main" id="{5BD4C6CA-B995-4864-9406-0372256BA931}"/>
              </a:ext>
            </a:extLst>
          </p:cNvPr>
          <p:cNvSpPr>
            <a:spLocks noGrp="1"/>
          </p:cNvSpPr>
          <p:nvPr/>
        </p:nvSpPr>
        <p:spPr>
          <a:xfrm>
            <a:off x="914400" y="4800600"/>
            <a:ext cx="10332720" cy="411480"/>
          </a:xfrm>
          <a:prstGeom prst="rect">
            <a:avLst/>
          </a:prstGeom>
          <a:noFill/>
        </p:spPr>
        <p:txBody>
          <a:bodyPr wrap="square" anchor="ctr"/>
          <a:lstStyle/>
          <a:p>
            <a:pPr marL="0" indent="0" algn="ctr">
              <a:buNone/>
            </a:pPr>
            <a:r>
              <a:rPr sz="1800" b="1">
                <a:solidFill>
                  <a:srgbClr val="07245A"/>
                </a:solidFill>
              </a:rPr>
              <a:t>Primero medir; después justificar cómo se mantendrá la consistencia.</a:t>
            </a:r>
          </a:p>
        </p:txBody>
      </p:sp>
      <p:sp>
        <p:nvSpPr>
          <p:cNvPr id="32" name="Shape 30">
            <a:extLst>
              <a:ext uri="{FF2B5EF4-FFF2-40B4-BE49-F238E27FC236}">
                <a16:creationId xmlns:a16="http://schemas.microsoft.com/office/drawing/2014/main" id="{48DEFDF8-4233-43D1-ABC6-22926B0A171A}"/>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33" name="Text 31">
            <a:extLst>
              <a:ext uri="{FF2B5EF4-FFF2-40B4-BE49-F238E27FC236}">
                <a16:creationId xmlns:a16="http://schemas.microsoft.com/office/drawing/2014/main" id="{B6AAE201-650E-4F2F-8FFF-27F1A0DEDA4A}"/>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Tree>
    <p:extLst>
      <p:ext uri="{BB962C8B-B14F-4D97-AF65-F5344CB8AC3E}">
        <p14:creationId xmlns:p14="http://schemas.microsoft.com/office/powerpoint/2010/main" val="9683784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05CF088-86D1-4237-A8B6-86340931FA7C}"/>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847F890F-7C13-4F2A-84C6-BDC693CD35C7}"/>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7BB5CAB5-B296-4B90-B816-7720A845B7AF}"/>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93315444-6A06-4975-AAB4-F93BEAD99811}"/>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2FCAFC4E-8771-4726-B3C7-8BB4CF1BA10D}"/>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924EE4AA-ADBB-4B97-B2B8-D00FB2CB1693}"/>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7658BA90-9699-4AD7-B234-9BA2DF0BB11E}"/>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7F04B3A0-9ED9-4019-A5D3-4CE94D0DEC95}"/>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31</a:t>
            </a:r>
          </a:p>
        </p:txBody>
      </p:sp>
      <p:sp>
        <p:nvSpPr>
          <p:cNvPr id="10" name="Text 8">
            <a:extLst>
              <a:ext uri="{FF2B5EF4-FFF2-40B4-BE49-F238E27FC236}">
                <a16:creationId xmlns:a16="http://schemas.microsoft.com/office/drawing/2014/main" id="{BDFECAF7-7624-4B06-8A6D-78057E0F3E84}"/>
              </a:ext>
            </a:extLst>
          </p:cNvPr>
          <p:cNvSpPr>
            <a:spLocks noGrp="1"/>
          </p:cNvSpPr>
          <p:nvPr/>
        </p:nvSpPr>
        <p:spPr>
          <a:xfrm>
            <a:off x="658368" y="868680"/>
            <a:ext cx="10698480" cy="411480"/>
          </a:xfrm>
          <a:prstGeom prst="rect">
            <a:avLst/>
          </a:prstGeom>
          <a:noFill/>
        </p:spPr>
        <p:txBody>
          <a:bodyPr wrap="square" lIns="0" tIns="0" rIns="0" bIns="0" anchor="ctr">
            <a:normAutofit fontScale="92500"/>
          </a:bodyPr>
          <a:lstStyle/>
          <a:p>
            <a:pPr marL="0" indent="0">
              <a:buNone/>
            </a:pPr>
            <a:r>
              <a:rPr sz="3000" b="1">
                <a:solidFill>
                  <a:srgbClr val="07245A"/>
                </a:solidFill>
                <a:latin typeface="Aptos Display"/>
                <a:ea typeface="Aptos Display"/>
                <a:cs typeface="Aptos Display"/>
              </a:rPr>
              <a:t>Materializar evita repetir trabajo</a:t>
            </a:r>
          </a:p>
        </p:txBody>
      </p:sp>
      <p:sp>
        <p:nvSpPr>
          <p:cNvPr id="11" name="Shape 9">
            <a:extLst>
              <a:ext uri="{FF2B5EF4-FFF2-40B4-BE49-F238E27FC236}">
                <a16:creationId xmlns:a16="http://schemas.microsoft.com/office/drawing/2014/main" id="{E235F766-8095-40E7-8FB7-7BAB365E9F39}"/>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DCA4F053-8464-4768-A38C-A17DBDE4DE3E}"/>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Precargar resultados cambia cálculo por almacenamiento.</a:t>
            </a:r>
          </a:p>
        </p:txBody>
      </p:sp>
      <p:sp>
        <p:nvSpPr>
          <p:cNvPr id="13" name="Shape 11">
            <a:extLst>
              <a:ext uri="{FF2B5EF4-FFF2-40B4-BE49-F238E27FC236}">
                <a16:creationId xmlns:a16="http://schemas.microsoft.com/office/drawing/2014/main" id="{C63EEA6D-0E00-40F3-9341-1FF53F90E8CA}"/>
              </a:ext>
            </a:extLst>
          </p:cNvPr>
          <p:cNvSpPr>
            <a:spLocks noGrp="1"/>
          </p:cNvSpPr>
          <p:nvPr/>
        </p:nvSpPr>
        <p:spPr>
          <a:xfrm>
            <a:off x="91440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14" name="Shape 12">
            <a:extLst>
              <a:ext uri="{FF2B5EF4-FFF2-40B4-BE49-F238E27FC236}">
                <a16:creationId xmlns:a16="http://schemas.microsoft.com/office/drawing/2014/main" id="{27906FF5-28C3-4BCE-9230-D8D754E343A5}"/>
              </a:ext>
            </a:extLst>
          </p:cNvPr>
          <p:cNvSpPr>
            <a:spLocks noGrp="1"/>
          </p:cNvSpPr>
          <p:nvPr/>
        </p:nvSpPr>
        <p:spPr>
          <a:xfrm>
            <a:off x="1078992" y="1984248"/>
            <a:ext cx="438912" cy="438912"/>
          </a:xfrm>
          <a:prstGeom prst="ellipse">
            <a:avLst/>
          </a:prstGeom>
          <a:solidFill>
            <a:srgbClr val="EAF8FC"/>
          </a:solidFill>
          <a:ln w="10160">
            <a:solidFill>
              <a:srgbClr val="D5EEF7"/>
            </a:solidFill>
            <a:prstDash val="solid"/>
          </a:ln>
        </p:spPr>
        <p:txBody>
          <a:bodyPr/>
          <a:lstStyle/>
          <a:p>
            <a:endParaRPr/>
          </a:p>
        </p:txBody>
      </p:sp>
      <p:sp>
        <p:nvSpPr>
          <p:cNvPr id="15" name="Text 13">
            <a:extLst>
              <a:ext uri="{FF2B5EF4-FFF2-40B4-BE49-F238E27FC236}">
                <a16:creationId xmlns:a16="http://schemas.microsoft.com/office/drawing/2014/main" id="{8E110575-9924-4A24-8884-A28E9FB4DF15}"/>
              </a:ext>
            </a:extLst>
          </p:cNvPr>
          <p:cNvSpPr>
            <a:spLocks noGrp="1"/>
          </p:cNvSpPr>
          <p:nvPr/>
        </p:nvSpPr>
        <p:spPr>
          <a:xfrm>
            <a:off x="1078992" y="2043684"/>
            <a:ext cx="438912" cy="228600"/>
          </a:xfrm>
          <a:prstGeom prst="rect">
            <a:avLst/>
          </a:prstGeom>
          <a:noFill/>
        </p:spPr>
        <p:txBody>
          <a:bodyPr wrap="square" lIns="0" tIns="0" rIns="0" bIns="0" anchor="ctr"/>
          <a:lstStyle/>
          <a:p>
            <a:pPr marL="0" indent="0" algn="ctr">
              <a:buNone/>
            </a:pPr>
            <a:r>
              <a:rPr sz="1550">
                <a:solidFill>
                  <a:srgbClr val="17B7D7"/>
                </a:solidFill>
              </a:rPr>
              <a:t>1</a:t>
            </a:r>
          </a:p>
        </p:txBody>
      </p:sp>
      <p:sp>
        <p:nvSpPr>
          <p:cNvPr id="16" name="Text 14">
            <a:extLst>
              <a:ext uri="{FF2B5EF4-FFF2-40B4-BE49-F238E27FC236}">
                <a16:creationId xmlns:a16="http://schemas.microsoft.com/office/drawing/2014/main" id="{1F68C214-B521-4066-9D3A-42A47BEA2852}"/>
              </a:ext>
            </a:extLst>
          </p:cNvPr>
          <p:cNvSpPr>
            <a:spLocks noGrp="1"/>
          </p:cNvSpPr>
          <p:nvPr/>
        </p:nvSpPr>
        <p:spPr>
          <a:xfrm>
            <a:off x="160020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Vista materializada</a:t>
            </a:r>
          </a:p>
        </p:txBody>
      </p:sp>
      <p:sp>
        <p:nvSpPr>
          <p:cNvPr id="17" name="Shape 15">
            <a:extLst>
              <a:ext uri="{FF2B5EF4-FFF2-40B4-BE49-F238E27FC236}">
                <a16:creationId xmlns:a16="http://schemas.microsoft.com/office/drawing/2014/main" id="{520B91C2-EF3C-4B81-A26F-17D73073C2AE}"/>
              </a:ext>
            </a:extLst>
          </p:cNvPr>
          <p:cNvSpPr>
            <a:spLocks noGrp="1"/>
          </p:cNvSpPr>
          <p:nvPr/>
        </p:nvSpPr>
        <p:spPr>
          <a:xfrm>
            <a:off x="1600200" y="2313432"/>
            <a:ext cx="411480" cy="0"/>
          </a:xfrm>
          <a:prstGeom prst="line">
            <a:avLst/>
          </a:prstGeom>
          <a:noFill/>
          <a:ln w="22860">
            <a:solidFill>
              <a:srgbClr val="17B7D7"/>
            </a:solidFill>
            <a:prstDash val="solid"/>
          </a:ln>
        </p:spPr>
        <p:txBody>
          <a:bodyPr/>
          <a:lstStyle/>
          <a:p>
            <a:endParaRPr/>
          </a:p>
        </p:txBody>
      </p:sp>
      <p:sp>
        <p:nvSpPr>
          <p:cNvPr id="18" name="Text 16">
            <a:extLst>
              <a:ext uri="{FF2B5EF4-FFF2-40B4-BE49-F238E27FC236}">
                <a16:creationId xmlns:a16="http://schemas.microsoft.com/office/drawing/2014/main" id="{B4396596-5CDA-4DBE-8878-C0F74DCD22B4}"/>
              </a:ext>
            </a:extLst>
          </p:cNvPr>
          <p:cNvSpPr>
            <a:spLocks noGrp="1"/>
          </p:cNvSpPr>
          <p:nvPr/>
        </p:nvSpPr>
        <p:spPr>
          <a:xfrm>
            <a:off x="111556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Persiste el resultado de una consulta.</a:t>
            </a:r>
          </a:p>
        </p:txBody>
      </p:sp>
      <p:sp>
        <p:nvSpPr>
          <p:cNvPr id="19" name="Shape 17">
            <a:extLst>
              <a:ext uri="{FF2B5EF4-FFF2-40B4-BE49-F238E27FC236}">
                <a16:creationId xmlns:a16="http://schemas.microsoft.com/office/drawing/2014/main" id="{8147991A-6C9F-439E-B048-C7F909634508}"/>
              </a:ext>
            </a:extLst>
          </p:cNvPr>
          <p:cNvSpPr>
            <a:spLocks noGrp="1"/>
          </p:cNvSpPr>
          <p:nvPr/>
        </p:nvSpPr>
        <p:spPr>
          <a:xfrm>
            <a:off x="452628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0" name="Shape 18">
            <a:extLst>
              <a:ext uri="{FF2B5EF4-FFF2-40B4-BE49-F238E27FC236}">
                <a16:creationId xmlns:a16="http://schemas.microsoft.com/office/drawing/2014/main" id="{9EF733E9-A002-4C96-90E6-E896672B3CFD}"/>
              </a:ext>
            </a:extLst>
          </p:cNvPr>
          <p:cNvSpPr>
            <a:spLocks noGrp="1"/>
          </p:cNvSpPr>
          <p:nvPr/>
        </p:nvSpPr>
        <p:spPr>
          <a:xfrm>
            <a:off x="4690872" y="1984248"/>
            <a:ext cx="438912" cy="438912"/>
          </a:xfrm>
          <a:prstGeom prst="ellipse">
            <a:avLst/>
          </a:prstGeom>
          <a:solidFill>
            <a:srgbClr val="EAF8FC"/>
          </a:solidFill>
          <a:ln w="10160">
            <a:solidFill>
              <a:srgbClr val="D5EEF7"/>
            </a:solidFill>
            <a:prstDash val="solid"/>
          </a:ln>
        </p:spPr>
        <p:txBody>
          <a:bodyPr/>
          <a:lstStyle/>
          <a:p>
            <a:endParaRPr/>
          </a:p>
        </p:txBody>
      </p:sp>
      <p:sp>
        <p:nvSpPr>
          <p:cNvPr id="21" name="Text 19">
            <a:extLst>
              <a:ext uri="{FF2B5EF4-FFF2-40B4-BE49-F238E27FC236}">
                <a16:creationId xmlns:a16="http://schemas.microsoft.com/office/drawing/2014/main" id="{9D24A6A4-8B9E-4BFB-81F6-61A64001216C}"/>
              </a:ext>
            </a:extLst>
          </p:cNvPr>
          <p:cNvSpPr>
            <a:spLocks noGrp="1"/>
          </p:cNvSpPr>
          <p:nvPr/>
        </p:nvSpPr>
        <p:spPr>
          <a:xfrm>
            <a:off x="4690872" y="2043684"/>
            <a:ext cx="438912" cy="228600"/>
          </a:xfrm>
          <a:prstGeom prst="rect">
            <a:avLst/>
          </a:prstGeom>
          <a:noFill/>
        </p:spPr>
        <p:txBody>
          <a:bodyPr wrap="square" lIns="0" tIns="0" rIns="0" bIns="0" anchor="ctr"/>
          <a:lstStyle/>
          <a:p>
            <a:pPr marL="0" indent="0" algn="ctr">
              <a:buNone/>
            </a:pPr>
            <a:r>
              <a:rPr sz="1550">
                <a:solidFill>
                  <a:srgbClr val="17B7D7"/>
                </a:solidFill>
              </a:rPr>
              <a:t>2</a:t>
            </a:r>
          </a:p>
        </p:txBody>
      </p:sp>
      <p:sp>
        <p:nvSpPr>
          <p:cNvPr id="22" name="Text 20">
            <a:extLst>
              <a:ext uri="{FF2B5EF4-FFF2-40B4-BE49-F238E27FC236}">
                <a16:creationId xmlns:a16="http://schemas.microsoft.com/office/drawing/2014/main" id="{53B490FB-80F7-46A0-9B9C-886B1DD8EBF9}"/>
              </a:ext>
            </a:extLst>
          </p:cNvPr>
          <p:cNvSpPr>
            <a:spLocks noGrp="1"/>
          </p:cNvSpPr>
          <p:nvPr/>
        </p:nvSpPr>
        <p:spPr>
          <a:xfrm>
            <a:off x="521208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Tabla resumen</a:t>
            </a:r>
          </a:p>
        </p:txBody>
      </p:sp>
      <p:sp>
        <p:nvSpPr>
          <p:cNvPr id="23" name="Shape 21">
            <a:extLst>
              <a:ext uri="{FF2B5EF4-FFF2-40B4-BE49-F238E27FC236}">
                <a16:creationId xmlns:a16="http://schemas.microsoft.com/office/drawing/2014/main" id="{D3F3A3F9-DEBD-4625-95BC-DAAAB52868A2}"/>
              </a:ext>
            </a:extLst>
          </p:cNvPr>
          <p:cNvSpPr>
            <a:spLocks noGrp="1"/>
          </p:cNvSpPr>
          <p:nvPr/>
        </p:nvSpPr>
        <p:spPr>
          <a:xfrm>
            <a:off x="5212080" y="2313432"/>
            <a:ext cx="411480" cy="0"/>
          </a:xfrm>
          <a:prstGeom prst="line">
            <a:avLst/>
          </a:prstGeom>
          <a:noFill/>
          <a:ln w="22860">
            <a:solidFill>
              <a:srgbClr val="17B7D7"/>
            </a:solidFill>
            <a:prstDash val="solid"/>
          </a:ln>
        </p:spPr>
        <p:txBody>
          <a:bodyPr/>
          <a:lstStyle/>
          <a:p>
            <a:endParaRPr/>
          </a:p>
        </p:txBody>
      </p:sp>
      <p:sp>
        <p:nvSpPr>
          <p:cNvPr id="24" name="Text 22">
            <a:extLst>
              <a:ext uri="{FF2B5EF4-FFF2-40B4-BE49-F238E27FC236}">
                <a16:creationId xmlns:a16="http://schemas.microsoft.com/office/drawing/2014/main" id="{E9610762-B4D3-4DD8-9CCD-A0F730F6ECB5}"/>
              </a:ext>
            </a:extLst>
          </p:cNvPr>
          <p:cNvSpPr>
            <a:spLocks noGrp="1"/>
          </p:cNvSpPr>
          <p:nvPr/>
        </p:nvSpPr>
        <p:spPr>
          <a:xfrm>
            <a:off x="472744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Conserva agregados para reportes frecuentes.</a:t>
            </a:r>
          </a:p>
        </p:txBody>
      </p:sp>
      <p:sp>
        <p:nvSpPr>
          <p:cNvPr id="25" name="Shape 23">
            <a:extLst>
              <a:ext uri="{FF2B5EF4-FFF2-40B4-BE49-F238E27FC236}">
                <a16:creationId xmlns:a16="http://schemas.microsoft.com/office/drawing/2014/main" id="{CCEF4718-176D-45F0-B2D4-BF2C7E320CBA}"/>
              </a:ext>
            </a:extLst>
          </p:cNvPr>
          <p:cNvSpPr>
            <a:spLocks noGrp="1"/>
          </p:cNvSpPr>
          <p:nvPr/>
        </p:nvSpPr>
        <p:spPr>
          <a:xfrm>
            <a:off x="813816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6" name="Shape 24">
            <a:extLst>
              <a:ext uri="{FF2B5EF4-FFF2-40B4-BE49-F238E27FC236}">
                <a16:creationId xmlns:a16="http://schemas.microsoft.com/office/drawing/2014/main" id="{8D44E5AE-8A67-4853-B244-F81052A007F4}"/>
              </a:ext>
            </a:extLst>
          </p:cNvPr>
          <p:cNvSpPr>
            <a:spLocks noGrp="1"/>
          </p:cNvSpPr>
          <p:nvPr/>
        </p:nvSpPr>
        <p:spPr>
          <a:xfrm>
            <a:off x="8302752" y="1984248"/>
            <a:ext cx="438912" cy="438912"/>
          </a:xfrm>
          <a:prstGeom prst="ellipse">
            <a:avLst/>
          </a:prstGeom>
          <a:solidFill>
            <a:srgbClr val="EAF8FC"/>
          </a:solidFill>
          <a:ln w="10160">
            <a:solidFill>
              <a:srgbClr val="D5EEF7"/>
            </a:solidFill>
            <a:prstDash val="solid"/>
          </a:ln>
        </p:spPr>
        <p:txBody>
          <a:bodyPr/>
          <a:lstStyle/>
          <a:p>
            <a:endParaRPr/>
          </a:p>
        </p:txBody>
      </p:sp>
      <p:sp>
        <p:nvSpPr>
          <p:cNvPr id="27" name="Text 25">
            <a:extLst>
              <a:ext uri="{FF2B5EF4-FFF2-40B4-BE49-F238E27FC236}">
                <a16:creationId xmlns:a16="http://schemas.microsoft.com/office/drawing/2014/main" id="{1E839E76-0723-4E97-92D6-AA1B56FF2E71}"/>
              </a:ext>
            </a:extLst>
          </p:cNvPr>
          <p:cNvSpPr>
            <a:spLocks noGrp="1"/>
          </p:cNvSpPr>
          <p:nvPr/>
        </p:nvSpPr>
        <p:spPr>
          <a:xfrm>
            <a:off x="8302752" y="2043684"/>
            <a:ext cx="438912" cy="228600"/>
          </a:xfrm>
          <a:prstGeom prst="rect">
            <a:avLst/>
          </a:prstGeom>
          <a:noFill/>
        </p:spPr>
        <p:txBody>
          <a:bodyPr wrap="square" lIns="0" tIns="0" rIns="0" bIns="0" anchor="ctr"/>
          <a:lstStyle/>
          <a:p>
            <a:pPr marL="0" indent="0" algn="ctr">
              <a:buNone/>
            </a:pPr>
            <a:r>
              <a:rPr sz="1550">
                <a:solidFill>
                  <a:srgbClr val="17B7D7"/>
                </a:solidFill>
              </a:rPr>
              <a:t>3</a:t>
            </a:r>
          </a:p>
        </p:txBody>
      </p:sp>
      <p:sp>
        <p:nvSpPr>
          <p:cNvPr id="28" name="Text 26">
            <a:extLst>
              <a:ext uri="{FF2B5EF4-FFF2-40B4-BE49-F238E27FC236}">
                <a16:creationId xmlns:a16="http://schemas.microsoft.com/office/drawing/2014/main" id="{39EAD97E-ACE2-4547-A6C7-EC305192AC81}"/>
              </a:ext>
            </a:extLst>
          </p:cNvPr>
          <p:cNvSpPr>
            <a:spLocks noGrp="1"/>
          </p:cNvSpPr>
          <p:nvPr/>
        </p:nvSpPr>
        <p:spPr>
          <a:xfrm>
            <a:off x="882396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Columna generada</a:t>
            </a:r>
          </a:p>
        </p:txBody>
      </p:sp>
      <p:sp>
        <p:nvSpPr>
          <p:cNvPr id="29" name="Shape 27">
            <a:extLst>
              <a:ext uri="{FF2B5EF4-FFF2-40B4-BE49-F238E27FC236}">
                <a16:creationId xmlns:a16="http://schemas.microsoft.com/office/drawing/2014/main" id="{FCA73888-782F-4505-B3DD-DA63AA7D156F}"/>
              </a:ext>
            </a:extLst>
          </p:cNvPr>
          <p:cNvSpPr>
            <a:spLocks noGrp="1"/>
          </p:cNvSpPr>
          <p:nvPr/>
        </p:nvSpPr>
        <p:spPr>
          <a:xfrm>
            <a:off x="8823960" y="2313432"/>
            <a:ext cx="411480" cy="0"/>
          </a:xfrm>
          <a:prstGeom prst="line">
            <a:avLst/>
          </a:prstGeom>
          <a:noFill/>
          <a:ln w="22860">
            <a:solidFill>
              <a:srgbClr val="17B7D7"/>
            </a:solidFill>
            <a:prstDash val="solid"/>
          </a:ln>
        </p:spPr>
        <p:txBody>
          <a:bodyPr/>
          <a:lstStyle/>
          <a:p>
            <a:endParaRPr/>
          </a:p>
        </p:txBody>
      </p:sp>
      <p:sp>
        <p:nvSpPr>
          <p:cNvPr id="30" name="Text 28">
            <a:extLst>
              <a:ext uri="{FF2B5EF4-FFF2-40B4-BE49-F238E27FC236}">
                <a16:creationId xmlns:a16="http://schemas.microsoft.com/office/drawing/2014/main" id="{DD936180-33BC-4320-BA9F-81FA74FC0275}"/>
              </a:ext>
            </a:extLst>
          </p:cNvPr>
          <p:cNvSpPr>
            <a:spLocks noGrp="1"/>
          </p:cNvSpPr>
          <p:nvPr/>
        </p:nvSpPr>
        <p:spPr>
          <a:xfrm>
            <a:off x="833932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Precalcula una expresión reutilizada.</a:t>
            </a:r>
          </a:p>
        </p:txBody>
      </p:sp>
      <p:sp>
        <p:nvSpPr>
          <p:cNvPr id="31" name="Text 29">
            <a:extLst>
              <a:ext uri="{FF2B5EF4-FFF2-40B4-BE49-F238E27FC236}">
                <a16:creationId xmlns:a16="http://schemas.microsoft.com/office/drawing/2014/main" id="{5BD4C6CA-B995-4864-9406-0372256BA931}"/>
              </a:ext>
            </a:extLst>
          </p:cNvPr>
          <p:cNvSpPr>
            <a:spLocks noGrp="1"/>
          </p:cNvSpPr>
          <p:nvPr/>
        </p:nvSpPr>
        <p:spPr>
          <a:xfrm>
            <a:off x="914400" y="4800600"/>
            <a:ext cx="10332720" cy="411480"/>
          </a:xfrm>
          <a:prstGeom prst="rect">
            <a:avLst/>
          </a:prstGeom>
          <a:noFill/>
        </p:spPr>
        <p:txBody>
          <a:bodyPr wrap="square" anchor="ctr"/>
          <a:lstStyle/>
          <a:p>
            <a:pPr marL="0" indent="0" algn="ctr">
              <a:buNone/>
            </a:pPr>
            <a:r>
              <a:rPr sz="1800" b="1">
                <a:solidFill>
                  <a:srgbClr val="07245A"/>
                </a:solidFill>
              </a:rPr>
              <a:t>La ganancia exige definir actualización, consistencia y reconstrucción.</a:t>
            </a:r>
          </a:p>
        </p:txBody>
      </p:sp>
      <p:sp>
        <p:nvSpPr>
          <p:cNvPr id="32" name="Shape 30">
            <a:extLst>
              <a:ext uri="{FF2B5EF4-FFF2-40B4-BE49-F238E27FC236}">
                <a16:creationId xmlns:a16="http://schemas.microsoft.com/office/drawing/2014/main" id="{48DEFDF8-4233-43D1-ABC6-22926B0A171A}"/>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33" name="Text 31">
            <a:extLst>
              <a:ext uri="{FF2B5EF4-FFF2-40B4-BE49-F238E27FC236}">
                <a16:creationId xmlns:a16="http://schemas.microsoft.com/office/drawing/2014/main" id="{B6AAE201-650E-4F2F-8FFF-27F1A0DEDA4A}"/>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Tree>
    <p:extLst>
      <p:ext uri="{BB962C8B-B14F-4D97-AF65-F5344CB8AC3E}">
        <p14:creationId xmlns:p14="http://schemas.microsoft.com/office/powerpoint/2010/main" val="9683784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05CF088-86D1-4237-A8B6-86340931FA7C}"/>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847F890F-7C13-4F2A-84C6-BDC693CD35C7}"/>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7BB5CAB5-B296-4B90-B816-7720A845B7AF}"/>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93315444-6A06-4975-AAB4-F93BEAD99811}"/>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2FCAFC4E-8771-4726-B3C7-8BB4CF1BA10D}"/>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924EE4AA-ADBB-4B97-B2B8-D00FB2CB1693}"/>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7658BA90-9699-4AD7-B234-9BA2DF0BB11E}"/>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7F04B3A0-9ED9-4019-A5D3-4CE94D0DEC95}"/>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32</a:t>
            </a:r>
          </a:p>
        </p:txBody>
      </p:sp>
      <p:sp>
        <p:nvSpPr>
          <p:cNvPr id="10" name="Text 8">
            <a:extLst>
              <a:ext uri="{FF2B5EF4-FFF2-40B4-BE49-F238E27FC236}">
                <a16:creationId xmlns:a16="http://schemas.microsoft.com/office/drawing/2014/main" id="{BDFECAF7-7624-4B06-8A6D-78057E0F3E84}"/>
              </a:ext>
            </a:extLst>
          </p:cNvPr>
          <p:cNvSpPr>
            <a:spLocks noGrp="1"/>
          </p:cNvSpPr>
          <p:nvPr/>
        </p:nvSpPr>
        <p:spPr>
          <a:xfrm>
            <a:off x="658368" y="868680"/>
            <a:ext cx="10698480" cy="411480"/>
          </a:xfrm>
          <a:prstGeom prst="rect">
            <a:avLst/>
          </a:prstGeom>
          <a:noFill/>
        </p:spPr>
        <p:txBody>
          <a:bodyPr wrap="square" lIns="0" tIns="0" rIns="0" bIns="0" anchor="ctr">
            <a:normAutofit fontScale="88235" lnSpcReduction="20000"/>
          </a:bodyPr>
          <a:lstStyle/>
          <a:p>
            <a:pPr marL="0" indent="0">
              <a:buNone/>
            </a:pPr>
            <a:r>
              <a:rPr sz="3400" b="1">
                <a:solidFill>
                  <a:srgbClr val="07245A"/>
                </a:solidFill>
                <a:latin typeface="Aptos Display"/>
                <a:ea typeface="Aptos Display"/>
                <a:cs typeface="Aptos Display"/>
              </a:rPr>
              <a:t>El optimizador decide por costos</a:t>
            </a:r>
          </a:p>
        </p:txBody>
      </p:sp>
      <p:sp>
        <p:nvSpPr>
          <p:cNvPr id="11" name="Shape 9">
            <a:extLst>
              <a:ext uri="{FF2B5EF4-FFF2-40B4-BE49-F238E27FC236}">
                <a16:creationId xmlns:a16="http://schemas.microsoft.com/office/drawing/2014/main" id="{E235F766-8095-40E7-8FB7-7BAB365E9F39}"/>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DCA4F053-8464-4768-A38C-A17DBDE4DE3E}"/>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Compara caminos posibles usando estimaciones.</a:t>
            </a:r>
          </a:p>
        </p:txBody>
      </p:sp>
      <p:sp>
        <p:nvSpPr>
          <p:cNvPr id="13" name="Shape 11">
            <a:extLst>
              <a:ext uri="{FF2B5EF4-FFF2-40B4-BE49-F238E27FC236}">
                <a16:creationId xmlns:a16="http://schemas.microsoft.com/office/drawing/2014/main" id="{C63EEA6D-0E00-40F3-9341-1FF53F90E8CA}"/>
              </a:ext>
            </a:extLst>
          </p:cNvPr>
          <p:cNvSpPr>
            <a:spLocks noGrp="1"/>
          </p:cNvSpPr>
          <p:nvPr/>
        </p:nvSpPr>
        <p:spPr>
          <a:xfrm>
            <a:off x="91440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14" name="Shape 12">
            <a:extLst>
              <a:ext uri="{FF2B5EF4-FFF2-40B4-BE49-F238E27FC236}">
                <a16:creationId xmlns:a16="http://schemas.microsoft.com/office/drawing/2014/main" id="{27906FF5-28C3-4BCE-9230-D8D754E343A5}"/>
              </a:ext>
            </a:extLst>
          </p:cNvPr>
          <p:cNvSpPr>
            <a:spLocks noGrp="1"/>
          </p:cNvSpPr>
          <p:nvPr/>
        </p:nvSpPr>
        <p:spPr>
          <a:xfrm>
            <a:off x="1078992" y="1984248"/>
            <a:ext cx="438912" cy="438912"/>
          </a:xfrm>
          <a:prstGeom prst="ellipse">
            <a:avLst/>
          </a:prstGeom>
          <a:solidFill>
            <a:srgbClr val="EAF8FC"/>
          </a:solidFill>
          <a:ln w="10160">
            <a:solidFill>
              <a:srgbClr val="D5EEF7"/>
            </a:solidFill>
            <a:prstDash val="solid"/>
          </a:ln>
        </p:spPr>
        <p:txBody>
          <a:bodyPr/>
          <a:lstStyle/>
          <a:p>
            <a:endParaRPr/>
          </a:p>
        </p:txBody>
      </p:sp>
      <p:sp>
        <p:nvSpPr>
          <p:cNvPr id="15" name="Text 13">
            <a:extLst>
              <a:ext uri="{FF2B5EF4-FFF2-40B4-BE49-F238E27FC236}">
                <a16:creationId xmlns:a16="http://schemas.microsoft.com/office/drawing/2014/main" id="{8E110575-9924-4A24-8884-A28E9FB4DF15}"/>
              </a:ext>
            </a:extLst>
          </p:cNvPr>
          <p:cNvSpPr>
            <a:spLocks noGrp="1"/>
          </p:cNvSpPr>
          <p:nvPr/>
        </p:nvSpPr>
        <p:spPr>
          <a:xfrm>
            <a:off x="1078992" y="2043684"/>
            <a:ext cx="438912" cy="228600"/>
          </a:xfrm>
          <a:prstGeom prst="rect">
            <a:avLst/>
          </a:prstGeom>
          <a:noFill/>
        </p:spPr>
        <p:txBody>
          <a:bodyPr wrap="square" lIns="0" tIns="0" rIns="0" bIns="0" anchor="ctr"/>
          <a:lstStyle/>
          <a:p>
            <a:pPr marL="0" indent="0" algn="ctr">
              <a:buNone/>
            </a:pPr>
            <a:r>
              <a:rPr sz="1550">
                <a:solidFill>
                  <a:srgbClr val="17B7D7"/>
                </a:solidFill>
              </a:rPr>
              <a:t>1</a:t>
            </a:r>
          </a:p>
        </p:txBody>
      </p:sp>
      <p:sp>
        <p:nvSpPr>
          <p:cNvPr id="16" name="Text 14">
            <a:extLst>
              <a:ext uri="{FF2B5EF4-FFF2-40B4-BE49-F238E27FC236}">
                <a16:creationId xmlns:a16="http://schemas.microsoft.com/office/drawing/2014/main" id="{1F68C214-B521-4066-9D3A-42A47BEA2852}"/>
              </a:ext>
            </a:extLst>
          </p:cNvPr>
          <p:cNvSpPr>
            <a:spLocks noGrp="1"/>
          </p:cNvSpPr>
          <p:nvPr/>
        </p:nvSpPr>
        <p:spPr>
          <a:xfrm>
            <a:off x="160020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Alternativas</a:t>
            </a:r>
          </a:p>
        </p:txBody>
      </p:sp>
      <p:sp>
        <p:nvSpPr>
          <p:cNvPr id="17" name="Shape 15">
            <a:extLst>
              <a:ext uri="{FF2B5EF4-FFF2-40B4-BE49-F238E27FC236}">
                <a16:creationId xmlns:a16="http://schemas.microsoft.com/office/drawing/2014/main" id="{520B91C2-EF3C-4B81-A26F-17D73073C2AE}"/>
              </a:ext>
            </a:extLst>
          </p:cNvPr>
          <p:cNvSpPr>
            <a:spLocks noGrp="1"/>
          </p:cNvSpPr>
          <p:nvPr/>
        </p:nvSpPr>
        <p:spPr>
          <a:xfrm>
            <a:off x="1600200" y="2313432"/>
            <a:ext cx="411480" cy="0"/>
          </a:xfrm>
          <a:prstGeom prst="line">
            <a:avLst/>
          </a:prstGeom>
          <a:noFill/>
          <a:ln w="22860">
            <a:solidFill>
              <a:srgbClr val="17B7D7"/>
            </a:solidFill>
            <a:prstDash val="solid"/>
          </a:ln>
        </p:spPr>
        <p:txBody>
          <a:bodyPr/>
          <a:lstStyle/>
          <a:p>
            <a:endParaRPr/>
          </a:p>
        </p:txBody>
      </p:sp>
      <p:sp>
        <p:nvSpPr>
          <p:cNvPr id="18" name="Text 16">
            <a:extLst>
              <a:ext uri="{FF2B5EF4-FFF2-40B4-BE49-F238E27FC236}">
                <a16:creationId xmlns:a16="http://schemas.microsoft.com/office/drawing/2014/main" id="{B4396596-5CDA-4DBE-8878-C0F74DCD22B4}"/>
              </a:ext>
            </a:extLst>
          </p:cNvPr>
          <p:cNvSpPr>
            <a:spLocks noGrp="1"/>
          </p:cNvSpPr>
          <p:nvPr/>
        </p:nvSpPr>
        <p:spPr>
          <a:xfrm>
            <a:off x="111556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Scans, índices, joins y ordenamientos.</a:t>
            </a:r>
          </a:p>
        </p:txBody>
      </p:sp>
      <p:sp>
        <p:nvSpPr>
          <p:cNvPr id="19" name="Shape 17">
            <a:extLst>
              <a:ext uri="{FF2B5EF4-FFF2-40B4-BE49-F238E27FC236}">
                <a16:creationId xmlns:a16="http://schemas.microsoft.com/office/drawing/2014/main" id="{8147991A-6C9F-439E-B048-C7F909634508}"/>
              </a:ext>
            </a:extLst>
          </p:cNvPr>
          <p:cNvSpPr>
            <a:spLocks noGrp="1"/>
          </p:cNvSpPr>
          <p:nvPr/>
        </p:nvSpPr>
        <p:spPr>
          <a:xfrm>
            <a:off x="452628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0" name="Shape 18">
            <a:extLst>
              <a:ext uri="{FF2B5EF4-FFF2-40B4-BE49-F238E27FC236}">
                <a16:creationId xmlns:a16="http://schemas.microsoft.com/office/drawing/2014/main" id="{9EF733E9-A002-4C96-90E6-E896672B3CFD}"/>
              </a:ext>
            </a:extLst>
          </p:cNvPr>
          <p:cNvSpPr>
            <a:spLocks noGrp="1"/>
          </p:cNvSpPr>
          <p:nvPr/>
        </p:nvSpPr>
        <p:spPr>
          <a:xfrm>
            <a:off x="4690872" y="1984248"/>
            <a:ext cx="438912" cy="438912"/>
          </a:xfrm>
          <a:prstGeom prst="ellipse">
            <a:avLst/>
          </a:prstGeom>
          <a:solidFill>
            <a:srgbClr val="EAF8FC"/>
          </a:solidFill>
          <a:ln w="10160">
            <a:solidFill>
              <a:srgbClr val="D5EEF7"/>
            </a:solidFill>
            <a:prstDash val="solid"/>
          </a:ln>
        </p:spPr>
        <p:txBody>
          <a:bodyPr/>
          <a:lstStyle/>
          <a:p>
            <a:endParaRPr/>
          </a:p>
        </p:txBody>
      </p:sp>
      <p:sp>
        <p:nvSpPr>
          <p:cNvPr id="21" name="Text 19">
            <a:extLst>
              <a:ext uri="{FF2B5EF4-FFF2-40B4-BE49-F238E27FC236}">
                <a16:creationId xmlns:a16="http://schemas.microsoft.com/office/drawing/2014/main" id="{9D24A6A4-8B9E-4BFB-81F6-61A64001216C}"/>
              </a:ext>
            </a:extLst>
          </p:cNvPr>
          <p:cNvSpPr>
            <a:spLocks noGrp="1"/>
          </p:cNvSpPr>
          <p:nvPr/>
        </p:nvSpPr>
        <p:spPr>
          <a:xfrm>
            <a:off x="4690872" y="2043684"/>
            <a:ext cx="438912" cy="228600"/>
          </a:xfrm>
          <a:prstGeom prst="rect">
            <a:avLst/>
          </a:prstGeom>
          <a:noFill/>
        </p:spPr>
        <p:txBody>
          <a:bodyPr wrap="square" lIns="0" tIns="0" rIns="0" bIns="0" anchor="ctr"/>
          <a:lstStyle/>
          <a:p>
            <a:pPr marL="0" indent="0" algn="ctr">
              <a:buNone/>
            </a:pPr>
            <a:r>
              <a:rPr sz="1550">
                <a:solidFill>
                  <a:srgbClr val="17B7D7"/>
                </a:solidFill>
              </a:rPr>
              <a:t>2</a:t>
            </a:r>
          </a:p>
        </p:txBody>
      </p:sp>
      <p:sp>
        <p:nvSpPr>
          <p:cNvPr id="22" name="Text 20">
            <a:extLst>
              <a:ext uri="{FF2B5EF4-FFF2-40B4-BE49-F238E27FC236}">
                <a16:creationId xmlns:a16="http://schemas.microsoft.com/office/drawing/2014/main" id="{53B490FB-80F7-46A0-9B9C-886B1DD8EBF9}"/>
              </a:ext>
            </a:extLst>
          </p:cNvPr>
          <p:cNvSpPr>
            <a:spLocks noGrp="1"/>
          </p:cNvSpPr>
          <p:nvPr/>
        </p:nvSpPr>
        <p:spPr>
          <a:xfrm>
            <a:off x="521208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Estadísticas</a:t>
            </a:r>
          </a:p>
        </p:txBody>
      </p:sp>
      <p:sp>
        <p:nvSpPr>
          <p:cNvPr id="23" name="Shape 21">
            <a:extLst>
              <a:ext uri="{FF2B5EF4-FFF2-40B4-BE49-F238E27FC236}">
                <a16:creationId xmlns:a16="http://schemas.microsoft.com/office/drawing/2014/main" id="{D3F3A3F9-DEBD-4625-95BC-DAAAB52868A2}"/>
              </a:ext>
            </a:extLst>
          </p:cNvPr>
          <p:cNvSpPr>
            <a:spLocks noGrp="1"/>
          </p:cNvSpPr>
          <p:nvPr/>
        </p:nvSpPr>
        <p:spPr>
          <a:xfrm>
            <a:off x="5212080" y="2313432"/>
            <a:ext cx="411480" cy="0"/>
          </a:xfrm>
          <a:prstGeom prst="line">
            <a:avLst/>
          </a:prstGeom>
          <a:noFill/>
          <a:ln w="22860">
            <a:solidFill>
              <a:srgbClr val="17B7D7"/>
            </a:solidFill>
            <a:prstDash val="solid"/>
          </a:ln>
        </p:spPr>
        <p:txBody>
          <a:bodyPr/>
          <a:lstStyle/>
          <a:p>
            <a:endParaRPr/>
          </a:p>
        </p:txBody>
      </p:sp>
      <p:sp>
        <p:nvSpPr>
          <p:cNvPr id="24" name="Text 22">
            <a:extLst>
              <a:ext uri="{FF2B5EF4-FFF2-40B4-BE49-F238E27FC236}">
                <a16:creationId xmlns:a16="http://schemas.microsoft.com/office/drawing/2014/main" id="{E9610762-B4D3-4DD8-9CCD-A0F730F6ECB5}"/>
              </a:ext>
            </a:extLst>
          </p:cNvPr>
          <p:cNvSpPr>
            <a:spLocks noGrp="1"/>
          </p:cNvSpPr>
          <p:nvPr/>
        </p:nvSpPr>
        <p:spPr>
          <a:xfrm>
            <a:off x="472744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Filas, distribución y selectividad.</a:t>
            </a:r>
          </a:p>
        </p:txBody>
      </p:sp>
      <p:sp>
        <p:nvSpPr>
          <p:cNvPr id="25" name="Shape 23">
            <a:extLst>
              <a:ext uri="{FF2B5EF4-FFF2-40B4-BE49-F238E27FC236}">
                <a16:creationId xmlns:a16="http://schemas.microsoft.com/office/drawing/2014/main" id="{CCEF4718-176D-45F0-B2D4-BF2C7E320CBA}"/>
              </a:ext>
            </a:extLst>
          </p:cNvPr>
          <p:cNvSpPr>
            <a:spLocks noGrp="1"/>
          </p:cNvSpPr>
          <p:nvPr/>
        </p:nvSpPr>
        <p:spPr>
          <a:xfrm>
            <a:off x="813816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6" name="Shape 24">
            <a:extLst>
              <a:ext uri="{FF2B5EF4-FFF2-40B4-BE49-F238E27FC236}">
                <a16:creationId xmlns:a16="http://schemas.microsoft.com/office/drawing/2014/main" id="{8D44E5AE-8A67-4853-B244-F81052A007F4}"/>
              </a:ext>
            </a:extLst>
          </p:cNvPr>
          <p:cNvSpPr>
            <a:spLocks noGrp="1"/>
          </p:cNvSpPr>
          <p:nvPr/>
        </p:nvSpPr>
        <p:spPr>
          <a:xfrm>
            <a:off x="8302752" y="1984248"/>
            <a:ext cx="438912" cy="438912"/>
          </a:xfrm>
          <a:prstGeom prst="ellipse">
            <a:avLst/>
          </a:prstGeom>
          <a:solidFill>
            <a:srgbClr val="EAF8FC"/>
          </a:solidFill>
          <a:ln w="10160">
            <a:solidFill>
              <a:srgbClr val="D5EEF7"/>
            </a:solidFill>
            <a:prstDash val="solid"/>
          </a:ln>
        </p:spPr>
        <p:txBody>
          <a:bodyPr/>
          <a:lstStyle/>
          <a:p>
            <a:endParaRPr/>
          </a:p>
        </p:txBody>
      </p:sp>
      <p:sp>
        <p:nvSpPr>
          <p:cNvPr id="27" name="Text 25">
            <a:extLst>
              <a:ext uri="{FF2B5EF4-FFF2-40B4-BE49-F238E27FC236}">
                <a16:creationId xmlns:a16="http://schemas.microsoft.com/office/drawing/2014/main" id="{1E839E76-0723-4E97-92D6-AA1B56FF2E71}"/>
              </a:ext>
            </a:extLst>
          </p:cNvPr>
          <p:cNvSpPr>
            <a:spLocks noGrp="1"/>
          </p:cNvSpPr>
          <p:nvPr/>
        </p:nvSpPr>
        <p:spPr>
          <a:xfrm>
            <a:off x="8302752" y="2043684"/>
            <a:ext cx="438912" cy="228600"/>
          </a:xfrm>
          <a:prstGeom prst="rect">
            <a:avLst/>
          </a:prstGeom>
          <a:noFill/>
        </p:spPr>
        <p:txBody>
          <a:bodyPr wrap="square" lIns="0" tIns="0" rIns="0" bIns="0" anchor="ctr"/>
          <a:lstStyle/>
          <a:p>
            <a:pPr marL="0" indent="0" algn="ctr">
              <a:buNone/>
            </a:pPr>
            <a:r>
              <a:rPr sz="1550">
                <a:solidFill>
                  <a:srgbClr val="17B7D7"/>
                </a:solidFill>
              </a:rPr>
              <a:t>3</a:t>
            </a:r>
          </a:p>
        </p:txBody>
      </p:sp>
      <p:sp>
        <p:nvSpPr>
          <p:cNvPr id="28" name="Text 26">
            <a:extLst>
              <a:ext uri="{FF2B5EF4-FFF2-40B4-BE49-F238E27FC236}">
                <a16:creationId xmlns:a16="http://schemas.microsoft.com/office/drawing/2014/main" id="{39EAD97E-ACE2-4547-A6C7-EC305192AC81}"/>
              </a:ext>
            </a:extLst>
          </p:cNvPr>
          <p:cNvSpPr>
            <a:spLocks noGrp="1"/>
          </p:cNvSpPr>
          <p:nvPr/>
        </p:nvSpPr>
        <p:spPr>
          <a:xfrm>
            <a:off x="882396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Riesgo</a:t>
            </a:r>
          </a:p>
        </p:txBody>
      </p:sp>
      <p:sp>
        <p:nvSpPr>
          <p:cNvPr id="29" name="Shape 27">
            <a:extLst>
              <a:ext uri="{FF2B5EF4-FFF2-40B4-BE49-F238E27FC236}">
                <a16:creationId xmlns:a16="http://schemas.microsoft.com/office/drawing/2014/main" id="{FCA73888-782F-4505-B3DD-DA63AA7D156F}"/>
              </a:ext>
            </a:extLst>
          </p:cNvPr>
          <p:cNvSpPr>
            <a:spLocks noGrp="1"/>
          </p:cNvSpPr>
          <p:nvPr/>
        </p:nvSpPr>
        <p:spPr>
          <a:xfrm>
            <a:off x="8823960" y="2313432"/>
            <a:ext cx="411480" cy="0"/>
          </a:xfrm>
          <a:prstGeom prst="line">
            <a:avLst/>
          </a:prstGeom>
          <a:noFill/>
          <a:ln w="22860">
            <a:solidFill>
              <a:srgbClr val="17B7D7"/>
            </a:solidFill>
            <a:prstDash val="solid"/>
          </a:ln>
        </p:spPr>
        <p:txBody>
          <a:bodyPr/>
          <a:lstStyle/>
          <a:p>
            <a:endParaRPr/>
          </a:p>
        </p:txBody>
      </p:sp>
      <p:sp>
        <p:nvSpPr>
          <p:cNvPr id="30" name="Text 28">
            <a:extLst>
              <a:ext uri="{FF2B5EF4-FFF2-40B4-BE49-F238E27FC236}">
                <a16:creationId xmlns:a16="http://schemas.microsoft.com/office/drawing/2014/main" id="{DD936180-33BC-4320-BA9F-81FA74FC0275}"/>
              </a:ext>
            </a:extLst>
          </p:cNvPr>
          <p:cNvSpPr>
            <a:spLocks noGrp="1"/>
          </p:cNvSpPr>
          <p:nvPr/>
        </p:nvSpPr>
        <p:spPr>
          <a:xfrm>
            <a:off x="833932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Estimaciones erróneas producen planes deficientes.</a:t>
            </a:r>
          </a:p>
        </p:txBody>
      </p:sp>
      <p:sp>
        <p:nvSpPr>
          <p:cNvPr id="31" name="Text 29">
            <a:extLst>
              <a:ext uri="{FF2B5EF4-FFF2-40B4-BE49-F238E27FC236}">
                <a16:creationId xmlns:a16="http://schemas.microsoft.com/office/drawing/2014/main" id="{5BD4C6CA-B995-4864-9406-0372256BA931}"/>
              </a:ext>
            </a:extLst>
          </p:cNvPr>
          <p:cNvSpPr>
            <a:spLocks noGrp="1"/>
          </p:cNvSpPr>
          <p:nvPr/>
        </p:nvSpPr>
        <p:spPr>
          <a:xfrm>
            <a:off x="914400" y="4800600"/>
            <a:ext cx="10332720" cy="411480"/>
          </a:xfrm>
          <a:prstGeom prst="rect">
            <a:avLst/>
          </a:prstGeom>
          <a:noFill/>
        </p:spPr>
        <p:txBody>
          <a:bodyPr wrap="square" anchor="ctr"/>
          <a:lstStyle/>
          <a:p>
            <a:pPr marL="0" indent="0" algn="ctr">
              <a:buNone/>
            </a:pPr>
            <a:r>
              <a:rPr sz="1800" b="1">
                <a:solidFill>
                  <a:srgbClr val="07245A"/>
                </a:solidFill>
              </a:rPr>
              <a:t>El plan orienta una hipótesis; la ejecución real aporta evidencia.</a:t>
            </a:r>
          </a:p>
        </p:txBody>
      </p:sp>
      <p:sp>
        <p:nvSpPr>
          <p:cNvPr id="32" name="Shape 30">
            <a:extLst>
              <a:ext uri="{FF2B5EF4-FFF2-40B4-BE49-F238E27FC236}">
                <a16:creationId xmlns:a16="http://schemas.microsoft.com/office/drawing/2014/main" id="{48DEFDF8-4233-43D1-ABC6-22926B0A171A}"/>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33" name="Text 31">
            <a:extLst>
              <a:ext uri="{FF2B5EF4-FFF2-40B4-BE49-F238E27FC236}">
                <a16:creationId xmlns:a16="http://schemas.microsoft.com/office/drawing/2014/main" id="{B6AAE201-650E-4F2F-8FFF-27F1A0DEDA4A}"/>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Tree>
    <p:extLst>
      <p:ext uri="{BB962C8B-B14F-4D97-AF65-F5344CB8AC3E}">
        <p14:creationId xmlns:p14="http://schemas.microsoft.com/office/powerpoint/2010/main" val="9683784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4D58359D-77C2-4CA8-A8CE-0240CCAF277B}"/>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EF6B0DB5-CF51-4268-B800-3869D7B5E52D}"/>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A9D27849-AE9D-4CBF-B3B5-40ABB5FB76AA}"/>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1F9EA404-72A1-4828-A4BF-7C84DEBBFAB5}"/>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59BDC30F-1058-489C-A5FE-626B9E1A92AF}"/>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D4FB39AD-C5C0-4CAA-AA59-4F7CC07E5680}"/>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DFE99C2D-1A6E-4BDA-9DB9-083D4FDA623C}"/>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BAB508BC-4108-4DFF-A1B2-D800BAF3893C}"/>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33</a:t>
            </a:r>
          </a:p>
        </p:txBody>
      </p:sp>
      <p:sp>
        <p:nvSpPr>
          <p:cNvPr id="10" name="Text 8">
            <a:extLst>
              <a:ext uri="{FF2B5EF4-FFF2-40B4-BE49-F238E27FC236}">
                <a16:creationId xmlns:a16="http://schemas.microsoft.com/office/drawing/2014/main" id="{5B9FA306-4CA2-4286-AD75-140AA0345145}"/>
              </a:ext>
            </a:extLst>
          </p:cNvPr>
          <p:cNvSpPr>
            <a:spLocks noGrp="1"/>
          </p:cNvSpPr>
          <p:nvPr/>
        </p:nvSpPr>
        <p:spPr>
          <a:xfrm>
            <a:off x="658368" y="868680"/>
            <a:ext cx="10698480" cy="411480"/>
          </a:xfrm>
          <a:prstGeom prst="rect">
            <a:avLst/>
          </a:prstGeom>
          <a:noFill/>
        </p:spPr>
        <p:txBody>
          <a:bodyPr wrap="square" lIns="0" tIns="0" rIns="0" bIns="0" anchor="ctr">
            <a:normAutofit fontScale="88235" lnSpcReduction="20000"/>
          </a:bodyPr>
          <a:lstStyle/>
          <a:p>
            <a:pPr marL="0" indent="0">
              <a:buNone/>
            </a:pPr>
            <a:r>
              <a:rPr sz="3400" b="1">
                <a:solidFill>
                  <a:srgbClr val="07245A"/>
                </a:solidFill>
                <a:latin typeface="Aptos Display"/>
                <a:ea typeface="Aptos Display"/>
                <a:cs typeface="Aptos Display"/>
              </a:rPr>
              <a:t>Leer un plan: de la evidencia a la decisión</a:t>
            </a:r>
          </a:p>
        </p:txBody>
      </p:sp>
      <p:sp>
        <p:nvSpPr>
          <p:cNvPr id="11" name="Shape 9">
            <a:extLst>
              <a:ext uri="{FF2B5EF4-FFF2-40B4-BE49-F238E27FC236}">
                <a16:creationId xmlns:a16="http://schemas.microsoft.com/office/drawing/2014/main" id="{9125C15F-C394-4CB5-AEB1-520CF81C915C}"/>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48835BF7-A13A-4892-9462-774C7BBCA04C}"/>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Qué observar primero</a:t>
            </a:r>
          </a:p>
        </p:txBody>
      </p:sp>
      <p:sp>
        <p:nvSpPr>
          <p:cNvPr id="13" name="Shape 11">
            <a:extLst>
              <a:ext uri="{FF2B5EF4-FFF2-40B4-BE49-F238E27FC236}">
                <a16:creationId xmlns:a16="http://schemas.microsoft.com/office/drawing/2014/main" id="{A956D7B9-8796-4A8C-BD21-742FF8823EB6}"/>
              </a:ext>
            </a:extLst>
          </p:cNvPr>
          <p:cNvSpPr>
            <a:spLocks noGrp="1"/>
          </p:cNvSpPr>
          <p:nvPr/>
        </p:nvSpPr>
        <p:spPr>
          <a:xfrm>
            <a:off x="822960" y="2041265"/>
            <a:ext cx="10561320" cy="594360"/>
          </a:xfrm>
          <a:prstGeom prst="roundRect">
            <a:avLst>
              <a:gd name="adj" fmla="val 7692"/>
            </a:avLst>
          </a:prstGeom>
          <a:solidFill>
            <a:srgbClr val="0B1F43"/>
          </a:solidFill>
          <a:ln w="12700">
            <a:solidFill>
              <a:srgbClr val="0B1F43"/>
            </a:solidFill>
            <a:prstDash val="solid"/>
          </a:ln>
        </p:spPr>
        <p:txBody>
          <a:bodyPr/>
          <a:lstStyle/>
          <a:p>
            <a:endParaRPr/>
          </a:p>
        </p:txBody>
      </p:sp>
      <p:sp>
        <p:nvSpPr>
          <p:cNvPr id="14" name="Text 12">
            <a:extLst>
              <a:ext uri="{FF2B5EF4-FFF2-40B4-BE49-F238E27FC236}">
                <a16:creationId xmlns:a16="http://schemas.microsoft.com/office/drawing/2014/main" id="{B49DC949-A885-45FE-8D8A-D72EB1DE8F62}"/>
              </a:ext>
            </a:extLst>
          </p:cNvPr>
          <p:cNvSpPr>
            <a:spLocks noGrp="1"/>
          </p:cNvSpPr>
          <p:nvPr/>
        </p:nvSpPr>
        <p:spPr>
          <a:xfrm>
            <a:off x="1051560" y="2224145"/>
            <a:ext cx="10058400" cy="219456"/>
          </a:xfrm>
          <a:prstGeom prst="rect">
            <a:avLst/>
          </a:prstGeom>
          <a:noFill/>
        </p:spPr>
        <p:txBody>
          <a:bodyPr wrap="square" lIns="0" tIns="0" rIns="0" bIns="0" anchor="ctr"/>
          <a:lstStyle/>
          <a:p>
            <a:pPr marL="0" indent="0">
              <a:buNone/>
            </a:pPr>
            <a:r>
              <a:rPr sz="1800">
                <a:solidFill>
                  <a:srgbClr val="FFFFFF"/>
                </a:solidFill>
                <a:latin typeface="Consolas"/>
                <a:ea typeface="Consolas"/>
                <a:cs typeface="Consolas"/>
              </a:rPr>
              <a:t>EXPLAIN / plan estimado / plan real</a:t>
            </a:r>
          </a:p>
        </p:txBody>
      </p:sp>
      <p:sp>
        <p:nvSpPr>
          <p:cNvPr id="15" name="Text 13">
            <a:extLst>
              <a:ext uri="{FF2B5EF4-FFF2-40B4-BE49-F238E27FC236}">
                <a16:creationId xmlns:a16="http://schemas.microsoft.com/office/drawing/2014/main" id="{E8C1076E-E0D2-48F5-9878-CEB1F1065220}"/>
              </a:ext>
            </a:extLst>
          </p:cNvPr>
          <p:cNvSpPr>
            <a:spLocks noGrp="1"/>
          </p:cNvSpPr>
          <p:nvPr/>
        </p:nvSpPr>
        <p:spPr>
          <a:xfrm>
            <a:off x="1097280" y="2788920"/>
            <a:ext cx="9875520" cy="2011680"/>
          </a:xfrm>
          <a:prstGeom prst="rect">
            <a:avLst/>
          </a:prstGeom>
          <a:noFill/>
        </p:spPr>
        <p:txBody>
          <a:bodyPr wrap="square" lIns="635" tIns="635" rIns="635" bIns="635" anchor="ctr">
            <a:normAutofit/>
          </a:bodyPr>
          <a:lstStyle/>
          <a:p>
            <a:pPr marL="152400" indent="-152400">
              <a:buChar char="•"/>
            </a:pPr>
            <a:r>
              <a:rPr sz="1700">
                <a:solidFill>
                  <a:srgbClr val="17212B"/>
                </a:solidFill>
              </a:rPr>
              <a:t>Operaciones con mayor costo o tiempo.</a:t>
            </a:r>
          </a:p>
          <a:p>
            <a:pPr marL="152400" indent="-152400">
              <a:buChar char="•"/>
            </a:pPr>
            <a:r>
              <a:rPr sz="1700">
                <a:solidFill>
                  <a:srgbClr val="17212B"/>
                </a:solidFill>
              </a:rPr>
              <a:t>Filas estimadas frente a filas reales.</a:t>
            </a:r>
          </a:p>
          <a:p>
            <a:pPr marL="152400" indent="-152400">
              <a:buChar char="•"/>
            </a:pPr>
            <a:r>
              <a:rPr sz="1700">
                <a:solidFill>
                  <a:srgbClr val="17212B"/>
                </a:solidFill>
              </a:rPr>
              <a:t>Scans inesperados.</a:t>
            </a:r>
          </a:p>
          <a:p>
            <a:pPr marL="152400" indent="-152400">
              <a:buChar char="•"/>
            </a:pPr>
            <a:r>
              <a:rPr sz="1700">
                <a:solidFill>
                  <a:srgbClr val="17212B"/>
                </a:solidFill>
              </a:rPr>
              <a:t>Joins y ordenamientos costosos.</a:t>
            </a:r>
          </a:p>
          <a:p>
            <a:pPr marL="152400" indent="-152400">
              <a:buChar char="•"/>
            </a:pPr>
            <a:r>
              <a:rPr sz="1700">
                <a:solidFill>
                  <a:srgbClr val="17212B"/>
                </a:solidFill>
              </a:rPr>
              <a:t>Advertencias, conversiones y estadísticas.</a:t>
            </a:r>
          </a:p>
        </p:txBody>
      </p:sp>
      <p:sp>
        <p:nvSpPr>
          <p:cNvPr id="16" name="Shape 14">
            <a:extLst>
              <a:ext uri="{FF2B5EF4-FFF2-40B4-BE49-F238E27FC236}">
                <a16:creationId xmlns:a16="http://schemas.microsoft.com/office/drawing/2014/main" id="{2FE285E5-C1CD-4896-90DA-B83CB88E769A}"/>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17" name="Text 15">
            <a:extLst>
              <a:ext uri="{FF2B5EF4-FFF2-40B4-BE49-F238E27FC236}">
                <a16:creationId xmlns:a16="http://schemas.microsoft.com/office/drawing/2014/main" id="{CC91E4B1-F3B4-4830-A0E7-42E94EC9D198}"/>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
        <p:nvSpPr>
          <p:cNvPr id="19" name="Text 38">
            <a:extLst>
              <a:ext uri="{FF2B5EF4-FFF2-40B4-BE49-F238E27FC236}">
                <a16:creationId xmlns:a16="http://schemas.microsoft.com/office/drawing/2014/main" id="{F84C66C0-2FE9-E8E6-BE1B-2B7D96965480}"/>
              </a:ext>
            </a:extLst>
          </p:cNvPr>
          <p:cNvSpPr>
            <a:spLocks noGrp="1"/>
          </p:cNvSpPr>
          <p:nvPr/>
        </p:nvSpPr>
        <p:spPr>
          <a:xfrm>
            <a:off x="1005840" y="4496690"/>
            <a:ext cx="10058400" cy="411480"/>
          </a:xfrm>
          <a:prstGeom prst="rect">
            <a:avLst/>
          </a:prstGeom>
          <a:noFill/>
        </p:spPr>
        <p:txBody>
          <a:bodyPr wrap="square" anchor="ctr"/>
          <a:lstStyle/>
          <a:p>
            <a:pPr marL="0" indent="0" algn="ctr">
              <a:buNone/>
            </a:pPr>
            <a:r>
              <a:rPr sz="1900" b="1">
                <a:solidFill>
                  <a:srgbClr val="0B5CAD"/>
                </a:solidFill>
              </a:rPr>
              <a:t>El plan explica una elección del motor; medir antes y después confirma el efecto.</a:t>
            </a:r>
          </a:p>
        </p:txBody>
      </p:sp>
      <p:pic>
        <p:nvPicPr>
          <p:cNvPr id="21" name="Imagen 20" descr="MySQL :: MySQL Workbench Manual :: 7.4 Visual Explain Plan">
            <a:extLst>
              <a:ext uri="{FF2B5EF4-FFF2-40B4-BE49-F238E27FC236}">
                <a16:creationId xmlns:a16="http://schemas.microsoft.com/office/drawing/2014/main" id="{236668C6-9E92-64C7-E6CA-111A2853451D}"/>
              </a:ext>
            </a:extLst>
          </p:cNvPr>
          <p:cNvPicPr>
            <a:picLocks noChangeAspect="1"/>
          </p:cNvPicPr>
          <p:nvPr/>
        </p:nvPicPr>
        <p:blipFill>
          <a:blip r:embed="rId3"/>
          <a:stretch>
            <a:fillRect/>
          </a:stretch>
        </p:blipFill>
        <p:spPr>
          <a:xfrm>
            <a:off x="658368" y="1644421"/>
            <a:ext cx="10939211" cy="3979138"/>
          </a:xfrm>
          <a:prstGeom prst="rect">
            <a:avLst/>
          </a:prstGeom>
        </p:spPr>
      </p:pic>
      <p:pic>
        <p:nvPicPr>
          <p:cNvPr id="23" name="Imagen 22" descr="Query tool graphical explain plan">
            <a:extLst>
              <a:ext uri="{FF2B5EF4-FFF2-40B4-BE49-F238E27FC236}">
                <a16:creationId xmlns:a16="http://schemas.microsoft.com/office/drawing/2014/main" id="{67D3F75B-5035-454F-293F-A59DBBB0FD7F}"/>
              </a:ext>
            </a:extLst>
          </p:cNvPr>
          <p:cNvPicPr>
            <a:picLocks noChangeAspect="1"/>
          </p:cNvPicPr>
          <p:nvPr/>
        </p:nvPicPr>
        <p:blipFill>
          <a:blip r:embed="rId4"/>
          <a:stretch>
            <a:fillRect/>
          </a:stretch>
        </p:blipFill>
        <p:spPr>
          <a:xfrm>
            <a:off x="557784" y="1637972"/>
            <a:ext cx="11036808" cy="4228840"/>
          </a:xfrm>
          <a:prstGeom prst="rect">
            <a:avLst/>
          </a:prstGeom>
        </p:spPr>
      </p:pic>
      <p:pic>
        <p:nvPicPr>
          <p:cNvPr id="24" name="Imagen 23" descr="image">
            <a:extLst>
              <a:ext uri="{FF2B5EF4-FFF2-40B4-BE49-F238E27FC236}">
                <a16:creationId xmlns:a16="http://schemas.microsoft.com/office/drawing/2014/main" id="{3CF7386B-2A66-E7E9-FB1E-613B92E8BC92}"/>
              </a:ext>
            </a:extLst>
          </p:cNvPr>
          <p:cNvPicPr>
            <a:picLocks noChangeAspect="1"/>
          </p:cNvPicPr>
          <p:nvPr/>
        </p:nvPicPr>
        <p:blipFill>
          <a:blip r:embed="rId5"/>
          <a:stretch>
            <a:fillRect/>
          </a:stretch>
        </p:blipFill>
        <p:spPr>
          <a:xfrm>
            <a:off x="411480" y="1588188"/>
            <a:ext cx="11277600" cy="5017576"/>
          </a:xfrm>
          <a:prstGeom prst="rect">
            <a:avLst/>
          </a:prstGeom>
        </p:spPr>
      </p:pic>
      <p:pic>
        <p:nvPicPr>
          <p:cNvPr id="25" name="Imagen 24" descr="image">
            <a:extLst>
              <a:ext uri="{FF2B5EF4-FFF2-40B4-BE49-F238E27FC236}">
                <a16:creationId xmlns:a16="http://schemas.microsoft.com/office/drawing/2014/main" id="{A787BA81-532A-E2E6-AAB1-4ED1FCE6DD07}"/>
              </a:ext>
            </a:extLst>
          </p:cNvPr>
          <p:cNvPicPr>
            <a:picLocks noChangeAspect="1"/>
          </p:cNvPicPr>
          <p:nvPr/>
        </p:nvPicPr>
        <p:blipFill>
          <a:blip r:embed="rId6"/>
          <a:stretch>
            <a:fillRect/>
          </a:stretch>
        </p:blipFill>
        <p:spPr>
          <a:xfrm>
            <a:off x="722267" y="1554481"/>
            <a:ext cx="10747465" cy="5111343"/>
          </a:xfrm>
          <a:prstGeom prst="rect">
            <a:avLst/>
          </a:prstGeom>
        </p:spPr>
      </p:pic>
    </p:spTree>
    <p:extLst>
      <p:ext uri="{BB962C8B-B14F-4D97-AF65-F5344CB8AC3E}">
        <p14:creationId xmlns:p14="http://schemas.microsoft.com/office/powerpoint/2010/main" val="1562856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05CF088-86D1-4237-A8B6-86340931FA7C}"/>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847F890F-7C13-4F2A-84C6-BDC693CD35C7}"/>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7BB5CAB5-B296-4B90-B816-7720A845B7AF}"/>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93315444-6A06-4975-AAB4-F93BEAD99811}"/>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2FCAFC4E-8771-4726-B3C7-8BB4CF1BA10D}"/>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924EE4AA-ADBB-4B97-B2B8-D00FB2CB1693}"/>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7658BA90-9699-4AD7-B234-9BA2DF0BB11E}"/>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7F04B3A0-9ED9-4019-A5D3-4CE94D0DEC95}"/>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34</a:t>
            </a:r>
          </a:p>
        </p:txBody>
      </p:sp>
      <p:sp>
        <p:nvSpPr>
          <p:cNvPr id="10" name="Text 8">
            <a:extLst>
              <a:ext uri="{FF2B5EF4-FFF2-40B4-BE49-F238E27FC236}">
                <a16:creationId xmlns:a16="http://schemas.microsoft.com/office/drawing/2014/main" id="{BDFECAF7-7624-4B06-8A6D-78057E0F3E84}"/>
              </a:ext>
            </a:extLst>
          </p:cNvPr>
          <p:cNvSpPr>
            <a:spLocks noGrp="1"/>
          </p:cNvSpPr>
          <p:nvPr/>
        </p:nvSpPr>
        <p:spPr>
          <a:xfrm>
            <a:off x="658368" y="868680"/>
            <a:ext cx="10698480" cy="411480"/>
          </a:xfrm>
          <a:prstGeom prst="rect">
            <a:avLst/>
          </a:prstGeom>
          <a:noFill/>
        </p:spPr>
        <p:txBody>
          <a:bodyPr wrap="square" lIns="0" tIns="0" rIns="0" bIns="0" anchor="ctr">
            <a:normAutofit fontScale="88235" lnSpcReduction="20000"/>
          </a:bodyPr>
          <a:lstStyle/>
          <a:p>
            <a:pPr marL="0" indent="0">
              <a:buNone/>
            </a:pPr>
            <a:r>
              <a:rPr sz="3400" b="1">
                <a:solidFill>
                  <a:srgbClr val="07245A"/>
                </a:solidFill>
                <a:latin typeface="Aptos Display"/>
                <a:ea typeface="Aptos Display"/>
                <a:cs typeface="Aptos Display"/>
              </a:rPr>
              <a:t>Señales que conviene leer en el plan</a:t>
            </a:r>
          </a:p>
        </p:txBody>
      </p:sp>
      <p:sp>
        <p:nvSpPr>
          <p:cNvPr id="11" name="Shape 9">
            <a:extLst>
              <a:ext uri="{FF2B5EF4-FFF2-40B4-BE49-F238E27FC236}">
                <a16:creationId xmlns:a16="http://schemas.microsoft.com/office/drawing/2014/main" id="{E235F766-8095-40E7-8FB7-7BAB365E9F39}"/>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DCA4F053-8464-4768-A38C-A17DBDE4DE3E}"/>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Las etiquetas cambian; la lógica de diagnóstico se mantiene.</a:t>
            </a:r>
          </a:p>
        </p:txBody>
      </p:sp>
      <p:sp>
        <p:nvSpPr>
          <p:cNvPr id="13" name="Shape 11">
            <a:extLst>
              <a:ext uri="{FF2B5EF4-FFF2-40B4-BE49-F238E27FC236}">
                <a16:creationId xmlns:a16="http://schemas.microsoft.com/office/drawing/2014/main" id="{C63EEA6D-0E00-40F3-9341-1FF53F90E8CA}"/>
              </a:ext>
            </a:extLst>
          </p:cNvPr>
          <p:cNvSpPr>
            <a:spLocks noGrp="1"/>
          </p:cNvSpPr>
          <p:nvPr/>
        </p:nvSpPr>
        <p:spPr>
          <a:xfrm>
            <a:off x="91440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14" name="Shape 12">
            <a:extLst>
              <a:ext uri="{FF2B5EF4-FFF2-40B4-BE49-F238E27FC236}">
                <a16:creationId xmlns:a16="http://schemas.microsoft.com/office/drawing/2014/main" id="{27906FF5-28C3-4BCE-9230-D8D754E343A5}"/>
              </a:ext>
            </a:extLst>
          </p:cNvPr>
          <p:cNvSpPr>
            <a:spLocks noGrp="1"/>
          </p:cNvSpPr>
          <p:nvPr/>
        </p:nvSpPr>
        <p:spPr>
          <a:xfrm>
            <a:off x="1078992" y="1984248"/>
            <a:ext cx="438912" cy="438912"/>
          </a:xfrm>
          <a:prstGeom prst="ellipse">
            <a:avLst/>
          </a:prstGeom>
          <a:solidFill>
            <a:srgbClr val="EAF8FC"/>
          </a:solidFill>
          <a:ln w="10160">
            <a:solidFill>
              <a:srgbClr val="D5EEF7"/>
            </a:solidFill>
            <a:prstDash val="solid"/>
          </a:ln>
        </p:spPr>
        <p:txBody>
          <a:bodyPr/>
          <a:lstStyle/>
          <a:p>
            <a:endParaRPr/>
          </a:p>
        </p:txBody>
      </p:sp>
      <p:sp>
        <p:nvSpPr>
          <p:cNvPr id="15" name="Text 13">
            <a:extLst>
              <a:ext uri="{FF2B5EF4-FFF2-40B4-BE49-F238E27FC236}">
                <a16:creationId xmlns:a16="http://schemas.microsoft.com/office/drawing/2014/main" id="{8E110575-9924-4A24-8884-A28E9FB4DF15}"/>
              </a:ext>
            </a:extLst>
          </p:cNvPr>
          <p:cNvSpPr>
            <a:spLocks noGrp="1"/>
          </p:cNvSpPr>
          <p:nvPr/>
        </p:nvSpPr>
        <p:spPr>
          <a:xfrm>
            <a:off x="1078992" y="2043684"/>
            <a:ext cx="438912" cy="228600"/>
          </a:xfrm>
          <a:prstGeom prst="rect">
            <a:avLst/>
          </a:prstGeom>
          <a:noFill/>
        </p:spPr>
        <p:txBody>
          <a:bodyPr wrap="square" lIns="0" tIns="0" rIns="0" bIns="0" anchor="ctr"/>
          <a:lstStyle/>
          <a:p>
            <a:pPr marL="0" indent="0" algn="ctr">
              <a:buNone/>
            </a:pPr>
            <a:r>
              <a:rPr sz="1550">
                <a:solidFill>
                  <a:srgbClr val="17B7D7"/>
                </a:solidFill>
              </a:rPr>
              <a:t>1</a:t>
            </a:r>
          </a:p>
        </p:txBody>
      </p:sp>
      <p:sp>
        <p:nvSpPr>
          <p:cNvPr id="16" name="Text 14">
            <a:extLst>
              <a:ext uri="{FF2B5EF4-FFF2-40B4-BE49-F238E27FC236}">
                <a16:creationId xmlns:a16="http://schemas.microsoft.com/office/drawing/2014/main" id="{1F68C214-B521-4066-9D3A-42A47BEA2852}"/>
              </a:ext>
            </a:extLst>
          </p:cNvPr>
          <p:cNvSpPr>
            <a:spLocks noGrp="1"/>
          </p:cNvSpPr>
          <p:nvPr/>
        </p:nvSpPr>
        <p:spPr>
          <a:xfrm>
            <a:off x="160020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Estimación</a:t>
            </a:r>
          </a:p>
        </p:txBody>
      </p:sp>
      <p:sp>
        <p:nvSpPr>
          <p:cNvPr id="17" name="Shape 15">
            <a:extLst>
              <a:ext uri="{FF2B5EF4-FFF2-40B4-BE49-F238E27FC236}">
                <a16:creationId xmlns:a16="http://schemas.microsoft.com/office/drawing/2014/main" id="{520B91C2-EF3C-4B81-A26F-17D73073C2AE}"/>
              </a:ext>
            </a:extLst>
          </p:cNvPr>
          <p:cNvSpPr>
            <a:spLocks noGrp="1"/>
          </p:cNvSpPr>
          <p:nvPr/>
        </p:nvSpPr>
        <p:spPr>
          <a:xfrm>
            <a:off x="1600200" y="2313432"/>
            <a:ext cx="411480" cy="0"/>
          </a:xfrm>
          <a:prstGeom prst="line">
            <a:avLst/>
          </a:prstGeom>
          <a:noFill/>
          <a:ln w="22860">
            <a:solidFill>
              <a:srgbClr val="17B7D7"/>
            </a:solidFill>
            <a:prstDash val="solid"/>
          </a:ln>
        </p:spPr>
        <p:txBody>
          <a:bodyPr/>
          <a:lstStyle/>
          <a:p>
            <a:endParaRPr/>
          </a:p>
        </p:txBody>
      </p:sp>
      <p:sp>
        <p:nvSpPr>
          <p:cNvPr id="18" name="Text 16">
            <a:extLst>
              <a:ext uri="{FF2B5EF4-FFF2-40B4-BE49-F238E27FC236}">
                <a16:creationId xmlns:a16="http://schemas.microsoft.com/office/drawing/2014/main" id="{B4396596-5CDA-4DBE-8878-C0F74DCD22B4}"/>
              </a:ext>
            </a:extLst>
          </p:cNvPr>
          <p:cNvSpPr>
            <a:spLocks noGrp="1"/>
          </p:cNvSpPr>
          <p:nvPr/>
        </p:nvSpPr>
        <p:spPr>
          <a:xfrm>
            <a:off x="111556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Filas estimadas vs. reales; loops amplifican errores.</a:t>
            </a:r>
          </a:p>
        </p:txBody>
      </p:sp>
      <p:sp>
        <p:nvSpPr>
          <p:cNvPr id="19" name="Shape 17">
            <a:extLst>
              <a:ext uri="{FF2B5EF4-FFF2-40B4-BE49-F238E27FC236}">
                <a16:creationId xmlns:a16="http://schemas.microsoft.com/office/drawing/2014/main" id="{8147991A-6C9F-439E-B048-C7F909634508}"/>
              </a:ext>
            </a:extLst>
          </p:cNvPr>
          <p:cNvSpPr>
            <a:spLocks noGrp="1"/>
          </p:cNvSpPr>
          <p:nvPr/>
        </p:nvSpPr>
        <p:spPr>
          <a:xfrm>
            <a:off x="452628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0" name="Shape 18">
            <a:extLst>
              <a:ext uri="{FF2B5EF4-FFF2-40B4-BE49-F238E27FC236}">
                <a16:creationId xmlns:a16="http://schemas.microsoft.com/office/drawing/2014/main" id="{9EF733E9-A002-4C96-90E6-E896672B3CFD}"/>
              </a:ext>
            </a:extLst>
          </p:cNvPr>
          <p:cNvSpPr>
            <a:spLocks noGrp="1"/>
          </p:cNvSpPr>
          <p:nvPr/>
        </p:nvSpPr>
        <p:spPr>
          <a:xfrm>
            <a:off x="4690872" y="1984248"/>
            <a:ext cx="438912" cy="438912"/>
          </a:xfrm>
          <a:prstGeom prst="ellipse">
            <a:avLst/>
          </a:prstGeom>
          <a:solidFill>
            <a:srgbClr val="EAF8FC"/>
          </a:solidFill>
          <a:ln w="10160">
            <a:solidFill>
              <a:srgbClr val="D5EEF7"/>
            </a:solidFill>
            <a:prstDash val="solid"/>
          </a:ln>
        </p:spPr>
        <p:txBody>
          <a:bodyPr/>
          <a:lstStyle/>
          <a:p>
            <a:endParaRPr/>
          </a:p>
        </p:txBody>
      </p:sp>
      <p:sp>
        <p:nvSpPr>
          <p:cNvPr id="21" name="Text 19">
            <a:extLst>
              <a:ext uri="{FF2B5EF4-FFF2-40B4-BE49-F238E27FC236}">
                <a16:creationId xmlns:a16="http://schemas.microsoft.com/office/drawing/2014/main" id="{9D24A6A4-8B9E-4BFB-81F6-61A64001216C}"/>
              </a:ext>
            </a:extLst>
          </p:cNvPr>
          <p:cNvSpPr>
            <a:spLocks noGrp="1"/>
          </p:cNvSpPr>
          <p:nvPr/>
        </p:nvSpPr>
        <p:spPr>
          <a:xfrm>
            <a:off x="4690872" y="2043684"/>
            <a:ext cx="438912" cy="228600"/>
          </a:xfrm>
          <a:prstGeom prst="rect">
            <a:avLst/>
          </a:prstGeom>
          <a:noFill/>
        </p:spPr>
        <p:txBody>
          <a:bodyPr wrap="square" lIns="0" tIns="0" rIns="0" bIns="0" anchor="ctr"/>
          <a:lstStyle/>
          <a:p>
            <a:pPr marL="0" indent="0" algn="ctr">
              <a:buNone/>
            </a:pPr>
            <a:r>
              <a:rPr sz="1550">
                <a:solidFill>
                  <a:srgbClr val="17B7D7"/>
                </a:solidFill>
              </a:rPr>
              <a:t>2</a:t>
            </a:r>
          </a:p>
        </p:txBody>
      </p:sp>
      <p:sp>
        <p:nvSpPr>
          <p:cNvPr id="22" name="Text 20">
            <a:extLst>
              <a:ext uri="{FF2B5EF4-FFF2-40B4-BE49-F238E27FC236}">
                <a16:creationId xmlns:a16="http://schemas.microsoft.com/office/drawing/2014/main" id="{53B490FB-80F7-46A0-9B9C-886B1DD8EBF9}"/>
              </a:ext>
            </a:extLst>
          </p:cNvPr>
          <p:cNvSpPr>
            <a:spLocks noGrp="1"/>
          </p:cNvSpPr>
          <p:nvPr/>
        </p:nvSpPr>
        <p:spPr>
          <a:xfrm>
            <a:off x="521208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Acceso y filtros</a:t>
            </a:r>
          </a:p>
        </p:txBody>
      </p:sp>
      <p:sp>
        <p:nvSpPr>
          <p:cNvPr id="23" name="Shape 21">
            <a:extLst>
              <a:ext uri="{FF2B5EF4-FFF2-40B4-BE49-F238E27FC236}">
                <a16:creationId xmlns:a16="http://schemas.microsoft.com/office/drawing/2014/main" id="{D3F3A3F9-DEBD-4625-95BC-DAAAB52868A2}"/>
              </a:ext>
            </a:extLst>
          </p:cNvPr>
          <p:cNvSpPr>
            <a:spLocks noGrp="1"/>
          </p:cNvSpPr>
          <p:nvPr/>
        </p:nvSpPr>
        <p:spPr>
          <a:xfrm>
            <a:off x="5212080" y="2313432"/>
            <a:ext cx="411480" cy="0"/>
          </a:xfrm>
          <a:prstGeom prst="line">
            <a:avLst/>
          </a:prstGeom>
          <a:noFill/>
          <a:ln w="22860">
            <a:solidFill>
              <a:srgbClr val="17B7D7"/>
            </a:solidFill>
            <a:prstDash val="solid"/>
          </a:ln>
        </p:spPr>
        <p:txBody>
          <a:bodyPr/>
          <a:lstStyle/>
          <a:p>
            <a:endParaRPr/>
          </a:p>
        </p:txBody>
      </p:sp>
      <p:sp>
        <p:nvSpPr>
          <p:cNvPr id="24" name="Text 22">
            <a:extLst>
              <a:ext uri="{FF2B5EF4-FFF2-40B4-BE49-F238E27FC236}">
                <a16:creationId xmlns:a16="http://schemas.microsoft.com/office/drawing/2014/main" id="{E9610762-B4D3-4DD8-9CCD-A0F730F6ECB5}"/>
              </a:ext>
            </a:extLst>
          </p:cNvPr>
          <p:cNvSpPr>
            <a:spLocks noGrp="1"/>
          </p:cNvSpPr>
          <p:nvPr/>
        </p:nvSpPr>
        <p:spPr>
          <a:xfrm>
            <a:off x="472744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Index Cond vs. Filter; possible_keys y Extra.</a:t>
            </a:r>
          </a:p>
        </p:txBody>
      </p:sp>
      <p:sp>
        <p:nvSpPr>
          <p:cNvPr id="25" name="Shape 23">
            <a:extLst>
              <a:ext uri="{FF2B5EF4-FFF2-40B4-BE49-F238E27FC236}">
                <a16:creationId xmlns:a16="http://schemas.microsoft.com/office/drawing/2014/main" id="{CCEF4718-176D-45F0-B2D4-BF2C7E320CBA}"/>
              </a:ext>
            </a:extLst>
          </p:cNvPr>
          <p:cNvSpPr>
            <a:spLocks noGrp="1"/>
          </p:cNvSpPr>
          <p:nvPr/>
        </p:nvSpPr>
        <p:spPr>
          <a:xfrm>
            <a:off x="813816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6" name="Shape 24">
            <a:extLst>
              <a:ext uri="{FF2B5EF4-FFF2-40B4-BE49-F238E27FC236}">
                <a16:creationId xmlns:a16="http://schemas.microsoft.com/office/drawing/2014/main" id="{8D44E5AE-8A67-4853-B244-F81052A007F4}"/>
              </a:ext>
            </a:extLst>
          </p:cNvPr>
          <p:cNvSpPr>
            <a:spLocks noGrp="1"/>
          </p:cNvSpPr>
          <p:nvPr/>
        </p:nvSpPr>
        <p:spPr>
          <a:xfrm>
            <a:off x="8302752" y="1984248"/>
            <a:ext cx="438912" cy="438912"/>
          </a:xfrm>
          <a:prstGeom prst="ellipse">
            <a:avLst/>
          </a:prstGeom>
          <a:solidFill>
            <a:srgbClr val="EAF8FC"/>
          </a:solidFill>
          <a:ln w="10160">
            <a:solidFill>
              <a:srgbClr val="D5EEF7"/>
            </a:solidFill>
            <a:prstDash val="solid"/>
          </a:ln>
        </p:spPr>
        <p:txBody>
          <a:bodyPr/>
          <a:lstStyle/>
          <a:p>
            <a:endParaRPr/>
          </a:p>
        </p:txBody>
      </p:sp>
      <p:sp>
        <p:nvSpPr>
          <p:cNvPr id="27" name="Text 25">
            <a:extLst>
              <a:ext uri="{FF2B5EF4-FFF2-40B4-BE49-F238E27FC236}">
                <a16:creationId xmlns:a16="http://schemas.microsoft.com/office/drawing/2014/main" id="{1E839E76-0723-4E97-92D6-AA1B56FF2E71}"/>
              </a:ext>
            </a:extLst>
          </p:cNvPr>
          <p:cNvSpPr>
            <a:spLocks noGrp="1"/>
          </p:cNvSpPr>
          <p:nvPr/>
        </p:nvSpPr>
        <p:spPr>
          <a:xfrm>
            <a:off x="8302752" y="2043684"/>
            <a:ext cx="438912" cy="228600"/>
          </a:xfrm>
          <a:prstGeom prst="rect">
            <a:avLst/>
          </a:prstGeom>
          <a:noFill/>
        </p:spPr>
        <p:txBody>
          <a:bodyPr wrap="square" lIns="0" tIns="0" rIns="0" bIns="0" anchor="ctr"/>
          <a:lstStyle/>
          <a:p>
            <a:pPr marL="0" indent="0" algn="ctr">
              <a:buNone/>
            </a:pPr>
            <a:r>
              <a:rPr sz="1550">
                <a:solidFill>
                  <a:srgbClr val="17B7D7"/>
                </a:solidFill>
              </a:rPr>
              <a:t>3</a:t>
            </a:r>
          </a:p>
        </p:txBody>
      </p:sp>
      <p:sp>
        <p:nvSpPr>
          <p:cNvPr id="28" name="Text 26">
            <a:extLst>
              <a:ext uri="{FF2B5EF4-FFF2-40B4-BE49-F238E27FC236}">
                <a16:creationId xmlns:a16="http://schemas.microsoft.com/office/drawing/2014/main" id="{39EAD97E-ACE2-4547-A6C7-EC305192AC81}"/>
              </a:ext>
            </a:extLst>
          </p:cNvPr>
          <p:cNvSpPr>
            <a:spLocks noGrp="1"/>
          </p:cNvSpPr>
          <p:nvPr/>
        </p:nvSpPr>
        <p:spPr>
          <a:xfrm>
            <a:off x="882396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Trabajo físico</a:t>
            </a:r>
          </a:p>
        </p:txBody>
      </p:sp>
      <p:sp>
        <p:nvSpPr>
          <p:cNvPr id="29" name="Shape 27">
            <a:extLst>
              <a:ext uri="{FF2B5EF4-FFF2-40B4-BE49-F238E27FC236}">
                <a16:creationId xmlns:a16="http://schemas.microsoft.com/office/drawing/2014/main" id="{FCA73888-782F-4505-B3DD-DA63AA7D156F}"/>
              </a:ext>
            </a:extLst>
          </p:cNvPr>
          <p:cNvSpPr>
            <a:spLocks noGrp="1"/>
          </p:cNvSpPr>
          <p:nvPr/>
        </p:nvSpPr>
        <p:spPr>
          <a:xfrm>
            <a:off x="8823960" y="2313432"/>
            <a:ext cx="411480" cy="0"/>
          </a:xfrm>
          <a:prstGeom prst="line">
            <a:avLst/>
          </a:prstGeom>
          <a:noFill/>
          <a:ln w="22860">
            <a:solidFill>
              <a:srgbClr val="17B7D7"/>
            </a:solidFill>
            <a:prstDash val="solid"/>
          </a:ln>
        </p:spPr>
        <p:txBody>
          <a:bodyPr/>
          <a:lstStyle/>
          <a:p>
            <a:endParaRPr/>
          </a:p>
        </p:txBody>
      </p:sp>
      <p:sp>
        <p:nvSpPr>
          <p:cNvPr id="30" name="Text 28">
            <a:extLst>
              <a:ext uri="{FF2B5EF4-FFF2-40B4-BE49-F238E27FC236}">
                <a16:creationId xmlns:a16="http://schemas.microsoft.com/office/drawing/2014/main" id="{DD936180-33BC-4320-BA9F-81FA74FC0275}"/>
              </a:ext>
            </a:extLst>
          </p:cNvPr>
          <p:cNvSpPr>
            <a:spLocks noGrp="1"/>
          </p:cNvSpPr>
          <p:nvPr/>
        </p:nvSpPr>
        <p:spPr>
          <a:xfrm>
            <a:off x="833932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Buffers, Heap Fetches, filas procesadas y trabajo temporal.</a:t>
            </a:r>
          </a:p>
        </p:txBody>
      </p:sp>
      <p:sp>
        <p:nvSpPr>
          <p:cNvPr id="31" name="Text 29">
            <a:extLst>
              <a:ext uri="{FF2B5EF4-FFF2-40B4-BE49-F238E27FC236}">
                <a16:creationId xmlns:a16="http://schemas.microsoft.com/office/drawing/2014/main" id="{5BD4C6CA-B995-4864-9406-0372256BA931}"/>
              </a:ext>
            </a:extLst>
          </p:cNvPr>
          <p:cNvSpPr>
            <a:spLocks noGrp="1"/>
          </p:cNvSpPr>
          <p:nvPr/>
        </p:nvSpPr>
        <p:spPr>
          <a:xfrm>
            <a:off x="914400" y="4800600"/>
            <a:ext cx="10332720" cy="411480"/>
          </a:xfrm>
          <a:prstGeom prst="rect">
            <a:avLst/>
          </a:prstGeom>
          <a:noFill/>
        </p:spPr>
        <p:txBody>
          <a:bodyPr wrap="square" anchor="ctr"/>
          <a:lstStyle/>
          <a:p>
            <a:pPr marL="0" indent="0" algn="ctr">
              <a:buNone/>
            </a:pPr>
            <a:r>
              <a:rPr sz="1800" b="1">
                <a:solidFill>
                  <a:srgbClr val="07245A"/>
                </a:solidFill>
              </a:rPr>
              <a:t>Leer cantidades y condiciones, no solo el nombre del operador.</a:t>
            </a:r>
          </a:p>
        </p:txBody>
      </p:sp>
      <p:sp>
        <p:nvSpPr>
          <p:cNvPr id="32" name="Shape 30">
            <a:extLst>
              <a:ext uri="{FF2B5EF4-FFF2-40B4-BE49-F238E27FC236}">
                <a16:creationId xmlns:a16="http://schemas.microsoft.com/office/drawing/2014/main" id="{48DEFDF8-4233-43D1-ABC6-22926B0A171A}"/>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33" name="Text 31">
            <a:extLst>
              <a:ext uri="{FF2B5EF4-FFF2-40B4-BE49-F238E27FC236}">
                <a16:creationId xmlns:a16="http://schemas.microsoft.com/office/drawing/2014/main" id="{B6AAE201-650E-4F2F-8FFF-27F1A0DEDA4A}"/>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Tree>
    <p:extLst>
      <p:ext uri="{BB962C8B-B14F-4D97-AF65-F5344CB8AC3E}">
        <p14:creationId xmlns:p14="http://schemas.microsoft.com/office/powerpoint/2010/main" val="9683784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05CF088-86D1-4237-A8B6-86340931FA7C}"/>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847F890F-7C13-4F2A-84C6-BDC693CD35C7}"/>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7BB5CAB5-B296-4B90-B816-7720A845B7AF}"/>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93315444-6A06-4975-AAB4-F93BEAD99811}"/>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2FCAFC4E-8771-4726-B3C7-8BB4CF1BA10D}"/>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924EE4AA-ADBB-4B97-B2B8-D00FB2CB1693}"/>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7658BA90-9699-4AD7-B234-9BA2DF0BB11E}"/>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7F04B3A0-9ED9-4019-A5D3-4CE94D0DEC95}"/>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35</a:t>
            </a:r>
          </a:p>
        </p:txBody>
      </p:sp>
      <p:sp>
        <p:nvSpPr>
          <p:cNvPr id="10" name="Text 8">
            <a:extLst>
              <a:ext uri="{FF2B5EF4-FFF2-40B4-BE49-F238E27FC236}">
                <a16:creationId xmlns:a16="http://schemas.microsoft.com/office/drawing/2014/main" id="{BDFECAF7-7624-4B06-8A6D-78057E0F3E84}"/>
              </a:ext>
            </a:extLst>
          </p:cNvPr>
          <p:cNvSpPr>
            <a:spLocks noGrp="1"/>
          </p:cNvSpPr>
          <p:nvPr/>
        </p:nvSpPr>
        <p:spPr>
          <a:xfrm>
            <a:off x="658368" y="868680"/>
            <a:ext cx="10698480" cy="411480"/>
          </a:xfrm>
          <a:prstGeom prst="rect">
            <a:avLst/>
          </a:prstGeom>
          <a:noFill/>
        </p:spPr>
        <p:txBody>
          <a:bodyPr wrap="square" lIns="0" tIns="0" rIns="0" bIns="0" anchor="ctr">
            <a:normAutofit fontScale="88235" lnSpcReduction="20000"/>
          </a:bodyPr>
          <a:lstStyle/>
          <a:p>
            <a:pPr marL="0" indent="0">
              <a:buNone/>
            </a:pPr>
            <a:r>
              <a:rPr sz="3400" b="1">
                <a:solidFill>
                  <a:srgbClr val="07245A"/>
                </a:solidFill>
                <a:latin typeface="Aptos Display"/>
                <a:ea typeface="Aptos Display"/>
                <a:cs typeface="Aptos Display"/>
              </a:rPr>
              <a:t>No todo problema se resuelve con otro índice</a:t>
            </a:r>
          </a:p>
        </p:txBody>
      </p:sp>
      <p:sp>
        <p:nvSpPr>
          <p:cNvPr id="11" name="Shape 9">
            <a:extLst>
              <a:ext uri="{FF2B5EF4-FFF2-40B4-BE49-F238E27FC236}">
                <a16:creationId xmlns:a16="http://schemas.microsoft.com/office/drawing/2014/main" id="{E235F766-8095-40E7-8FB7-7BAB365E9F39}"/>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DCA4F053-8464-4768-A38C-A17DBDE4DE3E}"/>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Primero identificar la causa y la evidencia.</a:t>
            </a:r>
          </a:p>
        </p:txBody>
      </p:sp>
      <p:sp>
        <p:nvSpPr>
          <p:cNvPr id="13" name="Shape 11">
            <a:extLst>
              <a:ext uri="{FF2B5EF4-FFF2-40B4-BE49-F238E27FC236}">
                <a16:creationId xmlns:a16="http://schemas.microsoft.com/office/drawing/2014/main" id="{C63EEA6D-0E00-40F3-9341-1FF53F90E8CA}"/>
              </a:ext>
            </a:extLst>
          </p:cNvPr>
          <p:cNvSpPr>
            <a:spLocks noGrp="1"/>
          </p:cNvSpPr>
          <p:nvPr/>
        </p:nvSpPr>
        <p:spPr>
          <a:xfrm>
            <a:off x="91440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14" name="Shape 12">
            <a:extLst>
              <a:ext uri="{FF2B5EF4-FFF2-40B4-BE49-F238E27FC236}">
                <a16:creationId xmlns:a16="http://schemas.microsoft.com/office/drawing/2014/main" id="{27906FF5-28C3-4BCE-9230-D8D754E343A5}"/>
              </a:ext>
            </a:extLst>
          </p:cNvPr>
          <p:cNvSpPr>
            <a:spLocks noGrp="1"/>
          </p:cNvSpPr>
          <p:nvPr/>
        </p:nvSpPr>
        <p:spPr>
          <a:xfrm>
            <a:off x="1078992" y="1984248"/>
            <a:ext cx="438912" cy="438912"/>
          </a:xfrm>
          <a:prstGeom prst="ellipse">
            <a:avLst/>
          </a:prstGeom>
          <a:solidFill>
            <a:srgbClr val="EAF8FC"/>
          </a:solidFill>
          <a:ln w="10160">
            <a:solidFill>
              <a:srgbClr val="D5EEF7"/>
            </a:solidFill>
            <a:prstDash val="solid"/>
          </a:ln>
        </p:spPr>
        <p:txBody>
          <a:bodyPr/>
          <a:lstStyle/>
          <a:p>
            <a:endParaRPr/>
          </a:p>
        </p:txBody>
      </p:sp>
      <p:sp>
        <p:nvSpPr>
          <p:cNvPr id="15" name="Text 13">
            <a:extLst>
              <a:ext uri="{FF2B5EF4-FFF2-40B4-BE49-F238E27FC236}">
                <a16:creationId xmlns:a16="http://schemas.microsoft.com/office/drawing/2014/main" id="{8E110575-9924-4A24-8884-A28E9FB4DF15}"/>
              </a:ext>
            </a:extLst>
          </p:cNvPr>
          <p:cNvSpPr>
            <a:spLocks noGrp="1"/>
          </p:cNvSpPr>
          <p:nvPr/>
        </p:nvSpPr>
        <p:spPr>
          <a:xfrm>
            <a:off x="1078992" y="2043684"/>
            <a:ext cx="438912" cy="228600"/>
          </a:xfrm>
          <a:prstGeom prst="rect">
            <a:avLst/>
          </a:prstGeom>
          <a:noFill/>
        </p:spPr>
        <p:txBody>
          <a:bodyPr wrap="square" lIns="0" tIns="0" rIns="0" bIns="0" anchor="ctr"/>
          <a:lstStyle/>
          <a:p>
            <a:pPr marL="0" indent="0" algn="ctr">
              <a:buNone/>
            </a:pPr>
            <a:r>
              <a:rPr sz="1550">
                <a:solidFill>
                  <a:srgbClr val="17B7D7"/>
                </a:solidFill>
              </a:rPr>
              <a:t>1</a:t>
            </a:r>
          </a:p>
        </p:txBody>
      </p:sp>
      <p:sp>
        <p:nvSpPr>
          <p:cNvPr id="16" name="Text 14">
            <a:extLst>
              <a:ext uri="{FF2B5EF4-FFF2-40B4-BE49-F238E27FC236}">
                <a16:creationId xmlns:a16="http://schemas.microsoft.com/office/drawing/2014/main" id="{1F68C214-B521-4066-9D3A-42A47BEA2852}"/>
              </a:ext>
            </a:extLst>
          </p:cNvPr>
          <p:cNvSpPr>
            <a:spLocks noGrp="1"/>
          </p:cNvSpPr>
          <p:nvPr/>
        </p:nvSpPr>
        <p:spPr>
          <a:xfrm>
            <a:off x="160020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Estadísticas</a:t>
            </a:r>
          </a:p>
        </p:txBody>
      </p:sp>
      <p:sp>
        <p:nvSpPr>
          <p:cNvPr id="17" name="Shape 15">
            <a:extLst>
              <a:ext uri="{FF2B5EF4-FFF2-40B4-BE49-F238E27FC236}">
                <a16:creationId xmlns:a16="http://schemas.microsoft.com/office/drawing/2014/main" id="{520B91C2-EF3C-4B81-A26F-17D73073C2AE}"/>
              </a:ext>
            </a:extLst>
          </p:cNvPr>
          <p:cNvSpPr>
            <a:spLocks noGrp="1"/>
          </p:cNvSpPr>
          <p:nvPr/>
        </p:nvSpPr>
        <p:spPr>
          <a:xfrm>
            <a:off x="1600200" y="2313432"/>
            <a:ext cx="411480" cy="0"/>
          </a:xfrm>
          <a:prstGeom prst="line">
            <a:avLst/>
          </a:prstGeom>
          <a:noFill/>
          <a:ln w="22860">
            <a:solidFill>
              <a:srgbClr val="17B7D7"/>
            </a:solidFill>
            <a:prstDash val="solid"/>
          </a:ln>
        </p:spPr>
        <p:txBody>
          <a:bodyPr/>
          <a:lstStyle/>
          <a:p>
            <a:endParaRPr/>
          </a:p>
        </p:txBody>
      </p:sp>
      <p:sp>
        <p:nvSpPr>
          <p:cNvPr id="18" name="Text 16">
            <a:extLst>
              <a:ext uri="{FF2B5EF4-FFF2-40B4-BE49-F238E27FC236}">
                <a16:creationId xmlns:a16="http://schemas.microsoft.com/office/drawing/2014/main" id="{B4396596-5CDA-4DBE-8878-C0F74DCD22B4}"/>
              </a:ext>
            </a:extLst>
          </p:cNvPr>
          <p:cNvSpPr>
            <a:spLocks noGrp="1"/>
          </p:cNvSpPr>
          <p:nvPr/>
        </p:nvSpPr>
        <p:spPr>
          <a:xfrm>
            <a:off x="111556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Actualizar ANALYZE cuando estimado y real divergen.</a:t>
            </a:r>
          </a:p>
        </p:txBody>
      </p:sp>
      <p:sp>
        <p:nvSpPr>
          <p:cNvPr id="19" name="Shape 17">
            <a:extLst>
              <a:ext uri="{FF2B5EF4-FFF2-40B4-BE49-F238E27FC236}">
                <a16:creationId xmlns:a16="http://schemas.microsoft.com/office/drawing/2014/main" id="{8147991A-6C9F-439E-B048-C7F909634508}"/>
              </a:ext>
            </a:extLst>
          </p:cNvPr>
          <p:cNvSpPr>
            <a:spLocks noGrp="1"/>
          </p:cNvSpPr>
          <p:nvPr/>
        </p:nvSpPr>
        <p:spPr>
          <a:xfrm>
            <a:off x="452628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0" name="Shape 18">
            <a:extLst>
              <a:ext uri="{FF2B5EF4-FFF2-40B4-BE49-F238E27FC236}">
                <a16:creationId xmlns:a16="http://schemas.microsoft.com/office/drawing/2014/main" id="{9EF733E9-A002-4C96-90E6-E896672B3CFD}"/>
              </a:ext>
            </a:extLst>
          </p:cNvPr>
          <p:cNvSpPr>
            <a:spLocks noGrp="1"/>
          </p:cNvSpPr>
          <p:nvPr/>
        </p:nvSpPr>
        <p:spPr>
          <a:xfrm>
            <a:off x="4690872" y="1984248"/>
            <a:ext cx="438912" cy="438912"/>
          </a:xfrm>
          <a:prstGeom prst="ellipse">
            <a:avLst/>
          </a:prstGeom>
          <a:solidFill>
            <a:srgbClr val="EAF8FC"/>
          </a:solidFill>
          <a:ln w="10160">
            <a:solidFill>
              <a:srgbClr val="D5EEF7"/>
            </a:solidFill>
            <a:prstDash val="solid"/>
          </a:ln>
        </p:spPr>
        <p:txBody>
          <a:bodyPr/>
          <a:lstStyle/>
          <a:p>
            <a:endParaRPr/>
          </a:p>
        </p:txBody>
      </p:sp>
      <p:sp>
        <p:nvSpPr>
          <p:cNvPr id="21" name="Text 19">
            <a:extLst>
              <a:ext uri="{FF2B5EF4-FFF2-40B4-BE49-F238E27FC236}">
                <a16:creationId xmlns:a16="http://schemas.microsoft.com/office/drawing/2014/main" id="{9D24A6A4-8B9E-4BFB-81F6-61A64001216C}"/>
              </a:ext>
            </a:extLst>
          </p:cNvPr>
          <p:cNvSpPr>
            <a:spLocks noGrp="1"/>
          </p:cNvSpPr>
          <p:nvPr/>
        </p:nvSpPr>
        <p:spPr>
          <a:xfrm>
            <a:off x="4690872" y="2043684"/>
            <a:ext cx="438912" cy="228600"/>
          </a:xfrm>
          <a:prstGeom prst="rect">
            <a:avLst/>
          </a:prstGeom>
          <a:noFill/>
        </p:spPr>
        <p:txBody>
          <a:bodyPr wrap="square" lIns="0" tIns="0" rIns="0" bIns="0" anchor="ctr"/>
          <a:lstStyle/>
          <a:p>
            <a:pPr marL="0" indent="0" algn="ctr">
              <a:buNone/>
            </a:pPr>
            <a:r>
              <a:rPr sz="1550">
                <a:solidFill>
                  <a:srgbClr val="17B7D7"/>
                </a:solidFill>
              </a:rPr>
              <a:t>2</a:t>
            </a:r>
          </a:p>
        </p:txBody>
      </p:sp>
      <p:sp>
        <p:nvSpPr>
          <p:cNvPr id="22" name="Text 20">
            <a:extLst>
              <a:ext uri="{FF2B5EF4-FFF2-40B4-BE49-F238E27FC236}">
                <a16:creationId xmlns:a16="http://schemas.microsoft.com/office/drawing/2014/main" id="{53B490FB-80F7-46A0-9B9C-886B1DD8EBF9}"/>
              </a:ext>
            </a:extLst>
          </p:cNvPr>
          <p:cNvSpPr>
            <a:spLocks noGrp="1"/>
          </p:cNvSpPr>
          <p:nvPr/>
        </p:nvSpPr>
        <p:spPr>
          <a:xfrm>
            <a:off x="521208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Predicado</a:t>
            </a:r>
          </a:p>
        </p:txBody>
      </p:sp>
      <p:sp>
        <p:nvSpPr>
          <p:cNvPr id="23" name="Shape 21">
            <a:extLst>
              <a:ext uri="{FF2B5EF4-FFF2-40B4-BE49-F238E27FC236}">
                <a16:creationId xmlns:a16="http://schemas.microsoft.com/office/drawing/2014/main" id="{D3F3A3F9-DEBD-4625-95BC-DAAAB52868A2}"/>
              </a:ext>
            </a:extLst>
          </p:cNvPr>
          <p:cNvSpPr>
            <a:spLocks noGrp="1"/>
          </p:cNvSpPr>
          <p:nvPr/>
        </p:nvSpPr>
        <p:spPr>
          <a:xfrm>
            <a:off x="5212080" y="2313432"/>
            <a:ext cx="411480" cy="0"/>
          </a:xfrm>
          <a:prstGeom prst="line">
            <a:avLst/>
          </a:prstGeom>
          <a:noFill/>
          <a:ln w="22860">
            <a:solidFill>
              <a:srgbClr val="17B7D7"/>
            </a:solidFill>
            <a:prstDash val="solid"/>
          </a:ln>
        </p:spPr>
        <p:txBody>
          <a:bodyPr/>
          <a:lstStyle/>
          <a:p>
            <a:endParaRPr/>
          </a:p>
        </p:txBody>
      </p:sp>
      <p:sp>
        <p:nvSpPr>
          <p:cNvPr id="24" name="Text 22">
            <a:extLst>
              <a:ext uri="{FF2B5EF4-FFF2-40B4-BE49-F238E27FC236}">
                <a16:creationId xmlns:a16="http://schemas.microsoft.com/office/drawing/2014/main" id="{E9610762-B4D3-4DD8-9CCD-A0F730F6ECB5}"/>
              </a:ext>
            </a:extLst>
          </p:cNvPr>
          <p:cNvSpPr>
            <a:spLocks noGrp="1"/>
          </p:cNvSpPr>
          <p:nvPr/>
        </p:nvSpPr>
        <p:spPr>
          <a:xfrm>
            <a:off x="472744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Evitar funciones sobre la columna; reescribir o usar expresión.</a:t>
            </a:r>
          </a:p>
        </p:txBody>
      </p:sp>
      <p:sp>
        <p:nvSpPr>
          <p:cNvPr id="25" name="Shape 23">
            <a:extLst>
              <a:ext uri="{FF2B5EF4-FFF2-40B4-BE49-F238E27FC236}">
                <a16:creationId xmlns:a16="http://schemas.microsoft.com/office/drawing/2014/main" id="{CCEF4718-176D-45F0-B2D4-BF2C7E320CBA}"/>
              </a:ext>
            </a:extLst>
          </p:cNvPr>
          <p:cNvSpPr>
            <a:spLocks noGrp="1"/>
          </p:cNvSpPr>
          <p:nvPr/>
        </p:nvSpPr>
        <p:spPr>
          <a:xfrm>
            <a:off x="813816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6" name="Shape 24">
            <a:extLst>
              <a:ext uri="{FF2B5EF4-FFF2-40B4-BE49-F238E27FC236}">
                <a16:creationId xmlns:a16="http://schemas.microsoft.com/office/drawing/2014/main" id="{8D44E5AE-8A67-4853-B244-F81052A007F4}"/>
              </a:ext>
            </a:extLst>
          </p:cNvPr>
          <p:cNvSpPr>
            <a:spLocks noGrp="1"/>
          </p:cNvSpPr>
          <p:nvPr/>
        </p:nvSpPr>
        <p:spPr>
          <a:xfrm>
            <a:off x="8302752" y="1984248"/>
            <a:ext cx="438912" cy="438912"/>
          </a:xfrm>
          <a:prstGeom prst="ellipse">
            <a:avLst/>
          </a:prstGeom>
          <a:solidFill>
            <a:srgbClr val="EAF8FC"/>
          </a:solidFill>
          <a:ln w="10160">
            <a:solidFill>
              <a:srgbClr val="D5EEF7"/>
            </a:solidFill>
            <a:prstDash val="solid"/>
          </a:ln>
        </p:spPr>
        <p:txBody>
          <a:bodyPr/>
          <a:lstStyle/>
          <a:p>
            <a:endParaRPr/>
          </a:p>
        </p:txBody>
      </p:sp>
      <p:sp>
        <p:nvSpPr>
          <p:cNvPr id="27" name="Text 25">
            <a:extLst>
              <a:ext uri="{FF2B5EF4-FFF2-40B4-BE49-F238E27FC236}">
                <a16:creationId xmlns:a16="http://schemas.microsoft.com/office/drawing/2014/main" id="{1E839E76-0723-4E97-92D6-AA1B56FF2E71}"/>
              </a:ext>
            </a:extLst>
          </p:cNvPr>
          <p:cNvSpPr>
            <a:spLocks noGrp="1"/>
          </p:cNvSpPr>
          <p:nvPr/>
        </p:nvSpPr>
        <p:spPr>
          <a:xfrm>
            <a:off x="8302752" y="2043684"/>
            <a:ext cx="438912" cy="228600"/>
          </a:xfrm>
          <a:prstGeom prst="rect">
            <a:avLst/>
          </a:prstGeom>
          <a:noFill/>
        </p:spPr>
        <p:txBody>
          <a:bodyPr wrap="square" lIns="0" tIns="0" rIns="0" bIns="0" anchor="ctr"/>
          <a:lstStyle/>
          <a:p>
            <a:pPr marL="0" indent="0" algn="ctr">
              <a:buNone/>
            </a:pPr>
            <a:r>
              <a:rPr sz="1550">
                <a:solidFill>
                  <a:srgbClr val="17B7D7"/>
                </a:solidFill>
              </a:rPr>
              <a:t>3</a:t>
            </a:r>
          </a:p>
        </p:txBody>
      </p:sp>
      <p:sp>
        <p:nvSpPr>
          <p:cNvPr id="28" name="Text 26">
            <a:extLst>
              <a:ext uri="{FF2B5EF4-FFF2-40B4-BE49-F238E27FC236}">
                <a16:creationId xmlns:a16="http://schemas.microsoft.com/office/drawing/2014/main" id="{39EAD97E-ACE2-4547-A6C7-EC305192AC81}"/>
              </a:ext>
            </a:extLst>
          </p:cNvPr>
          <p:cNvSpPr>
            <a:spLocks noGrp="1"/>
          </p:cNvSpPr>
          <p:nvPr/>
        </p:nvSpPr>
        <p:spPr>
          <a:xfrm>
            <a:off x="882396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Memoria y sort</a:t>
            </a:r>
          </a:p>
        </p:txBody>
      </p:sp>
      <p:sp>
        <p:nvSpPr>
          <p:cNvPr id="29" name="Shape 27">
            <a:extLst>
              <a:ext uri="{FF2B5EF4-FFF2-40B4-BE49-F238E27FC236}">
                <a16:creationId xmlns:a16="http://schemas.microsoft.com/office/drawing/2014/main" id="{FCA73888-782F-4505-B3DD-DA63AA7D156F}"/>
              </a:ext>
            </a:extLst>
          </p:cNvPr>
          <p:cNvSpPr>
            <a:spLocks noGrp="1"/>
          </p:cNvSpPr>
          <p:nvPr/>
        </p:nvSpPr>
        <p:spPr>
          <a:xfrm>
            <a:off x="8823960" y="2313432"/>
            <a:ext cx="411480" cy="0"/>
          </a:xfrm>
          <a:prstGeom prst="line">
            <a:avLst/>
          </a:prstGeom>
          <a:noFill/>
          <a:ln w="22860">
            <a:solidFill>
              <a:srgbClr val="17B7D7"/>
            </a:solidFill>
            <a:prstDash val="solid"/>
          </a:ln>
        </p:spPr>
        <p:txBody>
          <a:bodyPr/>
          <a:lstStyle/>
          <a:p>
            <a:endParaRPr/>
          </a:p>
        </p:txBody>
      </p:sp>
      <p:sp>
        <p:nvSpPr>
          <p:cNvPr id="30" name="Text 28">
            <a:extLst>
              <a:ext uri="{FF2B5EF4-FFF2-40B4-BE49-F238E27FC236}">
                <a16:creationId xmlns:a16="http://schemas.microsoft.com/office/drawing/2014/main" id="{DD936180-33BC-4320-BA9F-81FA74FC0275}"/>
              </a:ext>
            </a:extLst>
          </p:cNvPr>
          <p:cNvSpPr>
            <a:spLocks noGrp="1"/>
          </p:cNvSpPr>
          <p:nvPr/>
        </p:nvSpPr>
        <p:spPr>
          <a:xfrm>
            <a:off x="833932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Reducir filas o ajustar memoria local; medir temporales y concurrencia.</a:t>
            </a:r>
          </a:p>
        </p:txBody>
      </p:sp>
      <p:sp>
        <p:nvSpPr>
          <p:cNvPr id="31" name="Text 29">
            <a:extLst>
              <a:ext uri="{FF2B5EF4-FFF2-40B4-BE49-F238E27FC236}">
                <a16:creationId xmlns:a16="http://schemas.microsoft.com/office/drawing/2014/main" id="{5BD4C6CA-B995-4864-9406-0372256BA931}"/>
              </a:ext>
            </a:extLst>
          </p:cNvPr>
          <p:cNvSpPr>
            <a:spLocks noGrp="1"/>
          </p:cNvSpPr>
          <p:nvPr/>
        </p:nvSpPr>
        <p:spPr>
          <a:xfrm>
            <a:off x="914400" y="4800600"/>
            <a:ext cx="10332720" cy="411480"/>
          </a:xfrm>
          <a:prstGeom prst="rect">
            <a:avLst/>
          </a:prstGeom>
          <a:noFill/>
        </p:spPr>
        <p:txBody>
          <a:bodyPr wrap="square" anchor="ctr"/>
          <a:lstStyle/>
          <a:p>
            <a:pPr marL="0" indent="0" algn="ctr">
              <a:buNone/>
            </a:pPr>
            <a:r>
              <a:rPr sz="1800" b="1">
                <a:solidFill>
                  <a:srgbClr val="07245A"/>
                </a:solidFill>
              </a:rPr>
              <a:t>La mejora prioritaria puede ser estadísticas, SQL, memoria o diseño.</a:t>
            </a:r>
          </a:p>
        </p:txBody>
      </p:sp>
      <p:sp>
        <p:nvSpPr>
          <p:cNvPr id="32" name="Shape 30">
            <a:extLst>
              <a:ext uri="{FF2B5EF4-FFF2-40B4-BE49-F238E27FC236}">
                <a16:creationId xmlns:a16="http://schemas.microsoft.com/office/drawing/2014/main" id="{48DEFDF8-4233-43D1-ABC6-22926B0A171A}"/>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33" name="Text 31">
            <a:extLst>
              <a:ext uri="{FF2B5EF4-FFF2-40B4-BE49-F238E27FC236}">
                <a16:creationId xmlns:a16="http://schemas.microsoft.com/office/drawing/2014/main" id="{B6AAE201-650E-4F2F-8FFF-27F1A0DEDA4A}"/>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Tree>
    <p:extLst>
      <p:ext uri="{BB962C8B-B14F-4D97-AF65-F5344CB8AC3E}">
        <p14:creationId xmlns:p14="http://schemas.microsoft.com/office/powerpoint/2010/main" val="9683784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05CF088-86D1-4237-A8B6-86340931FA7C}"/>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847F890F-7C13-4F2A-84C6-BDC693CD35C7}"/>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7BB5CAB5-B296-4B90-B816-7720A845B7AF}"/>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93315444-6A06-4975-AAB4-F93BEAD99811}"/>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2FCAFC4E-8771-4726-B3C7-8BB4CF1BA10D}"/>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924EE4AA-ADBB-4B97-B2B8-D00FB2CB1693}"/>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7658BA90-9699-4AD7-B234-9BA2DF0BB11E}"/>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7F04B3A0-9ED9-4019-A5D3-4CE94D0DEC95}"/>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36</a:t>
            </a:r>
          </a:p>
        </p:txBody>
      </p:sp>
      <p:sp>
        <p:nvSpPr>
          <p:cNvPr id="10" name="Text 8">
            <a:extLst>
              <a:ext uri="{FF2B5EF4-FFF2-40B4-BE49-F238E27FC236}">
                <a16:creationId xmlns:a16="http://schemas.microsoft.com/office/drawing/2014/main" id="{BDFECAF7-7624-4B06-8A6D-78057E0F3E84}"/>
              </a:ext>
            </a:extLst>
          </p:cNvPr>
          <p:cNvSpPr>
            <a:spLocks noGrp="1"/>
          </p:cNvSpPr>
          <p:nvPr/>
        </p:nvSpPr>
        <p:spPr>
          <a:xfrm>
            <a:off x="658368" y="868680"/>
            <a:ext cx="10698480" cy="411480"/>
          </a:xfrm>
          <a:prstGeom prst="rect">
            <a:avLst/>
          </a:prstGeom>
          <a:noFill/>
        </p:spPr>
        <p:txBody>
          <a:bodyPr wrap="square" lIns="0" tIns="0" rIns="0" bIns="0" anchor="ctr">
            <a:normAutofit fontScale="91765" lnSpcReduction="20000"/>
          </a:bodyPr>
          <a:lstStyle/>
          <a:p>
            <a:pPr marL="0" indent="0">
              <a:buNone/>
            </a:pPr>
            <a:r>
              <a:rPr sz="3400" b="1">
                <a:solidFill>
                  <a:srgbClr val="07245A"/>
                </a:solidFill>
                <a:latin typeface="Aptos Display"/>
                <a:ea typeface="Aptos Display"/>
                <a:cs typeface="Aptos Display"/>
              </a:rPr>
              <a:t>El diseño físico envejece</a:t>
            </a:r>
          </a:p>
        </p:txBody>
      </p:sp>
      <p:sp>
        <p:nvSpPr>
          <p:cNvPr id="11" name="Shape 9">
            <a:extLst>
              <a:ext uri="{FF2B5EF4-FFF2-40B4-BE49-F238E27FC236}">
                <a16:creationId xmlns:a16="http://schemas.microsoft.com/office/drawing/2014/main" id="{E235F766-8095-40E7-8FB7-7BAB365E9F39}"/>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DCA4F053-8464-4768-A38C-A17DBDE4DE3E}"/>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Escrituras y cambios de distribución alteran el comportamiento.</a:t>
            </a:r>
          </a:p>
        </p:txBody>
      </p:sp>
      <p:sp>
        <p:nvSpPr>
          <p:cNvPr id="13" name="Shape 11">
            <a:extLst>
              <a:ext uri="{FF2B5EF4-FFF2-40B4-BE49-F238E27FC236}">
                <a16:creationId xmlns:a16="http://schemas.microsoft.com/office/drawing/2014/main" id="{C63EEA6D-0E00-40F3-9341-1FF53F90E8CA}"/>
              </a:ext>
            </a:extLst>
          </p:cNvPr>
          <p:cNvSpPr>
            <a:spLocks noGrp="1"/>
          </p:cNvSpPr>
          <p:nvPr/>
        </p:nvSpPr>
        <p:spPr>
          <a:xfrm>
            <a:off x="91440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14" name="Shape 12">
            <a:extLst>
              <a:ext uri="{FF2B5EF4-FFF2-40B4-BE49-F238E27FC236}">
                <a16:creationId xmlns:a16="http://schemas.microsoft.com/office/drawing/2014/main" id="{27906FF5-28C3-4BCE-9230-D8D754E343A5}"/>
              </a:ext>
            </a:extLst>
          </p:cNvPr>
          <p:cNvSpPr>
            <a:spLocks noGrp="1"/>
          </p:cNvSpPr>
          <p:nvPr/>
        </p:nvSpPr>
        <p:spPr>
          <a:xfrm>
            <a:off x="1078992" y="1984248"/>
            <a:ext cx="438912" cy="438912"/>
          </a:xfrm>
          <a:prstGeom prst="ellipse">
            <a:avLst/>
          </a:prstGeom>
          <a:solidFill>
            <a:srgbClr val="EAF8FC"/>
          </a:solidFill>
          <a:ln w="10160">
            <a:solidFill>
              <a:srgbClr val="D5EEF7"/>
            </a:solidFill>
            <a:prstDash val="solid"/>
          </a:ln>
        </p:spPr>
        <p:txBody>
          <a:bodyPr/>
          <a:lstStyle/>
          <a:p>
            <a:endParaRPr/>
          </a:p>
        </p:txBody>
      </p:sp>
      <p:sp>
        <p:nvSpPr>
          <p:cNvPr id="15" name="Text 13">
            <a:extLst>
              <a:ext uri="{FF2B5EF4-FFF2-40B4-BE49-F238E27FC236}">
                <a16:creationId xmlns:a16="http://schemas.microsoft.com/office/drawing/2014/main" id="{8E110575-9924-4A24-8884-A28E9FB4DF15}"/>
              </a:ext>
            </a:extLst>
          </p:cNvPr>
          <p:cNvSpPr>
            <a:spLocks noGrp="1"/>
          </p:cNvSpPr>
          <p:nvPr/>
        </p:nvSpPr>
        <p:spPr>
          <a:xfrm>
            <a:off x="1078992" y="2043684"/>
            <a:ext cx="438912" cy="228600"/>
          </a:xfrm>
          <a:prstGeom prst="rect">
            <a:avLst/>
          </a:prstGeom>
          <a:noFill/>
        </p:spPr>
        <p:txBody>
          <a:bodyPr wrap="square" lIns="0" tIns="0" rIns="0" bIns="0" anchor="ctr"/>
          <a:lstStyle/>
          <a:p>
            <a:pPr marL="0" indent="0" algn="ctr">
              <a:buNone/>
            </a:pPr>
            <a:r>
              <a:rPr sz="1550">
                <a:solidFill>
                  <a:srgbClr val="17B7D7"/>
                </a:solidFill>
              </a:rPr>
              <a:t>1</a:t>
            </a:r>
          </a:p>
        </p:txBody>
      </p:sp>
      <p:sp>
        <p:nvSpPr>
          <p:cNvPr id="16" name="Text 14">
            <a:extLst>
              <a:ext uri="{FF2B5EF4-FFF2-40B4-BE49-F238E27FC236}">
                <a16:creationId xmlns:a16="http://schemas.microsoft.com/office/drawing/2014/main" id="{1F68C214-B521-4066-9D3A-42A47BEA2852}"/>
              </a:ext>
            </a:extLst>
          </p:cNvPr>
          <p:cNvSpPr>
            <a:spLocks noGrp="1"/>
          </p:cNvSpPr>
          <p:nvPr/>
        </p:nvSpPr>
        <p:spPr>
          <a:xfrm>
            <a:off x="160020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Estadísticas</a:t>
            </a:r>
          </a:p>
        </p:txBody>
      </p:sp>
      <p:sp>
        <p:nvSpPr>
          <p:cNvPr id="17" name="Shape 15">
            <a:extLst>
              <a:ext uri="{FF2B5EF4-FFF2-40B4-BE49-F238E27FC236}">
                <a16:creationId xmlns:a16="http://schemas.microsoft.com/office/drawing/2014/main" id="{520B91C2-EF3C-4B81-A26F-17D73073C2AE}"/>
              </a:ext>
            </a:extLst>
          </p:cNvPr>
          <p:cNvSpPr>
            <a:spLocks noGrp="1"/>
          </p:cNvSpPr>
          <p:nvPr/>
        </p:nvSpPr>
        <p:spPr>
          <a:xfrm>
            <a:off x="1600200" y="2313432"/>
            <a:ext cx="411480" cy="0"/>
          </a:xfrm>
          <a:prstGeom prst="line">
            <a:avLst/>
          </a:prstGeom>
          <a:noFill/>
          <a:ln w="22860">
            <a:solidFill>
              <a:srgbClr val="17B7D7"/>
            </a:solidFill>
            <a:prstDash val="solid"/>
          </a:ln>
        </p:spPr>
        <p:txBody>
          <a:bodyPr/>
          <a:lstStyle/>
          <a:p>
            <a:endParaRPr/>
          </a:p>
        </p:txBody>
      </p:sp>
      <p:sp>
        <p:nvSpPr>
          <p:cNvPr id="18" name="Text 16">
            <a:extLst>
              <a:ext uri="{FF2B5EF4-FFF2-40B4-BE49-F238E27FC236}">
                <a16:creationId xmlns:a16="http://schemas.microsoft.com/office/drawing/2014/main" id="{B4396596-5CDA-4DBE-8878-C0F74DCD22B4}"/>
              </a:ext>
            </a:extLst>
          </p:cNvPr>
          <p:cNvSpPr>
            <a:spLocks noGrp="1"/>
          </p:cNvSpPr>
          <p:nvPr/>
        </p:nvSpPr>
        <p:spPr>
          <a:xfrm>
            <a:off x="111556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ANALYZE refleja la distribución actual.</a:t>
            </a:r>
          </a:p>
        </p:txBody>
      </p:sp>
      <p:sp>
        <p:nvSpPr>
          <p:cNvPr id="19" name="Shape 17">
            <a:extLst>
              <a:ext uri="{FF2B5EF4-FFF2-40B4-BE49-F238E27FC236}">
                <a16:creationId xmlns:a16="http://schemas.microsoft.com/office/drawing/2014/main" id="{8147991A-6C9F-439E-B048-C7F909634508}"/>
              </a:ext>
            </a:extLst>
          </p:cNvPr>
          <p:cNvSpPr>
            <a:spLocks noGrp="1"/>
          </p:cNvSpPr>
          <p:nvPr/>
        </p:nvSpPr>
        <p:spPr>
          <a:xfrm>
            <a:off x="452628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0" name="Shape 18">
            <a:extLst>
              <a:ext uri="{FF2B5EF4-FFF2-40B4-BE49-F238E27FC236}">
                <a16:creationId xmlns:a16="http://schemas.microsoft.com/office/drawing/2014/main" id="{9EF733E9-A002-4C96-90E6-E896672B3CFD}"/>
              </a:ext>
            </a:extLst>
          </p:cNvPr>
          <p:cNvSpPr>
            <a:spLocks noGrp="1"/>
          </p:cNvSpPr>
          <p:nvPr/>
        </p:nvSpPr>
        <p:spPr>
          <a:xfrm>
            <a:off x="4690872" y="1984248"/>
            <a:ext cx="438912" cy="438912"/>
          </a:xfrm>
          <a:prstGeom prst="ellipse">
            <a:avLst/>
          </a:prstGeom>
          <a:solidFill>
            <a:srgbClr val="EAF8FC"/>
          </a:solidFill>
          <a:ln w="10160">
            <a:solidFill>
              <a:srgbClr val="D5EEF7"/>
            </a:solidFill>
            <a:prstDash val="solid"/>
          </a:ln>
        </p:spPr>
        <p:txBody>
          <a:bodyPr/>
          <a:lstStyle/>
          <a:p>
            <a:endParaRPr/>
          </a:p>
        </p:txBody>
      </p:sp>
      <p:sp>
        <p:nvSpPr>
          <p:cNvPr id="21" name="Text 19">
            <a:extLst>
              <a:ext uri="{FF2B5EF4-FFF2-40B4-BE49-F238E27FC236}">
                <a16:creationId xmlns:a16="http://schemas.microsoft.com/office/drawing/2014/main" id="{9D24A6A4-8B9E-4BFB-81F6-61A64001216C}"/>
              </a:ext>
            </a:extLst>
          </p:cNvPr>
          <p:cNvSpPr>
            <a:spLocks noGrp="1"/>
          </p:cNvSpPr>
          <p:nvPr/>
        </p:nvSpPr>
        <p:spPr>
          <a:xfrm>
            <a:off x="4690872" y="2043684"/>
            <a:ext cx="438912" cy="228600"/>
          </a:xfrm>
          <a:prstGeom prst="rect">
            <a:avLst/>
          </a:prstGeom>
          <a:noFill/>
        </p:spPr>
        <p:txBody>
          <a:bodyPr wrap="square" lIns="0" tIns="0" rIns="0" bIns="0" anchor="ctr"/>
          <a:lstStyle/>
          <a:p>
            <a:pPr marL="0" indent="0" algn="ctr">
              <a:buNone/>
            </a:pPr>
            <a:r>
              <a:rPr sz="1550">
                <a:solidFill>
                  <a:srgbClr val="17B7D7"/>
                </a:solidFill>
              </a:rPr>
              <a:t>2</a:t>
            </a:r>
          </a:p>
        </p:txBody>
      </p:sp>
      <p:sp>
        <p:nvSpPr>
          <p:cNvPr id="22" name="Text 20">
            <a:extLst>
              <a:ext uri="{FF2B5EF4-FFF2-40B4-BE49-F238E27FC236}">
                <a16:creationId xmlns:a16="http://schemas.microsoft.com/office/drawing/2014/main" id="{53B490FB-80F7-46A0-9B9C-886B1DD8EBF9}"/>
              </a:ext>
            </a:extLst>
          </p:cNvPr>
          <p:cNvSpPr>
            <a:spLocks noGrp="1"/>
          </p:cNvSpPr>
          <p:nvPr/>
        </p:nvSpPr>
        <p:spPr>
          <a:xfrm>
            <a:off x="521208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Espacio</a:t>
            </a:r>
          </a:p>
        </p:txBody>
      </p:sp>
      <p:sp>
        <p:nvSpPr>
          <p:cNvPr id="23" name="Shape 21">
            <a:extLst>
              <a:ext uri="{FF2B5EF4-FFF2-40B4-BE49-F238E27FC236}">
                <a16:creationId xmlns:a16="http://schemas.microsoft.com/office/drawing/2014/main" id="{D3F3A3F9-DEBD-4625-95BC-DAAAB52868A2}"/>
              </a:ext>
            </a:extLst>
          </p:cNvPr>
          <p:cNvSpPr>
            <a:spLocks noGrp="1"/>
          </p:cNvSpPr>
          <p:nvPr/>
        </p:nvSpPr>
        <p:spPr>
          <a:xfrm>
            <a:off x="5212080" y="2313432"/>
            <a:ext cx="411480" cy="0"/>
          </a:xfrm>
          <a:prstGeom prst="line">
            <a:avLst/>
          </a:prstGeom>
          <a:noFill/>
          <a:ln w="22860">
            <a:solidFill>
              <a:srgbClr val="17B7D7"/>
            </a:solidFill>
            <a:prstDash val="solid"/>
          </a:ln>
        </p:spPr>
        <p:txBody>
          <a:bodyPr/>
          <a:lstStyle/>
          <a:p>
            <a:endParaRPr/>
          </a:p>
        </p:txBody>
      </p:sp>
      <p:sp>
        <p:nvSpPr>
          <p:cNvPr id="24" name="Text 22">
            <a:extLst>
              <a:ext uri="{FF2B5EF4-FFF2-40B4-BE49-F238E27FC236}">
                <a16:creationId xmlns:a16="http://schemas.microsoft.com/office/drawing/2014/main" id="{E9610762-B4D3-4DD8-9CCD-A0F730F6ECB5}"/>
              </a:ext>
            </a:extLst>
          </p:cNvPr>
          <p:cNvSpPr>
            <a:spLocks noGrp="1"/>
          </p:cNvSpPr>
          <p:nvPr/>
        </p:nvSpPr>
        <p:spPr>
          <a:xfrm>
            <a:off x="472744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VACUUM reutiliza versiones muertas; vigilar bloat.</a:t>
            </a:r>
          </a:p>
        </p:txBody>
      </p:sp>
      <p:sp>
        <p:nvSpPr>
          <p:cNvPr id="25" name="Shape 23">
            <a:extLst>
              <a:ext uri="{FF2B5EF4-FFF2-40B4-BE49-F238E27FC236}">
                <a16:creationId xmlns:a16="http://schemas.microsoft.com/office/drawing/2014/main" id="{CCEF4718-176D-45F0-B2D4-BF2C7E320CBA}"/>
              </a:ext>
            </a:extLst>
          </p:cNvPr>
          <p:cNvSpPr>
            <a:spLocks noGrp="1"/>
          </p:cNvSpPr>
          <p:nvPr/>
        </p:nvSpPr>
        <p:spPr>
          <a:xfrm>
            <a:off x="8138160" y="1828800"/>
            <a:ext cx="3108960" cy="2240280"/>
          </a:xfrm>
          <a:prstGeom prst="roundRect">
            <a:avLst>
              <a:gd name="adj" fmla="val 3265"/>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6" name="Shape 24">
            <a:extLst>
              <a:ext uri="{FF2B5EF4-FFF2-40B4-BE49-F238E27FC236}">
                <a16:creationId xmlns:a16="http://schemas.microsoft.com/office/drawing/2014/main" id="{8D44E5AE-8A67-4853-B244-F81052A007F4}"/>
              </a:ext>
            </a:extLst>
          </p:cNvPr>
          <p:cNvSpPr>
            <a:spLocks noGrp="1"/>
          </p:cNvSpPr>
          <p:nvPr/>
        </p:nvSpPr>
        <p:spPr>
          <a:xfrm>
            <a:off x="8302752" y="1984248"/>
            <a:ext cx="438912" cy="438912"/>
          </a:xfrm>
          <a:prstGeom prst="ellipse">
            <a:avLst/>
          </a:prstGeom>
          <a:solidFill>
            <a:srgbClr val="EAF8FC"/>
          </a:solidFill>
          <a:ln w="10160">
            <a:solidFill>
              <a:srgbClr val="D5EEF7"/>
            </a:solidFill>
            <a:prstDash val="solid"/>
          </a:ln>
        </p:spPr>
        <p:txBody>
          <a:bodyPr/>
          <a:lstStyle/>
          <a:p>
            <a:endParaRPr/>
          </a:p>
        </p:txBody>
      </p:sp>
      <p:sp>
        <p:nvSpPr>
          <p:cNvPr id="27" name="Text 25">
            <a:extLst>
              <a:ext uri="{FF2B5EF4-FFF2-40B4-BE49-F238E27FC236}">
                <a16:creationId xmlns:a16="http://schemas.microsoft.com/office/drawing/2014/main" id="{1E839E76-0723-4E97-92D6-AA1B56FF2E71}"/>
              </a:ext>
            </a:extLst>
          </p:cNvPr>
          <p:cNvSpPr>
            <a:spLocks noGrp="1"/>
          </p:cNvSpPr>
          <p:nvPr/>
        </p:nvSpPr>
        <p:spPr>
          <a:xfrm>
            <a:off x="8302752" y="2043684"/>
            <a:ext cx="438912" cy="228600"/>
          </a:xfrm>
          <a:prstGeom prst="rect">
            <a:avLst/>
          </a:prstGeom>
          <a:noFill/>
        </p:spPr>
        <p:txBody>
          <a:bodyPr wrap="square" lIns="0" tIns="0" rIns="0" bIns="0" anchor="ctr"/>
          <a:lstStyle/>
          <a:p>
            <a:pPr marL="0" indent="0" algn="ctr">
              <a:buNone/>
            </a:pPr>
            <a:r>
              <a:rPr sz="1550">
                <a:solidFill>
                  <a:srgbClr val="17B7D7"/>
                </a:solidFill>
              </a:rPr>
              <a:t>3</a:t>
            </a:r>
          </a:p>
        </p:txBody>
      </p:sp>
      <p:sp>
        <p:nvSpPr>
          <p:cNvPr id="28" name="Text 26">
            <a:extLst>
              <a:ext uri="{FF2B5EF4-FFF2-40B4-BE49-F238E27FC236}">
                <a16:creationId xmlns:a16="http://schemas.microsoft.com/office/drawing/2014/main" id="{39EAD97E-ACE2-4547-A6C7-EC305192AC81}"/>
              </a:ext>
            </a:extLst>
          </p:cNvPr>
          <p:cNvSpPr>
            <a:spLocks noGrp="1"/>
          </p:cNvSpPr>
          <p:nvPr/>
        </p:nvSpPr>
        <p:spPr>
          <a:xfrm>
            <a:off x="8823960" y="1993392"/>
            <a:ext cx="2286000" cy="256032"/>
          </a:xfrm>
          <a:prstGeom prst="rect">
            <a:avLst/>
          </a:prstGeom>
          <a:noFill/>
        </p:spPr>
        <p:txBody>
          <a:bodyPr wrap="square" lIns="0" tIns="0" rIns="0" bIns="0" anchor="ctr">
            <a:normAutofit/>
          </a:bodyPr>
          <a:lstStyle/>
          <a:p>
            <a:pPr marL="0" indent="0">
              <a:buNone/>
            </a:pPr>
            <a:r>
              <a:rPr sz="1600" b="1">
                <a:solidFill>
                  <a:srgbClr val="07245A"/>
                </a:solidFill>
              </a:rPr>
              <a:t>Índices</a:t>
            </a:r>
          </a:p>
        </p:txBody>
      </p:sp>
      <p:sp>
        <p:nvSpPr>
          <p:cNvPr id="29" name="Shape 27">
            <a:extLst>
              <a:ext uri="{FF2B5EF4-FFF2-40B4-BE49-F238E27FC236}">
                <a16:creationId xmlns:a16="http://schemas.microsoft.com/office/drawing/2014/main" id="{FCA73888-782F-4505-B3DD-DA63AA7D156F}"/>
              </a:ext>
            </a:extLst>
          </p:cNvPr>
          <p:cNvSpPr>
            <a:spLocks noGrp="1"/>
          </p:cNvSpPr>
          <p:nvPr/>
        </p:nvSpPr>
        <p:spPr>
          <a:xfrm>
            <a:off x="8823960" y="2313432"/>
            <a:ext cx="411480" cy="0"/>
          </a:xfrm>
          <a:prstGeom prst="line">
            <a:avLst/>
          </a:prstGeom>
          <a:noFill/>
          <a:ln w="22860">
            <a:solidFill>
              <a:srgbClr val="17B7D7"/>
            </a:solidFill>
            <a:prstDash val="solid"/>
          </a:ln>
        </p:spPr>
        <p:txBody>
          <a:bodyPr/>
          <a:lstStyle/>
          <a:p>
            <a:endParaRPr/>
          </a:p>
        </p:txBody>
      </p:sp>
      <p:sp>
        <p:nvSpPr>
          <p:cNvPr id="30" name="Text 28">
            <a:extLst>
              <a:ext uri="{FF2B5EF4-FFF2-40B4-BE49-F238E27FC236}">
                <a16:creationId xmlns:a16="http://schemas.microsoft.com/office/drawing/2014/main" id="{DD936180-33BC-4320-BA9F-81FA74FC0275}"/>
              </a:ext>
            </a:extLst>
          </p:cNvPr>
          <p:cNvSpPr>
            <a:spLocks noGrp="1"/>
          </p:cNvSpPr>
          <p:nvPr/>
        </p:nvSpPr>
        <p:spPr>
          <a:xfrm>
            <a:off x="8339328" y="2487168"/>
            <a:ext cx="2706624" cy="1490472"/>
          </a:xfrm>
          <a:prstGeom prst="rect">
            <a:avLst/>
          </a:prstGeom>
          <a:noFill/>
        </p:spPr>
        <p:txBody>
          <a:bodyPr wrap="square" lIns="381" tIns="381" rIns="381" bIns="381" anchor="ctr">
            <a:normAutofit/>
          </a:bodyPr>
          <a:lstStyle/>
          <a:p>
            <a:pPr marL="0" indent="0">
              <a:buNone/>
            </a:pPr>
            <a:r>
              <a:rPr sz="1400">
                <a:solidFill>
                  <a:srgbClr val="17212B"/>
                </a:solidFill>
              </a:rPr>
              <a:t>Revisar uso, fragmentación y costo de mantenimiento.</a:t>
            </a:r>
          </a:p>
        </p:txBody>
      </p:sp>
      <p:sp>
        <p:nvSpPr>
          <p:cNvPr id="31" name="Text 29">
            <a:extLst>
              <a:ext uri="{FF2B5EF4-FFF2-40B4-BE49-F238E27FC236}">
                <a16:creationId xmlns:a16="http://schemas.microsoft.com/office/drawing/2014/main" id="{5BD4C6CA-B995-4864-9406-0372256BA931}"/>
              </a:ext>
            </a:extLst>
          </p:cNvPr>
          <p:cNvSpPr>
            <a:spLocks noGrp="1"/>
          </p:cNvSpPr>
          <p:nvPr/>
        </p:nvSpPr>
        <p:spPr>
          <a:xfrm>
            <a:off x="914400" y="4800600"/>
            <a:ext cx="10332720" cy="411480"/>
          </a:xfrm>
          <a:prstGeom prst="rect">
            <a:avLst/>
          </a:prstGeom>
          <a:noFill/>
        </p:spPr>
        <p:txBody>
          <a:bodyPr wrap="square" anchor="ctr"/>
          <a:lstStyle/>
          <a:p>
            <a:pPr marL="0" indent="0" algn="ctr">
              <a:buNone/>
            </a:pPr>
            <a:r>
              <a:rPr sz="1800" b="1">
                <a:solidFill>
                  <a:srgbClr val="07245A"/>
                </a:solidFill>
              </a:rPr>
              <a:t>Diseñar también es observar, mantener y retirar estructuras.</a:t>
            </a:r>
          </a:p>
        </p:txBody>
      </p:sp>
      <p:sp>
        <p:nvSpPr>
          <p:cNvPr id="32" name="Shape 30">
            <a:extLst>
              <a:ext uri="{FF2B5EF4-FFF2-40B4-BE49-F238E27FC236}">
                <a16:creationId xmlns:a16="http://schemas.microsoft.com/office/drawing/2014/main" id="{48DEFDF8-4233-43D1-ABC6-22926B0A171A}"/>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33" name="Text 31">
            <a:extLst>
              <a:ext uri="{FF2B5EF4-FFF2-40B4-BE49-F238E27FC236}">
                <a16:creationId xmlns:a16="http://schemas.microsoft.com/office/drawing/2014/main" id="{B6AAE201-650E-4F2F-8FFF-27F1A0DEDA4A}"/>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Tree>
    <p:extLst>
      <p:ext uri="{BB962C8B-B14F-4D97-AF65-F5344CB8AC3E}">
        <p14:creationId xmlns:p14="http://schemas.microsoft.com/office/powerpoint/2010/main" val="9683784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4004FBF0-BE43-42B8-8BE9-14DF8B02F893}"/>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750D06FD-4C3C-473D-9311-882151ED7F41}"/>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4C1D3ADF-5954-4B99-A1B8-70228A8E0CEC}"/>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2CB7C202-7F50-48CA-A7FB-89EE8573A457}"/>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86010E07-5FCF-468B-837C-EA39AFFFB0A1}"/>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B08C5284-7191-49F4-9460-741AD4D19E85}"/>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A90C6D95-9E2A-4CFD-8010-B6C57776E726}"/>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2A8E02A7-409F-438A-882C-B19045A9F201}"/>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37</a:t>
            </a:r>
          </a:p>
        </p:txBody>
      </p:sp>
      <p:sp>
        <p:nvSpPr>
          <p:cNvPr id="10" name="Text 8">
            <a:extLst>
              <a:ext uri="{FF2B5EF4-FFF2-40B4-BE49-F238E27FC236}">
                <a16:creationId xmlns:a16="http://schemas.microsoft.com/office/drawing/2014/main" id="{81671ABD-48EF-408D-8FF6-693F511B0897}"/>
              </a:ext>
            </a:extLst>
          </p:cNvPr>
          <p:cNvSpPr>
            <a:spLocks noGrp="1"/>
          </p:cNvSpPr>
          <p:nvPr/>
        </p:nvSpPr>
        <p:spPr>
          <a:xfrm>
            <a:off x="658368" y="868680"/>
            <a:ext cx="10698480" cy="411480"/>
          </a:xfrm>
          <a:prstGeom prst="rect">
            <a:avLst/>
          </a:prstGeom>
          <a:noFill/>
        </p:spPr>
        <p:txBody>
          <a:bodyPr wrap="square" lIns="0" tIns="0" rIns="0" bIns="0" anchor="ctr">
            <a:normAutofit fontScale="92500"/>
          </a:bodyPr>
          <a:lstStyle/>
          <a:p>
            <a:pPr marL="0" indent="0">
              <a:buNone/>
            </a:pPr>
            <a:r>
              <a:rPr sz="3000" b="1">
                <a:solidFill>
                  <a:srgbClr val="07245A"/>
                </a:solidFill>
                <a:latin typeface="Aptos Display"/>
                <a:ea typeface="Aptos Display"/>
                <a:cs typeface="Aptos Display"/>
              </a:rPr>
              <a:t>Antes de cambiar, identificar la causa</a:t>
            </a:r>
          </a:p>
        </p:txBody>
      </p:sp>
      <p:sp>
        <p:nvSpPr>
          <p:cNvPr id="11" name="Shape 9">
            <a:extLst>
              <a:ext uri="{FF2B5EF4-FFF2-40B4-BE49-F238E27FC236}">
                <a16:creationId xmlns:a16="http://schemas.microsoft.com/office/drawing/2014/main" id="{92075AB0-9E06-4451-AC74-855D946BF47D}"/>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78DED375-AE42-4756-88D7-A5101E826AE9}"/>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La evidencia orienta la clase de intervención.</a:t>
            </a:r>
          </a:p>
        </p:txBody>
      </p:sp>
      <p:sp>
        <p:nvSpPr>
          <p:cNvPr id="13" name="Shape 11">
            <a:extLst>
              <a:ext uri="{FF2B5EF4-FFF2-40B4-BE49-F238E27FC236}">
                <a16:creationId xmlns:a16="http://schemas.microsoft.com/office/drawing/2014/main" id="{62A1C37B-DDFF-4B7F-B4D1-5FEFA1515986}"/>
              </a:ext>
            </a:extLst>
          </p:cNvPr>
          <p:cNvSpPr>
            <a:spLocks noGrp="1"/>
          </p:cNvSpPr>
          <p:nvPr/>
        </p:nvSpPr>
        <p:spPr>
          <a:xfrm>
            <a:off x="640080" y="1874520"/>
            <a:ext cx="1965960" cy="2057400"/>
          </a:xfrm>
          <a:prstGeom prst="roundRect">
            <a:avLst>
              <a:gd name="adj" fmla="val 3721"/>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14" name="Shape 12">
            <a:extLst>
              <a:ext uri="{FF2B5EF4-FFF2-40B4-BE49-F238E27FC236}">
                <a16:creationId xmlns:a16="http://schemas.microsoft.com/office/drawing/2014/main" id="{CBC4FE0C-8C8B-4B13-9064-7033E5781334}"/>
              </a:ext>
            </a:extLst>
          </p:cNvPr>
          <p:cNvSpPr>
            <a:spLocks noGrp="1"/>
          </p:cNvSpPr>
          <p:nvPr/>
        </p:nvSpPr>
        <p:spPr>
          <a:xfrm>
            <a:off x="804672" y="2029968"/>
            <a:ext cx="438912" cy="438912"/>
          </a:xfrm>
          <a:prstGeom prst="ellipse">
            <a:avLst/>
          </a:prstGeom>
          <a:solidFill>
            <a:srgbClr val="EAF8FC"/>
          </a:solidFill>
          <a:ln w="10160">
            <a:solidFill>
              <a:srgbClr val="D5EEF7"/>
            </a:solidFill>
            <a:prstDash val="solid"/>
          </a:ln>
        </p:spPr>
        <p:txBody>
          <a:bodyPr/>
          <a:lstStyle/>
          <a:p>
            <a:endParaRPr/>
          </a:p>
        </p:txBody>
      </p:sp>
      <p:sp>
        <p:nvSpPr>
          <p:cNvPr id="15" name="Text 13">
            <a:extLst>
              <a:ext uri="{FF2B5EF4-FFF2-40B4-BE49-F238E27FC236}">
                <a16:creationId xmlns:a16="http://schemas.microsoft.com/office/drawing/2014/main" id="{4999732D-FDDD-4DBE-BF95-DACD81B2EC4F}"/>
              </a:ext>
            </a:extLst>
          </p:cNvPr>
          <p:cNvSpPr>
            <a:spLocks noGrp="1"/>
          </p:cNvSpPr>
          <p:nvPr/>
        </p:nvSpPr>
        <p:spPr>
          <a:xfrm>
            <a:off x="804672" y="2089404"/>
            <a:ext cx="438912" cy="228600"/>
          </a:xfrm>
          <a:prstGeom prst="rect">
            <a:avLst/>
          </a:prstGeom>
          <a:noFill/>
        </p:spPr>
        <p:txBody>
          <a:bodyPr wrap="square" lIns="0" tIns="0" rIns="0" bIns="0" anchor="ctr"/>
          <a:lstStyle/>
          <a:p>
            <a:pPr marL="0" indent="0" algn="ctr">
              <a:buNone/>
            </a:pPr>
            <a:r>
              <a:rPr sz="1550">
                <a:solidFill>
                  <a:srgbClr val="17B7D7"/>
                </a:solidFill>
              </a:rPr>
              <a:t>1</a:t>
            </a:r>
          </a:p>
        </p:txBody>
      </p:sp>
      <p:sp>
        <p:nvSpPr>
          <p:cNvPr id="16" name="Text 14">
            <a:extLst>
              <a:ext uri="{FF2B5EF4-FFF2-40B4-BE49-F238E27FC236}">
                <a16:creationId xmlns:a16="http://schemas.microsoft.com/office/drawing/2014/main" id="{55DB74F9-1EEA-49D6-95B8-CF5F7BB3D0EA}"/>
              </a:ext>
            </a:extLst>
          </p:cNvPr>
          <p:cNvSpPr>
            <a:spLocks noGrp="1"/>
          </p:cNvSpPr>
          <p:nvPr/>
        </p:nvSpPr>
        <p:spPr>
          <a:xfrm>
            <a:off x="1325880" y="2039112"/>
            <a:ext cx="1143000" cy="256032"/>
          </a:xfrm>
          <a:prstGeom prst="rect">
            <a:avLst/>
          </a:prstGeom>
          <a:noFill/>
        </p:spPr>
        <p:txBody>
          <a:bodyPr wrap="square" lIns="0" tIns="0" rIns="0" bIns="0" anchor="ctr">
            <a:normAutofit fontScale="77130" lnSpcReduction="20000"/>
          </a:bodyPr>
          <a:lstStyle/>
          <a:p>
            <a:pPr marL="0" indent="0">
              <a:buNone/>
            </a:pPr>
            <a:r>
              <a:rPr sz="1600" b="1">
                <a:solidFill>
                  <a:srgbClr val="07245A"/>
                </a:solidFill>
              </a:rPr>
              <a:t>Muchas páginas</a:t>
            </a:r>
          </a:p>
        </p:txBody>
      </p:sp>
      <p:sp>
        <p:nvSpPr>
          <p:cNvPr id="17" name="Shape 15">
            <a:extLst>
              <a:ext uri="{FF2B5EF4-FFF2-40B4-BE49-F238E27FC236}">
                <a16:creationId xmlns:a16="http://schemas.microsoft.com/office/drawing/2014/main" id="{0CE98EB1-1BCD-485E-9A65-E17C7C997392}"/>
              </a:ext>
            </a:extLst>
          </p:cNvPr>
          <p:cNvSpPr>
            <a:spLocks noGrp="1"/>
          </p:cNvSpPr>
          <p:nvPr/>
        </p:nvSpPr>
        <p:spPr>
          <a:xfrm>
            <a:off x="1325880" y="2359152"/>
            <a:ext cx="411480" cy="0"/>
          </a:xfrm>
          <a:prstGeom prst="line">
            <a:avLst/>
          </a:prstGeom>
          <a:noFill/>
          <a:ln w="22860">
            <a:solidFill>
              <a:srgbClr val="17B7D7"/>
            </a:solidFill>
            <a:prstDash val="solid"/>
          </a:ln>
        </p:spPr>
        <p:txBody>
          <a:bodyPr/>
          <a:lstStyle/>
          <a:p>
            <a:endParaRPr/>
          </a:p>
        </p:txBody>
      </p:sp>
      <p:sp>
        <p:nvSpPr>
          <p:cNvPr id="18" name="Text 16">
            <a:extLst>
              <a:ext uri="{FF2B5EF4-FFF2-40B4-BE49-F238E27FC236}">
                <a16:creationId xmlns:a16="http://schemas.microsoft.com/office/drawing/2014/main" id="{72EE3412-64C0-4F6E-819F-EE0037424C3B}"/>
              </a:ext>
            </a:extLst>
          </p:cNvPr>
          <p:cNvSpPr>
            <a:spLocks noGrp="1"/>
          </p:cNvSpPr>
          <p:nvPr/>
        </p:nvSpPr>
        <p:spPr>
          <a:xfrm>
            <a:off x="841248" y="2532888"/>
            <a:ext cx="1563624" cy="1307592"/>
          </a:xfrm>
          <a:prstGeom prst="rect">
            <a:avLst/>
          </a:prstGeom>
          <a:noFill/>
        </p:spPr>
        <p:txBody>
          <a:bodyPr wrap="square" lIns="381" tIns="381" rIns="381" bIns="381" anchor="ctr">
            <a:normAutofit/>
          </a:bodyPr>
          <a:lstStyle/>
          <a:p>
            <a:pPr marL="0" indent="0">
              <a:buNone/>
            </a:pPr>
            <a:r>
              <a:rPr sz="1800" dirty="0" err="1">
                <a:solidFill>
                  <a:srgbClr val="17212B"/>
                </a:solidFill>
              </a:rPr>
              <a:t>Índice</a:t>
            </a:r>
            <a:r>
              <a:rPr sz="1800" dirty="0">
                <a:solidFill>
                  <a:srgbClr val="17212B"/>
                </a:solidFill>
              </a:rPr>
              <a:t>, l</a:t>
            </a:r>
            <a:r>
              <a:rPr lang="es-MX" sz="1800" dirty="0">
                <a:solidFill>
                  <a:srgbClr val="17212B"/>
                </a:solidFill>
              </a:rPr>
              <a:t>ubicación</a:t>
            </a:r>
            <a:r>
              <a:rPr sz="1800" dirty="0">
                <a:solidFill>
                  <a:srgbClr val="17212B"/>
                </a:solidFill>
              </a:rPr>
              <a:t> o </a:t>
            </a:r>
            <a:r>
              <a:rPr sz="1800" dirty="0" err="1">
                <a:solidFill>
                  <a:srgbClr val="17212B"/>
                </a:solidFill>
              </a:rPr>
              <a:t>partición</a:t>
            </a:r>
            <a:endParaRPr sz="1800" dirty="0">
              <a:solidFill>
                <a:srgbClr val="17212B"/>
              </a:solidFill>
            </a:endParaRPr>
          </a:p>
        </p:txBody>
      </p:sp>
      <p:sp>
        <p:nvSpPr>
          <p:cNvPr id="19" name="Shape 17">
            <a:extLst>
              <a:ext uri="{FF2B5EF4-FFF2-40B4-BE49-F238E27FC236}">
                <a16:creationId xmlns:a16="http://schemas.microsoft.com/office/drawing/2014/main" id="{DD9FB6DD-2D0D-4AAC-96E4-9FD9BF63D0C0}"/>
              </a:ext>
            </a:extLst>
          </p:cNvPr>
          <p:cNvSpPr>
            <a:spLocks noGrp="1"/>
          </p:cNvSpPr>
          <p:nvPr/>
        </p:nvSpPr>
        <p:spPr>
          <a:xfrm>
            <a:off x="2926080" y="1874520"/>
            <a:ext cx="1965960" cy="2057400"/>
          </a:xfrm>
          <a:prstGeom prst="roundRect">
            <a:avLst>
              <a:gd name="adj" fmla="val 3721"/>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0" name="Shape 18">
            <a:extLst>
              <a:ext uri="{FF2B5EF4-FFF2-40B4-BE49-F238E27FC236}">
                <a16:creationId xmlns:a16="http://schemas.microsoft.com/office/drawing/2014/main" id="{9EF1F276-EC4C-4D22-89D9-E657F37503C4}"/>
              </a:ext>
            </a:extLst>
          </p:cNvPr>
          <p:cNvSpPr>
            <a:spLocks noGrp="1"/>
          </p:cNvSpPr>
          <p:nvPr/>
        </p:nvSpPr>
        <p:spPr>
          <a:xfrm>
            <a:off x="3090672" y="2029968"/>
            <a:ext cx="438912" cy="438912"/>
          </a:xfrm>
          <a:prstGeom prst="ellipse">
            <a:avLst/>
          </a:prstGeom>
          <a:solidFill>
            <a:srgbClr val="EAF8FC"/>
          </a:solidFill>
          <a:ln w="10160">
            <a:solidFill>
              <a:srgbClr val="D5EEF7"/>
            </a:solidFill>
            <a:prstDash val="solid"/>
          </a:ln>
        </p:spPr>
        <p:txBody>
          <a:bodyPr/>
          <a:lstStyle/>
          <a:p>
            <a:endParaRPr/>
          </a:p>
        </p:txBody>
      </p:sp>
      <p:sp>
        <p:nvSpPr>
          <p:cNvPr id="21" name="Text 19">
            <a:extLst>
              <a:ext uri="{FF2B5EF4-FFF2-40B4-BE49-F238E27FC236}">
                <a16:creationId xmlns:a16="http://schemas.microsoft.com/office/drawing/2014/main" id="{F231A8AF-D147-4B97-BF26-CE52CFC190FC}"/>
              </a:ext>
            </a:extLst>
          </p:cNvPr>
          <p:cNvSpPr>
            <a:spLocks noGrp="1"/>
          </p:cNvSpPr>
          <p:nvPr/>
        </p:nvSpPr>
        <p:spPr>
          <a:xfrm>
            <a:off x="3090672" y="2089404"/>
            <a:ext cx="438912" cy="228600"/>
          </a:xfrm>
          <a:prstGeom prst="rect">
            <a:avLst/>
          </a:prstGeom>
          <a:noFill/>
        </p:spPr>
        <p:txBody>
          <a:bodyPr wrap="square" lIns="0" tIns="0" rIns="0" bIns="0" anchor="ctr"/>
          <a:lstStyle/>
          <a:p>
            <a:pPr marL="0" indent="0" algn="ctr">
              <a:buNone/>
            </a:pPr>
            <a:r>
              <a:rPr sz="1550">
                <a:solidFill>
                  <a:srgbClr val="17B7D7"/>
                </a:solidFill>
              </a:rPr>
              <a:t>2</a:t>
            </a:r>
          </a:p>
        </p:txBody>
      </p:sp>
      <p:sp>
        <p:nvSpPr>
          <p:cNvPr id="22" name="Text 20">
            <a:extLst>
              <a:ext uri="{FF2B5EF4-FFF2-40B4-BE49-F238E27FC236}">
                <a16:creationId xmlns:a16="http://schemas.microsoft.com/office/drawing/2014/main" id="{47998F5D-0E17-4C43-B9F3-00E773C50045}"/>
              </a:ext>
            </a:extLst>
          </p:cNvPr>
          <p:cNvSpPr>
            <a:spLocks noGrp="1"/>
          </p:cNvSpPr>
          <p:nvPr/>
        </p:nvSpPr>
        <p:spPr>
          <a:xfrm>
            <a:off x="3611880" y="2039112"/>
            <a:ext cx="1143000" cy="256032"/>
          </a:xfrm>
          <a:prstGeom prst="rect">
            <a:avLst/>
          </a:prstGeom>
          <a:noFill/>
        </p:spPr>
        <p:txBody>
          <a:bodyPr wrap="square" lIns="0" tIns="0" rIns="0" bIns="0" anchor="ctr">
            <a:normAutofit fontScale="92500" lnSpcReduction="10000"/>
          </a:bodyPr>
          <a:lstStyle/>
          <a:p>
            <a:pPr marL="0" indent="0">
              <a:buNone/>
            </a:pPr>
            <a:r>
              <a:rPr sz="1600" b="1">
                <a:solidFill>
                  <a:srgbClr val="07245A"/>
                </a:solidFill>
              </a:rPr>
              <a:t>Filas anchas</a:t>
            </a:r>
          </a:p>
        </p:txBody>
      </p:sp>
      <p:sp>
        <p:nvSpPr>
          <p:cNvPr id="23" name="Shape 21">
            <a:extLst>
              <a:ext uri="{FF2B5EF4-FFF2-40B4-BE49-F238E27FC236}">
                <a16:creationId xmlns:a16="http://schemas.microsoft.com/office/drawing/2014/main" id="{E0CFE46E-1A38-4050-877C-AE3DA43933B4}"/>
              </a:ext>
            </a:extLst>
          </p:cNvPr>
          <p:cNvSpPr>
            <a:spLocks noGrp="1"/>
          </p:cNvSpPr>
          <p:nvPr/>
        </p:nvSpPr>
        <p:spPr>
          <a:xfrm>
            <a:off x="3611880" y="2359152"/>
            <a:ext cx="411480" cy="0"/>
          </a:xfrm>
          <a:prstGeom prst="line">
            <a:avLst/>
          </a:prstGeom>
          <a:noFill/>
          <a:ln w="22860">
            <a:solidFill>
              <a:srgbClr val="17B7D7"/>
            </a:solidFill>
            <a:prstDash val="solid"/>
          </a:ln>
        </p:spPr>
        <p:txBody>
          <a:bodyPr/>
          <a:lstStyle/>
          <a:p>
            <a:endParaRPr/>
          </a:p>
        </p:txBody>
      </p:sp>
      <p:sp>
        <p:nvSpPr>
          <p:cNvPr id="24" name="Text 22">
            <a:extLst>
              <a:ext uri="{FF2B5EF4-FFF2-40B4-BE49-F238E27FC236}">
                <a16:creationId xmlns:a16="http://schemas.microsoft.com/office/drawing/2014/main" id="{7A49D0C5-3D39-4F7E-9467-AD1CCD659292}"/>
              </a:ext>
            </a:extLst>
          </p:cNvPr>
          <p:cNvSpPr>
            <a:spLocks noGrp="1"/>
          </p:cNvSpPr>
          <p:nvPr/>
        </p:nvSpPr>
        <p:spPr>
          <a:xfrm>
            <a:off x="3127248" y="2532888"/>
            <a:ext cx="1563624" cy="1307592"/>
          </a:xfrm>
          <a:prstGeom prst="rect">
            <a:avLst/>
          </a:prstGeom>
          <a:noFill/>
        </p:spPr>
        <p:txBody>
          <a:bodyPr wrap="square" lIns="381" tIns="381" rIns="381" bIns="381" anchor="ctr">
            <a:normAutofit/>
          </a:bodyPr>
          <a:lstStyle/>
          <a:p>
            <a:pPr marL="0" indent="0">
              <a:buNone/>
            </a:pPr>
            <a:r>
              <a:rPr sz="1800">
                <a:solidFill>
                  <a:srgbClr val="17212B"/>
                </a:solidFill>
              </a:rPr>
              <a:t>Tipos, compresión o proyección</a:t>
            </a:r>
          </a:p>
        </p:txBody>
      </p:sp>
      <p:sp>
        <p:nvSpPr>
          <p:cNvPr id="25" name="Shape 23">
            <a:extLst>
              <a:ext uri="{FF2B5EF4-FFF2-40B4-BE49-F238E27FC236}">
                <a16:creationId xmlns:a16="http://schemas.microsoft.com/office/drawing/2014/main" id="{F38DDCAE-D3CE-496C-82B1-C2B017F5C9A7}"/>
              </a:ext>
            </a:extLst>
          </p:cNvPr>
          <p:cNvSpPr>
            <a:spLocks noGrp="1"/>
          </p:cNvSpPr>
          <p:nvPr/>
        </p:nvSpPr>
        <p:spPr>
          <a:xfrm>
            <a:off x="5212080" y="1874520"/>
            <a:ext cx="1965960" cy="2057400"/>
          </a:xfrm>
          <a:prstGeom prst="roundRect">
            <a:avLst>
              <a:gd name="adj" fmla="val 3721"/>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6" name="Shape 24">
            <a:extLst>
              <a:ext uri="{FF2B5EF4-FFF2-40B4-BE49-F238E27FC236}">
                <a16:creationId xmlns:a16="http://schemas.microsoft.com/office/drawing/2014/main" id="{BA7AA24C-DD0D-4B9B-BB4A-6FCF023E46AF}"/>
              </a:ext>
            </a:extLst>
          </p:cNvPr>
          <p:cNvSpPr>
            <a:spLocks noGrp="1"/>
          </p:cNvSpPr>
          <p:nvPr/>
        </p:nvSpPr>
        <p:spPr>
          <a:xfrm>
            <a:off x="5376672" y="2029968"/>
            <a:ext cx="438912" cy="438912"/>
          </a:xfrm>
          <a:prstGeom prst="ellipse">
            <a:avLst/>
          </a:prstGeom>
          <a:solidFill>
            <a:srgbClr val="EAF8FC"/>
          </a:solidFill>
          <a:ln w="10160">
            <a:solidFill>
              <a:srgbClr val="D5EEF7"/>
            </a:solidFill>
            <a:prstDash val="solid"/>
          </a:ln>
        </p:spPr>
        <p:txBody>
          <a:bodyPr/>
          <a:lstStyle/>
          <a:p>
            <a:endParaRPr/>
          </a:p>
        </p:txBody>
      </p:sp>
      <p:sp>
        <p:nvSpPr>
          <p:cNvPr id="27" name="Text 25">
            <a:extLst>
              <a:ext uri="{FF2B5EF4-FFF2-40B4-BE49-F238E27FC236}">
                <a16:creationId xmlns:a16="http://schemas.microsoft.com/office/drawing/2014/main" id="{19CCF640-CEBC-4CF8-87B2-D8243079A673}"/>
              </a:ext>
            </a:extLst>
          </p:cNvPr>
          <p:cNvSpPr>
            <a:spLocks noGrp="1"/>
          </p:cNvSpPr>
          <p:nvPr/>
        </p:nvSpPr>
        <p:spPr>
          <a:xfrm>
            <a:off x="5376672" y="2089404"/>
            <a:ext cx="438912" cy="228600"/>
          </a:xfrm>
          <a:prstGeom prst="rect">
            <a:avLst/>
          </a:prstGeom>
          <a:noFill/>
        </p:spPr>
        <p:txBody>
          <a:bodyPr wrap="square" lIns="0" tIns="0" rIns="0" bIns="0" anchor="ctr"/>
          <a:lstStyle/>
          <a:p>
            <a:pPr marL="0" indent="0" algn="ctr">
              <a:buNone/>
            </a:pPr>
            <a:r>
              <a:rPr sz="1550">
                <a:solidFill>
                  <a:srgbClr val="17B7D7"/>
                </a:solidFill>
              </a:rPr>
              <a:t>3</a:t>
            </a:r>
          </a:p>
        </p:txBody>
      </p:sp>
      <p:sp>
        <p:nvSpPr>
          <p:cNvPr id="28" name="Text 26">
            <a:extLst>
              <a:ext uri="{FF2B5EF4-FFF2-40B4-BE49-F238E27FC236}">
                <a16:creationId xmlns:a16="http://schemas.microsoft.com/office/drawing/2014/main" id="{76352B54-361E-43C1-9D46-9F85EF6DA1EB}"/>
              </a:ext>
            </a:extLst>
          </p:cNvPr>
          <p:cNvSpPr>
            <a:spLocks noGrp="1"/>
          </p:cNvSpPr>
          <p:nvPr/>
        </p:nvSpPr>
        <p:spPr>
          <a:xfrm>
            <a:off x="5897880" y="2039112"/>
            <a:ext cx="1143000" cy="256032"/>
          </a:xfrm>
          <a:prstGeom prst="rect">
            <a:avLst/>
          </a:prstGeom>
          <a:noFill/>
        </p:spPr>
        <p:txBody>
          <a:bodyPr wrap="square" lIns="0" tIns="0" rIns="0" bIns="0" anchor="ctr">
            <a:normAutofit/>
          </a:bodyPr>
          <a:lstStyle/>
          <a:p>
            <a:pPr marL="0" indent="0">
              <a:buNone/>
            </a:pPr>
            <a:r>
              <a:rPr sz="1600" b="1">
                <a:solidFill>
                  <a:srgbClr val="07245A"/>
                </a:solidFill>
              </a:rPr>
              <a:t>Estimación</a:t>
            </a:r>
          </a:p>
        </p:txBody>
      </p:sp>
      <p:sp>
        <p:nvSpPr>
          <p:cNvPr id="29" name="Shape 27">
            <a:extLst>
              <a:ext uri="{FF2B5EF4-FFF2-40B4-BE49-F238E27FC236}">
                <a16:creationId xmlns:a16="http://schemas.microsoft.com/office/drawing/2014/main" id="{88E0847D-B14C-449F-B4FB-67A5BD3CBC2A}"/>
              </a:ext>
            </a:extLst>
          </p:cNvPr>
          <p:cNvSpPr>
            <a:spLocks noGrp="1"/>
          </p:cNvSpPr>
          <p:nvPr/>
        </p:nvSpPr>
        <p:spPr>
          <a:xfrm>
            <a:off x="5897880" y="2359152"/>
            <a:ext cx="411480" cy="0"/>
          </a:xfrm>
          <a:prstGeom prst="line">
            <a:avLst/>
          </a:prstGeom>
          <a:noFill/>
          <a:ln w="22860">
            <a:solidFill>
              <a:srgbClr val="17B7D7"/>
            </a:solidFill>
            <a:prstDash val="solid"/>
          </a:ln>
        </p:spPr>
        <p:txBody>
          <a:bodyPr/>
          <a:lstStyle/>
          <a:p>
            <a:endParaRPr/>
          </a:p>
        </p:txBody>
      </p:sp>
      <p:sp>
        <p:nvSpPr>
          <p:cNvPr id="30" name="Text 28">
            <a:extLst>
              <a:ext uri="{FF2B5EF4-FFF2-40B4-BE49-F238E27FC236}">
                <a16:creationId xmlns:a16="http://schemas.microsoft.com/office/drawing/2014/main" id="{C1D79455-3777-4B2C-927F-8D6F7C6A1F27}"/>
              </a:ext>
            </a:extLst>
          </p:cNvPr>
          <p:cNvSpPr>
            <a:spLocks noGrp="1"/>
          </p:cNvSpPr>
          <p:nvPr/>
        </p:nvSpPr>
        <p:spPr>
          <a:xfrm>
            <a:off x="5413248" y="2532888"/>
            <a:ext cx="1563624" cy="1307592"/>
          </a:xfrm>
          <a:prstGeom prst="rect">
            <a:avLst/>
          </a:prstGeom>
          <a:noFill/>
        </p:spPr>
        <p:txBody>
          <a:bodyPr wrap="square" lIns="381" tIns="381" rIns="381" bIns="381" anchor="ctr">
            <a:normAutofit/>
          </a:bodyPr>
          <a:lstStyle/>
          <a:p>
            <a:pPr marL="0" indent="0">
              <a:buNone/>
            </a:pPr>
            <a:r>
              <a:rPr sz="1800">
                <a:solidFill>
                  <a:srgbClr val="17212B"/>
                </a:solidFill>
              </a:rPr>
              <a:t>ANALYZE o estadísticas extendidas</a:t>
            </a:r>
          </a:p>
        </p:txBody>
      </p:sp>
      <p:sp>
        <p:nvSpPr>
          <p:cNvPr id="31" name="Shape 29">
            <a:extLst>
              <a:ext uri="{FF2B5EF4-FFF2-40B4-BE49-F238E27FC236}">
                <a16:creationId xmlns:a16="http://schemas.microsoft.com/office/drawing/2014/main" id="{E9BF965E-3F92-475A-B5FD-A5059FFB221D}"/>
              </a:ext>
            </a:extLst>
          </p:cNvPr>
          <p:cNvSpPr>
            <a:spLocks noGrp="1"/>
          </p:cNvSpPr>
          <p:nvPr/>
        </p:nvSpPr>
        <p:spPr>
          <a:xfrm>
            <a:off x="7498080" y="1874520"/>
            <a:ext cx="1965960" cy="2057400"/>
          </a:xfrm>
          <a:prstGeom prst="roundRect">
            <a:avLst>
              <a:gd name="adj" fmla="val 3721"/>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32" name="Shape 30">
            <a:extLst>
              <a:ext uri="{FF2B5EF4-FFF2-40B4-BE49-F238E27FC236}">
                <a16:creationId xmlns:a16="http://schemas.microsoft.com/office/drawing/2014/main" id="{F6401D1E-2EF4-4437-82FF-75FFD314D8D7}"/>
              </a:ext>
            </a:extLst>
          </p:cNvPr>
          <p:cNvSpPr>
            <a:spLocks noGrp="1"/>
          </p:cNvSpPr>
          <p:nvPr/>
        </p:nvSpPr>
        <p:spPr>
          <a:xfrm>
            <a:off x="7662672" y="2029968"/>
            <a:ext cx="438912" cy="438912"/>
          </a:xfrm>
          <a:prstGeom prst="ellipse">
            <a:avLst/>
          </a:prstGeom>
          <a:solidFill>
            <a:srgbClr val="EAF8FC"/>
          </a:solidFill>
          <a:ln w="10160">
            <a:solidFill>
              <a:srgbClr val="D5EEF7"/>
            </a:solidFill>
            <a:prstDash val="solid"/>
          </a:ln>
        </p:spPr>
        <p:txBody>
          <a:bodyPr/>
          <a:lstStyle/>
          <a:p>
            <a:endParaRPr/>
          </a:p>
        </p:txBody>
      </p:sp>
      <p:sp>
        <p:nvSpPr>
          <p:cNvPr id="33" name="Text 31">
            <a:extLst>
              <a:ext uri="{FF2B5EF4-FFF2-40B4-BE49-F238E27FC236}">
                <a16:creationId xmlns:a16="http://schemas.microsoft.com/office/drawing/2014/main" id="{3CDE1C23-537F-4745-933D-F7616E4C067C}"/>
              </a:ext>
            </a:extLst>
          </p:cNvPr>
          <p:cNvSpPr>
            <a:spLocks noGrp="1"/>
          </p:cNvSpPr>
          <p:nvPr/>
        </p:nvSpPr>
        <p:spPr>
          <a:xfrm>
            <a:off x="7662672" y="2089404"/>
            <a:ext cx="438912" cy="228600"/>
          </a:xfrm>
          <a:prstGeom prst="rect">
            <a:avLst/>
          </a:prstGeom>
          <a:noFill/>
        </p:spPr>
        <p:txBody>
          <a:bodyPr wrap="square" lIns="0" tIns="0" rIns="0" bIns="0" anchor="ctr"/>
          <a:lstStyle/>
          <a:p>
            <a:pPr marL="0" indent="0" algn="ctr">
              <a:buNone/>
            </a:pPr>
            <a:r>
              <a:rPr sz="1550">
                <a:solidFill>
                  <a:srgbClr val="0B5CAD"/>
                </a:solidFill>
              </a:rPr>
              <a:t>4</a:t>
            </a:r>
          </a:p>
        </p:txBody>
      </p:sp>
      <p:sp>
        <p:nvSpPr>
          <p:cNvPr id="34" name="Text 32">
            <a:extLst>
              <a:ext uri="{FF2B5EF4-FFF2-40B4-BE49-F238E27FC236}">
                <a16:creationId xmlns:a16="http://schemas.microsoft.com/office/drawing/2014/main" id="{392406F1-46FB-40F5-BB2E-8EB04DEF4BB7}"/>
              </a:ext>
            </a:extLst>
          </p:cNvPr>
          <p:cNvSpPr>
            <a:spLocks noGrp="1"/>
          </p:cNvSpPr>
          <p:nvPr/>
        </p:nvSpPr>
        <p:spPr>
          <a:xfrm>
            <a:off x="8183880" y="2039112"/>
            <a:ext cx="1143000" cy="256032"/>
          </a:xfrm>
          <a:prstGeom prst="rect">
            <a:avLst/>
          </a:prstGeom>
          <a:noFill/>
        </p:spPr>
        <p:txBody>
          <a:bodyPr wrap="square" lIns="0" tIns="0" rIns="0" bIns="0" anchor="ctr">
            <a:normAutofit/>
          </a:bodyPr>
          <a:lstStyle/>
          <a:p>
            <a:pPr marL="0" indent="0">
              <a:buNone/>
            </a:pPr>
            <a:r>
              <a:rPr sz="1600" b="1">
                <a:solidFill>
                  <a:srgbClr val="07245A"/>
                </a:solidFill>
              </a:rPr>
              <a:t>Temporales</a:t>
            </a:r>
          </a:p>
        </p:txBody>
      </p:sp>
      <p:sp>
        <p:nvSpPr>
          <p:cNvPr id="35" name="Shape 33">
            <a:extLst>
              <a:ext uri="{FF2B5EF4-FFF2-40B4-BE49-F238E27FC236}">
                <a16:creationId xmlns:a16="http://schemas.microsoft.com/office/drawing/2014/main" id="{6E99E1A5-20A2-41C0-987B-4E4E157C2FA5}"/>
              </a:ext>
            </a:extLst>
          </p:cNvPr>
          <p:cNvSpPr>
            <a:spLocks noGrp="1"/>
          </p:cNvSpPr>
          <p:nvPr/>
        </p:nvSpPr>
        <p:spPr>
          <a:xfrm>
            <a:off x="8183880" y="2359152"/>
            <a:ext cx="411480" cy="0"/>
          </a:xfrm>
          <a:prstGeom prst="line">
            <a:avLst/>
          </a:prstGeom>
          <a:noFill/>
          <a:ln w="22860">
            <a:solidFill>
              <a:srgbClr val="0B5CAD"/>
            </a:solidFill>
            <a:prstDash val="solid"/>
          </a:ln>
        </p:spPr>
        <p:txBody>
          <a:bodyPr/>
          <a:lstStyle/>
          <a:p>
            <a:endParaRPr/>
          </a:p>
        </p:txBody>
      </p:sp>
      <p:sp>
        <p:nvSpPr>
          <p:cNvPr id="36" name="Text 34">
            <a:extLst>
              <a:ext uri="{FF2B5EF4-FFF2-40B4-BE49-F238E27FC236}">
                <a16:creationId xmlns:a16="http://schemas.microsoft.com/office/drawing/2014/main" id="{FF71768B-2D0D-4005-BB41-0F00D39A350E}"/>
              </a:ext>
            </a:extLst>
          </p:cNvPr>
          <p:cNvSpPr>
            <a:spLocks noGrp="1"/>
          </p:cNvSpPr>
          <p:nvPr/>
        </p:nvSpPr>
        <p:spPr>
          <a:xfrm>
            <a:off x="7699248" y="2532888"/>
            <a:ext cx="1563624" cy="1307592"/>
          </a:xfrm>
          <a:prstGeom prst="rect">
            <a:avLst/>
          </a:prstGeom>
          <a:noFill/>
        </p:spPr>
        <p:txBody>
          <a:bodyPr wrap="square" lIns="381" tIns="381" rIns="381" bIns="381" anchor="ctr">
            <a:normAutofit/>
          </a:bodyPr>
          <a:lstStyle/>
          <a:p>
            <a:pPr marL="0" indent="0">
              <a:buNone/>
            </a:pPr>
            <a:r>
              <a:rPr sz="1800">
                <a:solidFill>
                  <a:srgbClr val="17212B"/>
                </a:solidFill>
              </a:rPr>
              <a:t>Reducir filas o revisar memoria</a:t>
            </a:r>
          </a:p>
        </p:txBody>
      </p:sp>
      <p:sp>
        <p:nvSpPr>
          <p:cNvPr id="37" name="Shape 35">
            <a:extLst>
              <a:ext uri="{FF2B5EF4-FFF2-40B4-BE49-F238E27FC236}">
                <a16:creationId xmlns:a16="http://schemas.microsoft.com/office/drawing/2014/main" id="{DE6DCCF4-28E6-4833-BE50-B8F0473DE8B0}"/>
              </a:ext>
            </a:extLst>
          </p:cNvPr>
          <p:cNvSpPr>
            <a:spLocks noGrp="1"/>
          </p:cNvSpPr>
          <p:nvPr/>
        </p:nvSpPr>
        <p:spPr>
          <a:xfrm>
            <a:off x="9784080" y="1874520"/>
            <a:ext cx="1965960" cy="2057400"/>
          </a:xfrm>
          <a:prstGeom prst="roundRect">
            <a:avLst>
              <a:gd name="adj" fmla="val 3721"/>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38" name="Shape 36">
            <a:extLst>
              <a:ext uri="{FF2B5EF4-FFF2-40B4-BE49-F238E27FC236}">
                <a16:creationId xmlns:a16="http://schemas.microsoft.com/office/drawing/2014/main" id="{921B75D8-6BA8-47B3-8925-B57C9BECF6D6}"/>
              </a:ext>
            </a:extLst>
          </p:cNvPr>
          <p:cNvSpPr>
            <a:spLocks noGrp="1"/>
          </p:cNvSpPr>
          <p:nvPr/>
        </p:nvSpPr>
        <p:spPr>
          <a:xfrm>
            <a:off x="9948672" y="2029968"/>
            <a:ext cx="438912" cy="438912"/>
          </a:xfrm>
          <a:prstGeom prst="ellipse">
            <a:avLst/>
          </a:prstGeom>
          <a:solidFill>
            <a:srgbClr val="EAF8FC"/>
          </a:solidFill>
          <a:ln w="10160">
            <a:solidFill>
              <a:srgbClr val="D5EEF7"/>
            </a:solidFill>
            <a:prstDash val="solid"/>
          </a:ln>
        </p:spPr>
        <p:txBody>
          <a:bodyPr/>
          <a:lstStyle/>
          <a:p>
            <a:endParaRPr/>
          </a:p>
        </p:txBody>
      </p:sp>
      <p:sp>
        <p:nvSpPr>
          <p:cNvPr id="39" name="Text 37">
            <a:extLst>
              <a:ext uri="{FF2B5EF4-FFF2-40B4-BE49-F238E27FC236}">
                <a16:creationId xmlns:a16="http://schemas.microsoft.com/office/drawing/2014/main" id="{E5DE4E19-4376-4D35-BD22-92F8C7E355C5}"/>
              </a:ext>
            </a:extLst>
          </p:cNvPr>
          <p:cNvSpPr>
            <a:spLocks noGrp="1"/>
          </p:cNvSpPr>
          <p:nvPr/>
        </p:nvSpPr>
        <p:spPr>
          <a:xfrm>
            <a:off x="9948672" y="2089404"/>
            <a:ext cx="438912" cy="228600"/>
          </a:xfrm>
          <a:prstGeom prst="rect">
            <a:avLst/>
          </a:prstGeom>
          <a:noFill/>
        </p:spPr>
        <p:txBody>
          <a:bodyPr wrap="square" lIns="0" tIns="0" rIns="0" bIns="0" anchor="ctr"/>
          <a:lstStyle/>
          <a:p>
            <a:pPr marL="0" indent="0" algn="ctr">
              <a:buNone/>
            </a:pPr>
            <a:r>
              <a:rPr sz="1550">
                <a:solidFill>
                  <a:srgbClr val="0B5CAD"/>
                </a:solidFill>
              </a:rPr>
              <a:t>5</a:t>
            </a:r>
          </a:p>
        </p:txBody>
      </p:sp>
      <p:sp>
        <p:nvSpPr>
          <p:cNvPr id="40" name="Text 38">
            <a:extLst>
              <a:ext uri="{FF2B5EF4-FFF2-40B4-BE49-F238E27FC236}">
                <a16:creationId xmlns:a16="http://schemas.microsoft.com/office/drawing/2014/main" id="{AFECFC72-B476-4B85-B9F4-3537A57531E6}"/>
              </a:ext>
            </a:extLst>
          </p:cNvPr>
          <p:cNvSpPr>
            <a:spLocks noGrp="1"/>
          </p:cNvSpPr>
          <p:nvPr/>
        </p:nvSpPr>
        <p:spPr>
          <a:xfrm>
            <a:off x="10469880" y="1947671"/>
            <a:ext cx="1325880" cy="438912"/>
          </a:xfrm>
          <a:prstGeom prst="rect">
            <a:avLst/>
          </a:prstGeom>
          <a:noFill/>
        </p:spPr>
        <p:txBody>
          <a:bodyPr wrap="square" lIns="0" tIns="0" rIns="0" bIns="0" anchor="ctr">
            <a:normAutofit/>
          </a:bodyPr>
          <a:lstStyle/>
          <a:p>
            <a:pPr marL="0" indent="0">
              <a:buNone/>
            </a:pPr>
            <a:r>
              <a:rPr sz="1600" b="1" dirty="0" err="1">
                <a:solidFill>
                  <a:srgbClr val="07245A"/>
                </a:solidFill>
              </a:rPr>
              <a:t>Degradación</a:t>
            </a:r>
            <a:endParaRPr sz="1600" b="1" dirty="0">
              <a:solidFill>
                <a:srgbClr val="07245A"/>
              </a:solidFill>
            </a:endParaRPr>
          </a:p>
        </p:txBody>
      </p:sp>
      <p:sp>
        <p:nvSpPr>
          <p:cNvPr id="41" name="Shape 39">
            <a:extLst>
              <a:ext uri="{FF2B5EF4-FFF2-40B4-BE49-F238E27FC236}">
                <a16:creationId xmlns:a16="http://schemas.microsoft.com/office/drawing/2014/main" id="{0D5ECED0-3EEE-4E48-82CE-4071DCC8C15F}"/>
              </a:ext>
            </a:extLst>
          </p:cNvPr>
          <p:cNvSpPr>
            <a:spLocks noGrp="1"/>
          </p:cNvSpPr>
          <p:nvPr/>
        </p:nvSpPr>
        <p:spPr>
          <a:xfrm>
            <a:off x="10469880" y="2359152"/>
            <a:ext cx="411480" cy="0"/>
          </a:xfrm>
          <a:prstGeom prst="line">
            <a:avLst/>
          </a:prstGeom>
          <a:noFill/>
          <a:ln w="22860">
            <a:solidFill>
              <a:srgbClr val="0B5CAD"/>
            </a:solidFill>
            <a:prstDash val="solid"/>
          </a:ln>
        </p:spPr>
        <p:txBody>
          <a:bodyPr/>
          <a:lstStyle/>
          <a:p>
            <a:endParaRPr/>
          </a:p>
        </p:txBody>
      </p:sp>
      <p:sp>
        <p:nvSpPr>
          <p:cNvPr id="42" name="Text 40">
            <a:extLst>
              <a:ext uri="{FF2B5EF4-FFF2-40B4-BE49-F238E27FC236}">
                <a16:creationId xmlns:a16="http://schemas.microsoft.com/office/drawing/2014/main" id="{0EEB8C8E-8131-4C08-80CE-A8C4ABE298F6}"/>
              </a:ext>
            </a:extLst>
          </p:cNvPr>
          <p:cNvSpPr>
            <a:spLocks noGrp="1"/>
          </p:cNvSpPr>
          <p:nvPr/>
        </p:nvSpPr>
        <p:spPr>
          <a:xfrm>
            <a:off x="9985248" y="2532888"/>
            <a:ext cx="1563624" cy="1307592"/>
          </a:xfrm>
          <a:prstGeom prst="rect">
            <a:avLst/>
          </a:prstGeom>
          <a:noFill/>
        </p:spPr>
        <p:txBody>
          <a:bodyPr wrap="square" lIns="381" tIns="381" rIns="381" bIns="381" anchor="ctr">
            <a:normAutofit/>
          </a:bodyPr>
          <a:lstStyle/>
          <a:p>
            <a:pPr marL="0" indent="0">
              <a:buNone/>
            </a:pPr>
            <a:r>
              <a:rPr sz="1800">
                <a:solidFill>
                  <a:srgbClr val="17212B"/>
                </a:solidFill>
              </a:rPr>
              <a:t>VACUUM, bloat e índices sin uso</a:t>
            </a:r>
          </a:p>
        </p:txBody>
      </p:sp>
      <p:sp>
        <p:nvSpPr>
          <p:cNvPr id="43" name="Text 41">
            <a:extLst>
              <a:ext uri="{FF2B5EF4-FFF2-40B4-BE49-F238E27FC236}">
                <a16:creationId xmlns:a16="http://schemas.microsoft.com/office/drawing/2014/main" id="{C2D56D43-76FA-4E18-AEDC-07816C026351}"/>
              </a:ext>
            </a:extLst>
          </p:cNvPr>
          <p:cNvSpPr>
            <a:spLocks noGrp="1"/>
          </p:cNvSpPr>
          <p:nvPr/>
        </p:nvSpPr>
        <p:spPr>
          <a:xfrm>
            <a:off x="1005840" y="4983480"/>
            <a:ext cx="10058400" cy="365760"/>
          </a:xfrm>
          <a:prstGeom prst="rect">
            <a:avLst/>
          </a:prstGeom>
          <a:noFill/>
        </p:spPr>
        <p:txBody>
          <a:bodyPr wrap="square" anchor="ctr"/>
          <a:lstStyle/>
          <a:p>
            <a:pPr marL="0" indent="0" algn="ctr">
              <a:buNone/>
            </a:pPr>
            <a:r>
              <a:rPr sz="1800" b="1">
                <a:solidFill>
                  <a:srgbClr val="07245A"/>
                </a:solidFill>
              </a:rPr>
              <a:t>Corregir la causa con el menor costo global posible.</a:t>
            </a:r>
          </a:p>
        </p:txBody>
      </p:sp>
      <p:sp>
        <p:nvSpPr>
          <p:cNvPr id="44" name="Shape 42">
            <a:extLst>
              <a:ext uri="{FF2B5EF4-FFF2-40B4-BE49-F238E27FC236}">
                <a16:creationId xmlns:a16="http://schemas.microsoft.com/office/drawing/2014/main" id="{FD9ACE1B-3018-4606-AC69-0426552EB4F1}"/>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45" name="Text 43">
            <a:extLst>
              <a:ext uri="{FF2B5EF4-FFF2-40B4-BE49-F238E27FC236}">
                <a16:creationId xmlns:a16="http://schemas.microsoft.com/office/drawing/2014/main" id="{784BF094-8E55-40D9-BE97-8E7DF194763F}"/>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Tree>
    <p:extLst>
      <p:ext uri="{BB962C8B-B14F-4D97-AF65-F5344CB8AC3E}">
        <p14:creationId xmlns:p14="http://schemas.microsoft.com/office/powerpoint/2010/main" val="12662736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28A0208-3AE9-4B57-9E06-D4C41EBBEB49}"/>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ED7BD7B6-37CD-4FB1-B939-01FB0F27717B}"/>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38ADBC9E-D7A5-46AB-9281-4BF121649C63}"/>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3E73F9A8-54C9-493D-A6B7-05B21596BB3E}"/>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2D421155-B1B8-45C2-A6CF-AC3CD18305C9}"/>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7EF6C4EC-C9F2-4B62-8DA5-433E6CB59429}"/>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1B06FF6F-17F9-44F7-ACAD-746FF22FB42E}"/>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35627098-6854-40E0-8B5E-C389F53F3454}"/>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41</a:t>
            </a:r>
          </a:p>
        </p:txBody>
      </p:sp>
      <p:sp>
        <p:nvSpPr>
          <p:cNvPr id="10" name="Text 8">
            <a:extLst>
              <a:ext uri="{FF2B5EF4-FFF2-40B4-BE49-F238E27FC236}">
                <a16:creationId xmlns:a16="http://schemas.microsoft.com/office/drawing/2014/main" id="{FE33B293-E90D-451F-995F-33DADC7AB281}"/>
              </a:ext>
            </a:extLst>
          </p:cNvPr>
          <p:cNvSpPr>
            <a:spLocks noGrp="1"/>
          </p:cNvSpPr>
          <p:nvPr/>
        </p:nvSpPr>
        <p:spPr>
          <a:xfrm>
            <a:off x="658368" y="868680"/>
            <a:ext cx="10698480" cy="411480"/>
          </a:xfrm>
          <a:prstGeom prst="rect">
            <a:avLst/>
          </a:prstGeom>
          <a:noFill/>
        </p:spPr>
        <p:txBody>
          <a:bodyPr wrap="square" lIns="0" tIns="0" rIns="0" bIns="0" anchor="ctr">
            <a:normAutofit fontScale="88235" lnSpcReduction="20000"/>
          </a:bodyPr>
          <a:lstStyle/>
          <a:p>
            <a:pPr marL="0" indent="0">
              <a:buNone/>
            </a:pPr>
            <a:r>
              <a:rPr sz="3400" b="1">
                <a:solidFill>
                  <a:srgbClr val="07245A"/>
                </a:solidFill>
                <a:latin typeface="Aptos Display"/>
                <a:ea typeface="Aptos Display"/>
                <a:cs typeface="Aptos Display"/>
              </a:rPr>
              <a:t>Diseñar, medir y volver a decidir</a:t>
            </a:r>
          </a:p>
        </p:txBody>
      </p:sp>
      <p:sp>
        <p:nvSpPr>
          <p:cNvPr id="11" name="Shape 9">
            <a:extLst>
              <a:ext uri="{FF2B5EF4-FFF2-40B4-BE49-F238E27FC236}">
                <a16:creationId xmlns:a16="http://schemas.microsoft.com/office/drawing/2014/main" id="{15F967E1-C418-4535-A64C-AA5186BF6A90}"/>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95DA435A-2A2B-4648-AB67-27226A4F7BDB}"/>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Ideas que deben quedar claras</a:t>
            </a:r>
          </a:p>
        </p:txBody>
      </p:sp>
      <p:sp>
        <p:nvSpPr>
          <p:cNvPr id="13" name="Text 11">
            <a:extLst>
              <a:ext uri="{FF2B5EF4-FFF2-40B4-BE49-F238E27FC236}">
                <a16:creationId xmlns:a16="http://schemas.microsoft.com/office/drawing/2014/main" id="{0678E066-CBFE-420E-B3D5-055D808E9835}"/>
              </a:ext>
            </a:extLst>
          </p:cNvPr>
          <p:cNvSpPr>
            <a:spLocks noGrp="1"/>
          </p:cNvSpPr>
          <p:nvPr/>
        </p:nvSpPr>
        <p:spPr>
          <a:xfrm>
            <a:off x="1143000" y="1737360"/>
            <a:ext cx="9875520" cy="2651760"/>
          </a:xfrm>
          <a:prstGeom prst="rect">
            <a:avLst/>
          </a:prstGeom>
          <a:noFill/>
        </p:spPr>
        <p:txBody>
          <a:bodyPr wrap="square" lIns="635" tIns="635" rIns="635" bIns="635" anchor="ctr">
            <a:normAutofit/>
          </a:bodyPr>
          <a:lstStyle/>
          <a:p>
            <a:pPr marL="152400" indent="-152400">
              <a:buChar char="•"/>
            </a:pPr>
            <a:r>
              <a:rPr sz="1800">
                <a:solidFill>
                  <a:srgbClr val="17212B"/>
                </a:solidFill>
              </a:rPr>
              <a:t>El diseño físico parte de una carga concreta e incluye tipos, claves, organización y mantenimiento.</a:t>
            </a:r>
          </a:p>
          <a:p>
            <a:pPr marL="152400" indent="-152400">
              <a:buChar char="•"/>
            </a:pPr>
            <a:r>
              <a:rPr sz="1800">
                <a:solidFill>
                  <a:srgbClr val="17212B"/>
                </a:solidFill>
              </a:rPr>
              <a:t>Índices y particiones resuelven problemas distintos y tienen costos.</a:t>
            </a:r>
          </a:p>
          <a:p>
            <a:pPr marL="152400" indent="-152400">
              <a:buChar char="•"/>
            </a:pPr>
            <a:r>
              <a:rPr sz="1800">
                <a:solidFill>
                  <a:srgbClr val="17212B"/>
                </a:solidFill>
              </a:rPr>
              <a:t>El optimizador decide con estadísticas y estimaciones.</a:t>
            </a:r>
          </a:p>
          <a:p>
            <a:pPr marL="152400" indent="-152400">
              <a:buChar char="•"/>
            </a:pPr>
            <a:r>
              <a:rPr sz="1800">
                <a:solidFill>
                  <a:srgbClr val="17212B"/>
                </a:solidFill>
              </a:rPr>
              <a:t>El plan permite formular una hipótesis antes del DDL.</a:t>
            </a:r>
          </a:p>
          <a:p>
            <a:pPr marL="152400" indent="-152400">
              <a:buChar char="•"/>
            </a:pPr>
            <a:r>
              <a:rPr sz="1800">
                <a:solidFill>
                  <a:srgbClr val="17212B"/>
                </a:solidFill>
              </a:rPr>
              <a:t>Tres ejecuciones y la mediana permiten aceptar, modificar o revertir.</a:t>
            </a:r>
          </a:p>
        </p:txBody>
      </p:sp>
      <p:sp>
        <p:nvSpPr>
          <p:cNvPr id="14" name="Shape 12">
            <a:extLst>
              <a:ext uri="{FF2B5EF4-FFF2-40B4-BE49-F238E27FC236}">
                <a16:creationId xmlns:a16="http://schemas.microsoft.com/office/drawing/2014/main" id="{A01B318F-36A2-4E2F-AB07-125B696E3918}"/>
              </a:ext>
            </a:extLst>
          </p:cNvPr>
          <p:cNvSpPr>
            <a:spLocks noGrp="1"/>
          </p:cNvSpPr>
          <p:nvPr/>
        </p:nvSpPr>
        <p:spPr>
          <a:xfrm>
            <a:off x="914400" y="4892040"/>
            <a:ext cx="10332720" cy="777240"/>
          </a:xfrm>
          <a:prstGeom prst="roundRect">
            <a:avLst>
              <a:gd name="adj" fmla="val 9412"/>
            </a:avLst>
          </a:prstGeom>
          <a:solidFill>
            <a:srgbClr val="EAF8FC"/>
          </a:solidFill>
          <a:ln w="12700">
            <a:solidFill>
              <a:srgbClr val="BFE9F4"/>
            </a:solidFill>
            <a:prstDash val="solid"/>
          </a:ln>
        </p:spPr>
        <p:txBody>
          <a:bodyPr/>
          <a:lstStyle/>
          <a:p>
            <a:endParaRPr/>
          </a:p>
        </p:txBody>
      </p:sp>
      <p:sp>
        <p:nvSpPr>
          <p:cNvPr id="15" name="Text 13">
            <a:extLst>
              <a:ext uri="{FF2B5EF4-FFF2-40B4-BE49-F238E27FC236}">
                <a16:creationId xmlns:a16="http://schemas.microsoft.com/office/drawing/2014/main" id="{5688A7EB-E07C-4091-9402-65D7A96DAC9F}"/>
              </a:ext>
            </a:extLst>
          </p:cNvPr>
          <p:cNvSpPr>
            <a:spLocks noGrp="1"/>
          </p:cNvSpPr>
          <p:nvPr/>
        </p:nvSpPr>
        <p:spPr>
          <a:xfrm>
            <a:off x="1143000" y="5120640"/>
            <a:ext cx="9875520" cy="320040"/>
          </a:xfrm>
          <a:prstGeom prst="rect">
            <a:avLst/>
          </a:prstGeom>
          <a:noFill/>
        </p:spPr>
        <p:txBody>
          <a:bodyPr wrap="square" anchor="ctr"/>
          <a:lstStyle/>
          <a:p>
            <a:pPr marL="0" indent="0" algn="ctr">
              <a:buNone/>
            </a:pPr>
            <a:r>
              <a:rPr sz="1800" b="1">
                <a:solidFill>
                  <a:srgbClr val="07245A"/>
                </a:solidFill>
              </a:rPr>
              <a:t>Un buen diseño cumple el objetivo con el menor costo global posible.</a:t>
            </a:r>
          </a:p>
        </p:txBody>
      </p:sp>
      <p:sp>
        <p:nvSpPr>
          <p:cNvPr id="16" name="Shape 14">
            <a:extLst>
              <a:ext uri="{FF2B5EF4-FFF2-40B4-BE49-F238E27FC236}">
                <a16:creationId xmlns:a16="http://schemas.microsoft.com/office/drawing/2014/main" id="{03E18274-7C75-4F54-9590-FD042F892C52}"/>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17" name="Text 15">
            <a:extLst>
              <a:ext uri="{FF2B5EF4-FFF2-40B4-BE49-F238E27FC236}">
                <a16:creationId xmlns:a16="http://schemas.microsoft.com/office/drawing/2014/main" id="{B473E7F7-FB3A-4395-8E18-E5989C205589}"/>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Tree>
    <p:extLst>
      <p:ext uri="{BB962C8B-B14F-4D97-AF65-F5344CB8AC3E}">
        <p14:creationId xmlns:p14="http://schemas.microsoft.com/office/powerpoint/2010/main" val="5092684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71751E7-9CE0-4ACE-8C8F-4FDAB6CF8C8E}"/>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B906C4EA-339F-4BAC-A267-3ED214CA937F}"/>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77731B09-605B-478B-AE05-2FF4BC112F27}"/>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DD3C6B9A-C8FC-455E-80F7-0DFFBAE8CC73}"/>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5AF7A14F-19D8-46CA-8129-644BB8AE1C71}"/>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8A75A303-5541-46F7-AA0C-077895CBF716}"/>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A72622DA-8A3F-47F5-B327-42639E1CA874}"/>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7522FC5B-E351-400F-978C-83F22C57DB28}"/>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38</a:t>
            </a:r>
          </a:p>
        </p:txBody>
      </p:sp>
      <p:sp>
        <p:nvSpPr>
          <p:cNvPr id="10" name="Text 8">
            <a:extLst>
              <a:ext uri="{FF2B5EF4-FFF2-40B4-BE49-F238E27FC236}">
                <a16:creationId xmlns:a16="http://schemas.microsoft.com/office/drawing/2014/main" id="{09D19249-AE87-42E1-BF80-64E7E0559E89}"/>
              </a:ext>
            </a:extLst>
          </p:cNvPr>
          <p:cNvSpPr>
            <a:spLocks noGrp="1"/>
          </p:cNvSpPr>
          <p:nvPr/>
        </p:nvSpPr>
        <p:spPr>
          <a:xfrm>
            <a:off x="658368" y="868680"/>
            <a:ext cx="10698480" cy="411480"/>
          </a:xfrm>
          <a:prstGeom prst="rect">
            <a:avLst/>
          </a:prstGeom>
          <a:noFill/>
        </p:spPr>
        <p:txBody>
          <a:bodyPr wrap="square" lIns="0" tIns="0" rIns="0" bIns="0" anchor="ctr">
            <a:normAutofit fontScale="88235" lnSpcReduction="20000"/>
          </a:bodyPr>
          <a:lstStyle/>
          <a:p>
            <a:pPr marL="0" indent="0">
              <a:buNone/>
            </a:pPr>
            <a:r>
              <a:rPr sz="3400" b="1">
                <a:solidFill>
                  <a:srgbClr val="07245A"/>
                </a:solidFill>
                <a:latin typeface="Aptos Display"/>
                <a:ea typeface="Aptos Display"/>
                <a:cs typeface="Aptos Display"/>
              </a:rPr>
              <a:t>Actividad 1 · Detectives del plan</a:t>
            </a:r>
          </a:p>
        </p:txBody>
      </p:sp>
      <p:sp>
        <p:nvSpPr>
          <p:cNvPr id="11" name="Shape 9">
            <a:extLst>
              <a:ext uri="{FF2B5EF4-FFF2-40B4-BE49-F238E27FC236}">
                <a16:creationId xmlns:a16="http://schemas.microsoft.com/office/drawing/2014/main" id="{B73DF0DC-1B84-48BD-9ACB-C02878796ABA}"/>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9DAA431F-DF2C-4FB4-849D-01A1994EEF5B}"/>
              </a:ext>
            </a:extLst>
          </p:cNvPr>
          <p:cNvSpPr>
            <a:spLocks noGrp="1"/>
          </p:cNvSpPr>
          <p:nvPr/>
        </p:nvSpPr>
        <p:spPr>
          <a:xfrm>
            <a:off x="685800" y="1526151"/>
            <a:ext cx="10332720" cy="256032"/>
          </a:xfrm>
          <a:prstGeom prst="rect">
            <a:avLst/>
          </a:prstGeom>
          <a:noFill/>
        </p:spPr>
        <p:txBody>
          <a:bodyPr wrap="square" lIns="0" tIns="0" rIns="0" bIns="0" anchor="ctr">
            <a:normAutofit/>
          </a:bodyPr>
          <a:lstStyle/>
          <a:p>
            <a:pPr marL="0" indent="0">
              <a:buNone/>
            </a:pPr>
            <a:r>
              <a:rPr sz="1550" dirty="0">
                <a:solidFill>
                  <a:srgbClr val="34495E"/>
                </a:solidFill>
              </a:rPr>
              <a:t>50 </a:t>
            </a:r>
            <a:r>
              <a:rPr sz="1550" dirty="0" err="1">
                <a:solidFill>
                  <a:srgbClr val="34495E"/>
                </a:solidFill>
              </a:rPr>
              <a:t>minutos</a:t>
            </a:r>
            <a:r>
              <a:rPr sz="1550" dirty="0">
                <a:solidFill>
                  <a:srgbClr val="34495E"/>
                </a:solidFill>
              </a:rPr>
              <a:t> · </a:t>
            </a:r>
            <a:r>
              <a:rPr sz="1550" dirty="0" err="1">
                <a:solidFill>
                  <a:srgbClr val="34495E"/>
                </a:solidFill>
              </a:rPr>
              <a:t>trabajo</a:t>
            </a:r>
            <a:r>
              <a:rPr sz="1550" dirty="0">
                <a:solidFill>
                  <a:srgbClr val="34495E"/>
                </a:solidFill>
              </a:rPr>
              <a:t> </a:t>
            </a:r>
            <a:r>
              <a:rPr sz="1550" dirty="0" err="1">
                <a:solidFill>
                  <a:srgbClr val="34495E"/>
                </a:solidFill>
              </a:rPr>
              <a:t>grupal</a:t>
            </a:r>
            <a:r>
              <a:rPr lang="es-MX" sz="1550" dirty="0">
                <a:solidFill>
                  <a:srgbClr val="34495E"/>
                </a:solidFill>
              </a:rPr>
              <a:t> – 12 casos (uno por grupo)</a:t>
            </a:r>
            <a:endParaRPr sz="1300" dirty="0">
              <a:solidFill>
                <a:srgbClr val="34495E"/>
              </a:solidFill>
            </a:endParaRPr>
          </a:p>
        </p:txBody>
      </p:sp>
      <p:sp>
        <p:nvSpPr>
          <p:cNvPr id="13" name="Shape 11">
            <a:extLst>
              <a:ext uri="{FF2B5EF4-FFF2-40B4-BE49-F238E27FC236}">
                <a16:creationId xmlns:a16="http://schemas.microsoft.com/office/drawing/2014/main" id="{A4A48BF0-926E-4080-A7C6-08F1AD74DD35}"/>
              </a:ext>
            </a:extLst>
          </p:cNvPr>
          <p:cNvSpPr>
            <a:spLocks noGrp="1"/>
          </p:cNvSpPr>
          <p:nvPr/>
        </p:nvSpPr>
        <p:spPr>
          <a:xfrm>
            <a:off x="822960" y="2129119"/>
            <a:ext cx="5303520" cy="2377440"/>
          </a:xfrm>
          <a:prstGeom prst="roundRect">
            <a:avLst>
              <a:gd name="adj" fmla="val 2308"/>
            </a:avLst>
          </a:prstGeom>
          <a:solidFill>
            <a:srgbClr val="FFFFFF"/>
          </a:solidFill>
          <a:ln w="10160">
            <a:solidFill>
              <a:srgbClr val="D7E4EF"/>
            </a:solidFill>
            <a:prstDash val="solid"/>
          </a:ln>
        </p:spPr>
        <p:txBody>
          <a:bodyPr/>
          <a:lstStyle/>
          <a:p>
            <a:endParaRPr/>
          </a:p>
        </p:txBody>
      </p:sp>
      <p:sp>
        <p:nvSpPr>
          <p:cNvPr id="14" name="Text 12">
            <a:extLst>
              <a:ext uri="{FF2B5EF4-FFF2-40B4-BE49-F238E27FC236}">
                <a16:creationId xmlns:a16="http://schemas.microsoft.com/office/drawing/2014/main" id="{505BE984-1813-4DEC-BC65-FABA3F20A663}"/>
              </a:ext>
            </a:extLst>
          </p:cNvPr>
          <p:cNvSpPr>
            <a:spLocks noGrp="1"/>
          </p:cNvSpPr>
          <p:nvPr/>
        </p:nvSpPr>
        <p:spPr>
          <a:xfrm>
            <a:off x="987552" y="2275423"/>
            <a:ext cx="4974336" cy="237744"/>
          </a:xfrm>
          <a:prstGeom prst="rect">
            <a:avLst/>
          </a:prstGeom>
          <a:noFill/>
        </p:spPr>
        <p:txBody>
          <a:bodyPr wrap="square" lIns="0" tIns="0" rIns="0" bIns="0" anchor="ctr">
            <a:normAutofit fontScale="97500" lnSpcReduction="10000"/>
          </a:bodyPr>
          <a:lstStyle/>
          <a:p>
            <a:pPr marL="0" indent="0">
              <a:buNone/>
            </a:pPr>
            <a:r>
              <a:rPr sz="1600" b="1">
                <a:solidFill>
                  <a:srgbClr val="07245A"/>
                </a:solidFill>
              </a:rPr>
              <a:t>Consigna</a:t>
            </a:r>
          </a:p>
        </p:txBody>
      </p:sp>
      <p:sp>
        <p:nvSpPr>
          <p:cNvPr id="15" name="Shape 13">
            <a:extLst>
              <a:ext uri="{FF2B5EF4-FFF2-40B4-BE49-F238E27FC236}">
                <a16:creationId xmlns:a16="http://schemas.microsoft.com/office/drawing/2014/main" id="{E2B4F674-2F4C-4A82-9E32-5A9C67B9FF0D}"/>
              </a:ext>
            </a:extLst>
          </p:cNvPr>
          <p:cNvSpPr>
            <a:spLocks noGrp="1"/>
          </p:cNvSpPr>
          <p:nvPr/>
        </p:nvSpPr>
        <p:spPr>
          <a:xfrm>
            <a:off x="987552" y="2568031"/>
            <a:ext cx="502920" cy="0"/>
          </a:xfrm>
          <a:prstGeom prst="line">
            <a:avLst/>
          </a:prstGeom>
          <a:noFill/>
          <a:ln w="22860">
            <a:solidFill>
              <a:srgbClr val="17B7D7"/>
            </a:solidFill>
            <a:prstDash val="solid"/>
          </a:ln>
        </p:spPr>
        <p:txBody>
          <a:bodyPr/>
          <a:lstStyle/>
          <a:p>
            <a:endParaRPr/>
          </a:p>
        </p:txBody>
      </p:sp>
      <p:sp>
        <p:nvSpPr>
          <p:cNvPr id="16" name="Text 14">
            <a:extLst>
              <a:ext uri="{FF2B5EF4-FFF2-40B4-BE49-F238E27FC236}">
                <a16:creationId xmlns:a16="http://schemas.microsoft.com/office/drawing/2014/main" id="{D54E92B6-3C65-46F0-A6FB-20420E39E01C}"/>
              </a:ext>
            </a:extLst>
          </p:cNvPr>
          <p:cNvSpPr>
            <a:spLocks noGrp="1"/>
          </p:cNvSpPr>
          <p:nvPr/>
        </p:nvSpPr>
        <p:spPr>
          <a:xfrm>
            <a:off x="987552" y="2723479"/>
            <a:ext cx="4974336" cy="1691640"/>
          </a:xfrm>
          <a:prstGeom prst="rect">
            <a:avLst/>
          </a:prstGeom>
          <a:noFill/>
        </p:spPr>
        <p:txBody>
          <a:bodyPr wrap="square" lIns="254" tIns="254" rIns="254" bIns="254" anchor="ctr">
            <a:normAutofit/>
          </a:bodyPr>
          <a:lstStyle/>
          <a:p>
            <a:pPr marL="0" indent="0">
              <a:buNone/>
            </a:pPr>
            <a:r>
              <a:rPr sz="1600">
                <a:solidFill>
                  <a:srgbClr val="17212B"/>
                </a:solidFill>
              </a:rPr>
              <a:t>Diagnosticar el caso con al menos dos evidencias. Proponer una mejora prioritaria —no necesariamente un índice—, anticipar qué cambio debería verse y reconocer un costo o límite.</a:t>
            </a:r>
          </a:p>
        </p:txBody>
      </p:sp>
      <p:sp>
        <p:nvSpPr>
          <p:cNvPr id="17" name="Shape 15">
            <a:extLst>
              <a:ext uri="{FF2B5EF4-FFF2-40B4-BE49-F238E27FC236}">
                <a16:creationId xmlns:a16="http://schemas.microsoft.com/office/drawing/2014/main" id="{FA802015-E49C-4ADF-B4D9-7FC2F8694DF2}"/>
              </a:ext>
            </a:extLst>
          </p:cNvPr>
          <p:cNvSpPr>
            <a:spLocks noGrp="1"/>
          </p:cNvSpPr>
          <p:nvPr/>
        </p:nvSpPr>
        <p:spPr>
          <a:xfrm>
            <a:off x="6400800" y="2129119"/>
            <a:ext cx="4983480" cy="2377440"/>
          </a:xfrm>
          <a:prstGeom prst="roundRect">
            <a:avLst>
              <a:gd name="adj" fmla="val 2308"/>
            </a:avLst>
          </a:prstGeom>
          <a:solidFill>
            <a:srgbClr val="FFFFFF"/>
          </a:solidFill>
          <a:ln w="10160">
            <a:solidFill>
              <a:srgbClr val="D7E4EF"/>
            </a:solidFill>
            <a:prstDash val="solid"/>
          </a:ln>
        </p:spPr>
        <p:txBody>
          <a:bodyPr/>
          <a:lstStyle/>
          <a:p>
            <a:endParaRPr/>
          </a:p>
        </p:txBody>
      </p:sp>
      <p:sp>
        <p:nvSpPr>
          <p:cNvPr id="18" name="Text 16">
            <a:extLst>
              <a:ext uri="{FF2B5EF4-FFF2-40B4-BE49-F238E27FC236}">
                <a16:creationId xmlns:a16="http://schemas.microsoft.com/office/drawing/2014/main" id="{3AF5E10E-AD26-47DF-A028-12BA4A570AD3}"/>
              </a:ext>
            </a:extLst>
          </p:cNvPr>
          <p:cNvSpPr>
            <a:spLocks noGrp="1"/>
          </p:cNvSpPr>
          <p:nvPr/>
        </p:nvSpPr>
        <p:spPr>
          <a:xfrm>
            <a:off x="6565392" y="2275423"/>
            <a:ext cx="4654296" cy="237744"/>
          </a:xfrm>
          <a:prstGeom prst="rect">
            <a:avLst/>
          </a:prstGeom>
          <a:noFill/>
        </p:spPr>
        <p:txBody>
          <a:bodyPr wrap="square" lIns="0" tIns="0" rIns="0" bIns="0" anchor="ctr">
            <a:normAutofit fontScale="97500" lnSpcReduction="10000"/>
          </a:bodyPr>
          <a:lstStyle/>
          <a:p>
            <a:pPr marL="0" indent="0">
              <a:buNone/>
            </a:pPr>
            <a:r>
              <a:rPr sz="1600" b="1">
                <a:solidFill>
                  <a:srgbClr val="07245A"/>
                </a:solidFill>
              </a:rPr>
              <a:t>Entregable</a:t>
            </a:r>
          </a:p>
        </p:txBody>
      </p:sp>
      <p:sp>
        <p:nvSpPr>
          <p:cNvPr id="19" name="Shape 17">
            <a:extLst>
              <a:ext uri="{FF2B5EF4-FFF2-40B4-BE49-F238E27FC236}">
                <a16:creationId xmlns:a16="http://schemas.microsoft.com/office/drawing/2014/main" id="{C9204A11-FE48-4156-B07A-1234A2727EF0}"/>
              </a:ext>
            </a:extLst>
          </p:cNvPr>
          <p:cNvSpPr>
            <a:spLocks noGrp="1"/>
          </p:cNvSpPr>
          <p:nvPr/>
        </p:nvSpPr>
        <p:spPr>
          <a:xfrm>
            <a:off x="6565392" y="2568031"/>
            <a:ext cx="502920" cy="0"/>
          </a:xfrm>
          <a:prstGeom prst="line">
            <a:avLst/>
          </a:prstGeom>
          <a:noFill/>
          <a:ln w="22860">
            <a:solidFill>
              <a:srgbClr val="0B5CAD"/>
            </a:solidFill>
            <a:prstDash val="solid"/>
          </a:ln>
        </p:spPr>
        <p:txBody>
          <a:bodyPr/>
          <a:lstStyle/>
          <a:p>
            <a:endParaRPr/>
          </a:p>
        </p:txBody>
      </p:sp>
      <p:sp>
        <p:nvSpPr>
          <p:cNvPr id="20" name="Text 18">
            <a:extLst>
              <a:ext uri="{FF2B5EF4-FFF2-40B4-BE49-F238E27FC236}">
                <a16:creationId xmlns:a16="http://schemas.microsoft.com/office/drawing/2014/main" id="{06C58A38-719C-4AF7-9A55-FAB823A30426}"/>
              </a:ext>
            </a:extLst>
          </p:cNvPr>
          <p:cNvSpPr>
            <a:spLocks noGrp="1"/>
          </p:cNvSpPr>
          <p:nvPr/>
        </p:nvSpPr>
        <p:spPr>
          <a:xfrm>
            <a:off x="6565392" y="2723479"/>
            <a:ext cx="4654296" cy="1691640"/>
          </a:xfrm>
          <a:prstGeom prst="rect">
            <a:avLst/>
          </a:prstGeom>
          <a:noFill/>
        </p:spPr>
        <p:txBody>
          <a:bodyPr wrap="square" lIns="254" tIns="254" rIns="254" bIns="254" anchor="ctr">
            <a:normAutofit/>
          </a:bodyPr>
          <a:lstStyle/>
          <a:p>
            <a:pPr marL="0" indent="0">
              <a:buNone/>
            </a:pPr>
            <a:r>
              <a:rPr sz="1600">
                <a:solidFill>
                  <a:srgbClr val="17212B"/>
                </a:solidFill>
              </a:rPr>
              <a:t>Ficha grupal: diagnóstico, dos evidencias, mejora prioritaria, verificación y costo o condición límite. Cada integrante debe poder defender una observación.</a:t>
            </a:r>
          </a:p>
        </p:txBody>
      </p:sp>
      <p:sp>
        <p:nvSpPr>
          <p:cNvPr id="21" name="Text 19">
            <a:extLst>
              <a:ext uri="{FF2B5EF4-FFF2-40B4-BE49-F238E27FC236}">
                <a16:creationId xmlns:a16="http://schemas.microsoft.com/office/drawing/2014/main" id="{769F9562-6082-4CF4-9D6A-18D1278D37F4}"/>
              </a:ext>
            </a:extLst>
          </p:cNvPr>
          <p:cNvSpPr>
            <a:spLocks noGrp="1"/>
          </p:cNvSpPr>
          <p:nvPr/>
        </p:nvSpPr>
        <p:spPr>
          <a:xfrm>
            <a:off x="914400" y="4663440"/>
            <a:ext cx="10241280" cy="571500"/>
          </a:xfrm>
          <a:prstGeom prst="rect">
            <a:avLst/>
          </a:prstGeom>
          <a:noFill/>
        </p:spPr>
        <p:txBody>
          <a:bodyPr wrap="square" anchor="ctr"/>
          <a:lstStyle/>
          <a:p>
            <a:pPr algn="ctr">
              <a:buNone/>
            </a:pPr>
            <a:r>
              <a:rPr sz="2200" b="1">
                <a:solidFill>
                  <a:srgbClr val="0B5CAD"/>
                </a:solidFill>
              </a:rPr>
              <a:t>Criterios: evidencia concreta · causa explicada · verificación comparable · costo reconocido.</a:t>
            </a:r>
          </a:p>
        </p:txBody>
      </p:sp>
      <p:sp>
        <p:nvSpPr>
          <p:cNvPr id="22" name="Text 20">
            <a:extLst>
              <a:ext uri="{FF2B5EF4-FFF2-40B4-BE49-F238E27FC236}">
                <a16:creationId xmlns:a16="http://schemas.microsoft.com/office/drawing/2014/main" id="{E6774671-285B-4630-8C70-F5A721802782}"/>
              </a:ext>
            </a:extLst>
          </p:cNvPr>
          <p:cNvSpPr>
            <a:spLocks noGrp="1"/>
          </p:cNvSpPr>
          <p:nvPr/>
        </p:nvSpPr>
        <p:spPr>
          <a:xfrm>
            <a:off x="914400" y="5524500"/>
            <a:ext cx="10241280" cy="342900"/>
          </a:xfrm>
          <a:prstGeom prst="rect">
            <a:avLst/>
          </a:prstGeom>
          <a:noFill/>
        </p:spPr>
        <p:txBody>
          <a:bodyPr wrap="square" anchor="ctr"/>
          <a:lstStyle/>
          <a:p>
            <a:pPr marL="0" indent="0" algn="ctr">
              <a:buNone/>
            </a:pPr>
            <a:r>
              <a:rPr sz="1700">
                <a:solidFill>
                  <a:srgbClr val="34495E"/>
                </a:solidFill>
              </a:rPr>
              <a:t>Resultado demostrable: decisión defendida con evidencia y límites.</a:t>
            </a:r>
          </a:p>
        </p:txBody>
      </p:sp>
      <p:sp>
        <p:nvSpPr>
          <p:cNvPr id="23" name="Shape 21">
            <a:extLst>
              <a:ext uri="{FF2B5EF4-FFF2-40B4-BE49-F238E27FC236}">
                <a16:creationId xmlns:a16="http://schemas.microsoft.com/office/drawing/2014/main" id="{8B4F0B47-338D-4190-9572-967D985F882B}"/>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24" name="Text 22">
            <a:extLst>
              <a:ext uri="{FF2B5EF4-FFF2-40B4-BE49-F238E27FC236}">
                <a16:creationId xmlns:a16="http://schemas.microsoft.com/office/drawing/2014/main" id="{B522C897-565B-4889-9976-8B31B090513E}"/>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Tree>
    <p:extLst>
      <p:ext uri="{BB962C8B-B14F-4D97-AF65-F5344CB8AC3E}">
        <p14:creationId xmlns:p14="http://schemas.microsoft.com/office/powerpoint/2010/main" val="17894528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14D82B8-51D2-4378-9F8E-F2F10FEF63F3}"/>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C0E4A76D-B598-4C2E-8B02-88F7AAFA9052}"/>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2CBACBB6-7B0B-4B6B-A4FD-6E5495596A83}"/>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289D503D-EC90-4150-8A80-DA9F2AE09F2B}"/>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FED79009-08CA-4617-B67B-B21188DF2945}"/>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60F9A95A-9E89-4C72-926D-FDADA6254D8F}"/>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C7D6903F-D419-40FE-B77A-6E33149EC185}"/>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747F2E4E-4682-4599-A669-A924B47B34C6}"/>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40</a:t>
            </a:r>
          </a:p>
        </p:txBody>
      </p:sp>
      <p:sp>
        <p:nvSpPr>
          <p:cNvPr id="10" name="Text 8">
            <a:extLst>
              <a:ext uri="{FF2B5EF4-FFF2-40B4-BE49-F238E27FC236}">
                <a16:creationId xmlns:a16="http://schemas.microsoft.com/office/drawing/2014/main" id="{CB807C34-3FEE-4F4D-AD1E-CD943176FDD4}"/>
              </a:ext>
            </a:extLst>
          </p:cNvPr>
          <p:cNvSpPr>
            <a:spLocks noGrp="1"/>
          </p:cNvSpPr>
          <p:nvPr/>
        </p:nvSpPr>
        <p:spPr>
          <a:xfrm>
            <a:off x="658368" y="868680"/>
            <a:ext cx="10698480" cy="411480"/>
          </a:xfrm>
          <a:prstGeom prst="rect">
            <a:avLst/>
          </a:prstGeom>
          <a:noFill/>
        </p:spPr>
        <p:txBody>
          <a:bodyPr wrap="square" lIns="0" tIns="0" rIns="0" bIns="0" anchor="ctr">
            <a:normAutofit fontScale="88235" lnSpcReduction="20000"/>
          </a:bodyPr>
          <a:lstStyle/>
          <a:p>
            <a:pPr marL="0" indent="0">
              <a:buNone/>
            </a:pPr>
            <a:r>
              <a:rPr sz="3400" b="1">
                <a:solidFill>
                  <a:srgbClr val="07245A"/>
                </a:solidFill>
                <a:latin typeface="Aptos Display"/>
                <a:ea typeface="Aptos Display"/>
                <a:cs typeface="Aptos Display"/>
              </a:rPr>
              <a:t>Actividad 2 · Batalla de Diseño Físico</a:t>
            </a:r>
            <a:endParaRPr sz="3000" b="1">
              <a:solidFill>
                <a:srgbClr val="07245A"/>
              </a:solidFill>
              <a:latin typeface="Aptos Display"/>
              <a:ea typeface="Aptos Display"/>
              <a:cs typeface="Aptos Display"/>
            </a:endParaRPr>
          </a:p>
        </p:txBody>
      </p:sp>
      <p:sp>
        <p:nvSpPr>
          <p:cNvPr id="11" name="Shape 9">
            <a:extLst>
              <a:ext uri="{FF2B5EF4-FFF2-40B4-BE49-F238E27FC236}">
                <a16:creationId xmlns:a16="http://schemas.microsoft.com/office/drawing/2014/main" id="{777DE666-15EE-47BF-AFB0-2310E6FE7873}"/>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95CC3F4D-D658-4572-A24B-72AAE5B79102}"/>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70 minutos · trabajo grupal + responsabilidad individual</a:t>
            </a:r>
          </a:p>
        </p:txBody>
      </p:sp>
      <p:sp>
        <p:nvSpPr>
          <p:cNvPr id="13" name="Shape 11">
            <a:extLst>
              <a:ext uri="{FF2B5EF4-FFF2-40B4-BE49-F238E27FC236}">
                <a16:creationId xmlns:a16="http://schemas.microsoft.com/office/drawing/2014/main" id="{E7BA028F-4AE4-4CCB-80F8-8A71ED53B919}"/>
              </a:ext>
            </a:extLst>
          </p:cNvPr>
          <p:cNvSpPr>
            <a:spLocks noGrp="1"/>
          </p:cNvSpPr>
          <p:nvPr/>
        </p:nvSpPr>
        <p:spPr>
          <a:xfrm>
            <a:off x="685800" y="2057400"/>
            <a:ext cx="914400" cy="502920"/>
          </a:xfrm>
          <a:prstGeom prst="roundRect">
            <a:avLst>
              <a:gd name="adj" fmla="val 9091"/>
            </a:avLst>
          </a:prstGeom>
          <a:solidFill>
            <a:srgbClr val="FFFFFF"/>
          </a:solidFill>
          <a:ln w="12700">
            <a:solidFill>
              <a:srgbClr val="17B7D7"/>
            </a:solidFill>
            <a:prstDash val="solid"/>
          </a:ln>
        </p:spPr>
        <p:txBody>
          <a:bodyPr/>
          <a:lstStyle/>
          <a:p>
            <a:endParaRPr/>
          </a:p>
        </p:txBody>
      </p:sp>
      <p:sp>
        <p:nvSpPr>
          <p:cNvPr id="14" name="Text 12">
            <a:extLst>
              <a:ext uri="{FF2B5EF4-FFF2-40B4-BE49-F238E27FC236}">
                <a16:creationId xmlns:a16="http://schemas.microsoft.com/office/drawing/2014/main" id="{2910EAC1-9EAA-46B0-A3EA-FC80F998DFE6}"/>
              </a:ext>
            </a:extLst>
          </p:cNvPr>
          <p:cNvSpPr>
            <a:spLocks noGrp="1"/>
          </p:cNvSpPr>
          <p:nvPr/>
        </p:nvSpPr>
        <p:spPr>
          <a:xfrm>
            <a:off x="685800" y="2212848"/>
            <a:ext cx="914400" cy="164592"/>
          </a:xfrm>
          <a:prstGeom prst="rect">
            <a:avLst/>
          </a:prstGeom>
          <a:noFill/>
        </p:spPr>
        <p:txBody>
          <a:bodyPr wrap="square" lIns="0" tIns="0" rIns="0" bIns="0" anchor="ctr">
            <a:noAutofit/>
          </a:bodyPr>
          <a:lstStyle/>
          <a:p>
            <a:pPr marL="0" indent="0" algn="ctr">
              <a:buNone/>
            </a:pPr>
            <a:r>
              <a:rPr sz="1450" b="1">
                <a:solidFill>
                  <a:srgbClr val="07245A"/>
                </a:solidFill>
              </a:rPr>
              <a:t>Hipótesis</a:t>
            </a:r>
          </a:p>
        </p:txBody>
      </p:sp>
      <p:sp>
        <p:nvSpPr>
          <p:cNvPr id="15" name="Shape 13">
            <a:extLst>
              <a:ext uri="{FF2B5EF4-FFF2-40B4-BE49-F238E27FC236}">
                <a16:creationId xmlns:a16="http://schemas.microsoft.com/office/drawing/2014/main" id="{8AA0C999-1193-4637-B62F-1DA0C82D492D}"/>
              </a:ext>
            </a:extLst>
          </p:cNvPr>
          <p:cNvSpPr>
            <a:spLocks noGrp="1"/>
          </p:cNvSpPr>
          <p:nvPr/>
        </p:nvSpPr>
        <p:spPr>
          <a:xfrm>
            <a:off x="1600200" y="2304288"/>
            <a:ext cx="457200" cy="0"/>
          </a:xfrm>
          <a:prstGeom prst="line">
            <a:avLst/>
          </a:prstGeom>
          <a:noFill/>
          <a:ln w="15240">
            <a:solidFill>
              <a:srgbClr val="17B7D7"/>
            </a:solidFill>
            <a:prstDash val="solid"/>
            <a:tailEnd type="triangle"/>
          </a:ln>
        </p:spPr>
        <p:txBody>
          <a:bodyPr/>
          <a:lstStyle/>
          <a:p>
            <a:endParaRPr/>
          </a:p>
        </p:txBody>
      </p:sp>
      <p:sp>
        <p:nvSpPr>
          <p:cNvPr id="16" name="Shape 14">
            <a:extLst>
              <a:ext uri="{FF2B5EF4-FFF2-40B4-BE49-F238E27FC236}">
                <a16:creationId xmlns:a16="http://schemas.microsoft.com/office/drawing/2014/main" id="{679F182F-DEB7-4599-8A01-48F879284C47}"/>
              </a:ext>
            </a:extLst>
          </p:cNvPr>
          <p:cNvSpPr>
            <a:spLocks noGrp="1"/>
          </p:cNvSpPr>
          <p:nvPr/>
        </p:nvSpPr>
        <p:spPr>
          <a:xfrm>
            <a:off x="2103120" y="2057400"/>
            <a:ext cx="914400" cy="502920"/>
          </a:xfrm>
          <a:prstGeom prst="roundRect">
            <a:avLst>
              <a:gd name="adj" fmla="val 9091"/>
            </a:avLst>
          </a:prstGeom>
          <a:solidFill>
            <a:srgbClr val="EAF8FC"/>
          </a:solidFill>
          <a:ln w="12700">
            <a:solidFill>
              <a:srgbClr val="17B7D7"/>
            </a:solidFill>
            <a:prstDash val="solid"/>
          </a:ln>
        </p:spPr>
        <p:txBody>
          <a:bodyPr/>
          <a:lstStyle/>
          <a:p>
            <a:endParaRPr/>
          </a:p>
        </p:txBody>
      </p:sp>
      <p:sp>
        <p:nvSpPr>
          <p:cNvPr id="17" name="Text 15">
            <a:extLst>
              <a:ext uri="{FF2B5EF4-FFF2-40B4-BE49-F238E27FC236}">
                <a16:creationId xmlns:a16="http://schemas.microsoft.com/office/drawing/2014/main" id="{72324224-901E-4896-89C9-B78797F27F97}"/>
              </a:ext>
            </a:extLst>
          </p:cNvPr>
          <p:cNvSpPr>
            <a:spLocks noGrp="1"/>
          </p:cNvSpPr>
          <p:nvPr/>
        </p:nvSpPr>
        <p:spPr>
          <a:xfrm>
            <a:off x="2103120" y="2212848"/>
            <a:ext cx="914400" cy="164592"/>
          </a:xfrm>
          <a:prstGeom prst="rect">
            <a:avLst/>
          </a:prstGeom>
          <a:noFill/>
        </p:spPr>
        <p:txBody>
          <a:bodyPr wrap="square" lIns="0" tIns="0" rIns="0" bIns="0" anchor="ctr">
            <a:noAutofit/>
          </a:bodyPr>
          <a:lstStyle/>
          <a:p>
            <a:pPr marL="0" indent="0" algn="ctr">
              <a:buNone/>
            </a:pPr>
            <a:r>
              <a:rPr lang="es-MX" sz="1450" b="1" dirty="0" err="1">
                <a:solidFill>
                  <a:srgbClr val="07245A"/>
                </a:solidFill>
              </a:rPr>
              <a:t>Exp</a:t>
            </a:r>
            <a:r>
              <a:rPr sz="1450" b="1" dirty="0">
                <a:solidFill>
                  <a:srgbClr val="07245A"/>
                </a:solidFill>
              </a:rPr>
              <a:t>la</a:t>
            </a:r>
            <a:r>
              <a:rPr lang="es-MX" sz="1450" b="1" dirty="0">
                <a:solidFill>
                  <a:srgbClr val="07245A"/>
                </a:solidFill>
              </a:rPr>
              <a:t>i</a:t>
            </a:r>
            <a:r>
              <a:rPr sz="1450" b="1" dirty="0">
                <a:solidFill>
                  <a:srgbClr val="07245A"/>
                </a:solidFill>
              </a:rPr>
              <a:t>n</a:t>
            </a:r>
          </a:p>
        </p:txBody>
      </p:sp>
      <p:sp>
        <p:nvSpPr>
          <p:cNvPr id="18" name="Shape 16">
            <a:extLst>
              <a:ext uri="{FF2B5EF4-FFF2-40B4-BE49-F238E27FC236}">
                <a16:creationId xmlns:a16="http://schemas.microsoft.com/office/drawing/2014/main" id="{28626A2F-0167-4139-9988-DC4A40E60059}"/>
              </a:ext>
            </a:extLst>
          </p:cNvPr>
          <p:cNvSpPr>
            <a:spLocks noGrp="1"/>
          </p:cNvSpPr>
          <p:nvPr/>
        </p:nvSpPr>
        <p:spPr>
          <a:xfrm>
            <a:off x="3017520" y="2304288"/>
            <a:ext cx="457200" cy="0"/>
          </a:xfrm>
          <a:prstGeom prst="line">
            <a:avLst/>
          </a:prstGeom>
          <a:noFill/>
          <a:ln w="15240">
            <a:solidFill>
              <a:srgbClr val="17B7D7"/>
            </a:solidFill>
            <a:prstDash val="solid"/>
            <a:tailEnd type="triangle"/>
          </a:ln>
        </p:spPr>
        <p:txBody>
          <a:bodyPr/>
          <a:lstStyle/>
          <a:p>
            <a:endParaRPr/>
          </a:p>
        </p:txBody>
      </p:sp>
      <p:sp>
        <p:nvSpPr>
          <p:cNvPr id="19" name="Shape 17">
            <a:extLst>
              <a:ext uri="{FF2B5EF4-FFF2-40B4-BE49-F238E27FC236}">
                <a16:creationId xmlns:a16="http://schemas.microsoft.com/office/drawing/2014/main" id="{CD4CCFF5-3685-4975-934E-53CA2EB164B5}"/>
              </a:ext>
            </a:extLst>
          </p:cNvPr>
          <p:cNvSpPr>
            <a:spLocks noGrp="1"/>
          </p:cNvSpPr>
          <p:nvPr/>
        </p:nvSpPr>
        <p:spPr>
          <a:xfrm>
            <a:off x="3520440" y="2057400"/>
            <a:ext cx="914400" cy="502920"/>
          </a:xfrm>
          <a:prstGeom prst="roundRect">
            <a:avLst>
              <a:gd name="adj" fmla="val 9091"/>
            </a:avLst>
          </a:prstGeom>
          <a:solidFill>
            <a:srgbClr val="FFFFFF"/>
          </a:solidFill>
          <a:ln w="12700">
            <a:solidFill>
              <a:srgbClr val="17B7D7"/>
            </a:solidFill>
            <a:prstDash val="solid"/>
          </a:ln>
        </p:spPr>
        <p:txBody>
          <a:bodyPr/>
          <a:lstStyle/>
          <a:p>
            <a:endParaRPr/>
          </a:p>
        </p:txBody>
      </p:sp>
      <p:sp>
        <p:nvSpPr>
          <p:cNvPr id="20" name="Text 18">
            <a:extLst>
              <a:ext uri="{FF2B5EF4-FFF2-40B4-BE49-F238E27FC236}">
                <a16:creationId xmlns:a16="http://schemas.microsoft.com/office/drawing/2014/main" id="{CF90100A-EC5B-4BDA-A117-0A9BCD207C3D}"/>
              </a:ext>
            </a:extLst>
          </p:cNvPr>
          <p:cNvSpPr>
            <a:spLocks noGrp="1"/>
          </p:cNvSpPr>
          <p:nvPr/>
        </p:nvSpPr>
        <p:spPr>
          <a:xfrm>
            <a:off x="3520440" y="2212848"/>
            <a:ext cx="914400" cy="164592"/>
          </a:xfrm>
          <a:prstGeom prst="rect">
            <a:avLst/>
          </a:prstGeom>
          <a:noFill/>
        </p:spPr>
        <p:txBody>
          <a:bodyPr wrap="square" lIns="0" tIns="0" rIns="0" bIns="0" anchor="ctr">
            <a:noAutofit/>
          </a:bodyPr>
          <a:lstStyle/>
          <a:p>
            <a:pPr marL="0" indent="0" algn="ctr">
              <a:buNone/>
            </a:pPr>
            <a:r>
              <a:rPr sz="1450" b="1">
                <a:solidFill>
                  <a:srgbClr val="07245A"/>
                </a:solidFill>
              </a:rPr>
              <a:t>DDL</a:t>
            </a:r>
          </a:p>
        </p:txBody>
      </p:sp>
      <p:sp>
        <p:nvSpPr>
          <p:cNvPr id="21" name="Shape 19">
            <a:extLst>
              <a:ext uri="{FF2B5EF4-FFF2-40B4-BE49-F238E27FC236}">
                <a16:creationId xmlns:a16="http://schemas.microsoft.com/office/drawing/2014/main" id="{6B7E334E-67C3-4A36-B676-8259F4E4AFBD}"/>
              </a:ext>
            </a:extLst>
          </p:cNvPr>
          <p:cNvSpPr>
            <a:spLocks noGrp="1"/>
          </p:cNvSpPr>
          <p:nvPr/>
        </p:nvSpPr>
        <p:spPr>
          <a:xfrm>
            <a:off x="4434840" y="2304288"/>
            <a:ext cx="457200" cy="0"/>
          </a:xfrm>
          <a:prstGeom prst="line">
            <a:avLst/>
          </a:prstGeom>
          <a:noFill/>
          <a:ln w="15240">
            <a:solidFill>
              <a:srgbClr val="17B7D7"/>
            </a:solidFill>
            <a:prstDash val="solid"/>
            <a:tailEnd type="triangle"/>
          </a:ln>
        </p:spPr>
        <p:txBody>
          <a:bodyPr/>
          <a:lstStyle/>
          <a:p>
            <a:endParaRPr/>
          </a:p>
        </p:txBody>
      </p:sp>
      <p:sp>
        <p:nvSpPr>
          <p:cNvPr id="22" name="Shape 20">
            <a:extLst>
              <a:ext uri="{FF2B5EF4-FFF2-40B4-BE49-F238E27FC236}">
                <a16:creationId xmlns:a16="http://schemas.microsoft.com/office/drawing/2014/main" id="{CE02780D-BA8E-4880-851C-21C20D33F67A}"/>
              </a:ext>
            </a:extLst>
          </p:cNvPr>
          <p:cNvSpPr>
            <a:spLocks noGrp="1"/>
          </p:cNvSpPr>
          <p:nvPr/>
        </p:nvSpPr>
        <p:spPr>
          <a:xfrm>
            <a:off x="4937760" y="2057400"/>
            <a:ext cx="914400" cy="502920"/>
          </a:xfrm>
          <a:prstGeom prst="roundRect">
            <a:avLst>
              <a:gd name="adj" fmla="val 9091"/>
            </a:avLst>
          </a:prstGeom>
          <a:solidFill>
            <a:srgbClr val="EAF8FC"/>
          </a:solidFill>
          <a:ln w="12700">
            <a:solidFill>
              <a:srgbClr val="17B7D7"/>
            </a:solidFill>
            <a:prstDash val="solid"/>
          </a:ln>
        </p:spPr>
        <p:txBody>
          <a:bodyPr/>
          <a:lstStyle/>
          <a:p>
            <a:endParaRPr/>
          </a:p>
        </p:txBody>
      </p:sp>
      <p:sp>
        <p:nvSpPr>
          <p:cNvPr id="23" name="Text 21">
            <a:extLst>
              <a:ext uri="{FF2B5EF4-FFF2-40B4-BE49-F238E27FC236}">
                <a16:creationId xmlns:a16="http://schemas.microsoft.com/office/drawing/2014/main" id="{16BB6726-46AF-4CD7-822F-A2507794BC0C}"/>
              </a:ext>
            </a:extLst>
          </p:cNvPr>
          <p:cNvSpPr>
            <a:spLocks noGrp="1"/>
          </p:cNvSpPr>
          <p:nvPr/>
        </p:nvSpPr>
        <p:spPr>
          <a:xfrm>
            <a:off x="4937760" y="2212848"/>
            <a:ext cx="914400" cy="164592"/>
          </a:xfrm>
          <a:prstGeom prst="rect">
            <a:avLst/>
          </a:prstGeom>
          <a:noFill/>
        </p:spPr>
        <p:txBody>
          <a:bodyPr wrap="square" lIns="0" tIns="0" rIns="0" bIns="0" anchor="ctr">
            <a:noAutofit/>
          </a:bodyPr>
          <a:lstStyle/>
          <a:p>
            <a:pPr marL="0" indent="0" algn="ctr">
              <a:buNone/>
            </a:pPr>
            <a:r>
              <a:rPr sz="1450" b="1">
                <a:solidFill>
                  <a:srgbClr val="07245A"/>
                </a:solidFill>
              </a:rPr>
              <a:t>Medir</a:t>
            </a:r>
          </a:p>
        </p:txBody>
      </p:sp>
      <p:sp>
        <p:nvSpPr>
          <p:cNvPr id="24" name="Shape 22">
            <a:extLst>
              <a:ext uri="{FF2B5EF4-FFF2-40B4-BE49-F238E27FC236}">
                <a16:creationId xmlns:a16="http://schemas.microsoft.com/office/drawing/2014/main" id="{C7E5F13D-DCC9-4874-92E9-C3B5699ADA6F}"/>
              </a:ext>
            </a:extLst>
          </p:cNvPr>
          <p:cNvSpPr>
            <a:spLocks noGrp="1"/>
          </p:cNvSpPr>
          <p:nvPr/>
        </p:nvSpPr>
        <p:spPr>
          <a:xfrm>
            <a:off x="5852160" y="2304288"/>
            <a:ext cx="457200" cy="0"/>
          </a:xfrm>
          <a:prstGeom prst="line">
            <a:avLst/>
          </a:prstGeom>
          <a:noFill/>
          <a:ln w="15240">
            <a:solidFill>
              <a:srgbClr val="17B7D7"/>
            </a:solidFill>
            <a:prstDash val="solid"/>
            <a:tailEnd type="triangle"/>
          </a:ln>
        </p:spPr>
        <p:txBody>
          <a:bodyPr/>
          <a:lstStyle/>
          <a:p>
            <a:endParaRPr/>
          </a:p>
        </p:txBody>
      </p:sp>
      <p:sp>
        <p:nvSpPr>
          <p:cNvPr id="25" name="Shape 23">
            <a:extLst>
              <a:ext uri="{FF2B5EF4-FFF2-40B4-BE49-F238E27FC236}">
                <a16:creationId xmlns:a16="http://schemas.microsoft.com/office/drawing/2014/main" id="{4C851924-4801-4ECF-B31B-95BA93D3A20A}"/>
              </a:ext>
            </a:extLst>
          </p:cNvPr>
          <p:cNvSpPr>
            <a:spLocks noGrp="1"/>
          </p:cNvSpPr>
          <p:nvPr/>
        </p:nvSpPr>
        <p:spPr>
          <a:xfrm>
            <a:off x="6355080" y="2057400"/>
            <a:ext cx="914400" cy="502920"/>
          </a:xfrm>
          <a:prstGeom prst="roundRect">
            <a:avLst>
              <a:gd name="adj" fmla="val 9091"/>
            </a:avLst>
          </a:prstGeom>
          <a:solidFill>
            <a:srgbClr val="FFFFFF"/>
          </a:solidFill>
          <a:ln w="12700">
            <a:solidFill>
              <a:srgbClr val="17B7D7"/>
            </a:solidFill>
            <a:prstDash val="solid"/>
          </a:ln>
        </p:spPr>
        <p:txBody>
          <a:bodyPr/>
          <a:lstStyle/>
          <a:p>
            <a:endParaRPr/>
          </a:p>
        </p:txBody>
      </p:sp>
      <p:sp>
        <p:nvSpPr>
          <p:cNvPr id="26" name="Text 24">
            <a:extLst>
              <a:ext uri="{FF2B5EF4-FFF2-40B4-BE49-F238E27FC236}">
                <a16:creationId xmlns:a16="http://schemas.microsoft.com/office/drawing/2014/main" id="{62F8D030-168F-4A38-BDC7-9E7AD0ACBBA0}"/>
              </a:ext>
            </a:extLst>
          </p:cNvPr>
          <p:cNvSpPr>
            <a:spLocks noGrp="1"/>
          </p:cNvSpPr>
          <p:nvPr/>
        </p:nvSpPr>
        <p:spPr>
          <a:xfrm>
            <a:off x="6355080" y="2212848"/>
            <a:ext cx="914400" cy="164592"/>
          </a:xfrm>
          <a:prstGeom prst="rect">
            <a:avLst/>
          </a:prstGeom>
          <a:noFill/>
        </p:spPr>
        <p:txBody>
          <a:bodyPr wrap="square" lIns="0" tIns="0" rIns="0" bIns="0" anchor="ctr">
            <a:noAutofit/>
          </a:bodyPr>
          <a:lstStyle/>
          <a:p>
            <a:pPr marL="0" indent="0" algn="ctr">
              <a:buNone/>
            </a:pPr>
            <a:r>
              <a:rPr sz="1450" b="1">
                <a:solidFill>
                  <a:srgbClr val="07245A"/>
                </a:solidFill>
              </a:rPr>
              <a:t>Comparar</a:t>
            </a:r>
          </a:p>
        </p:txBody>
      </p:sp>
      <p:sp>
        <p:nvSpPr>
          <p:cNvPr id="27" name="Shape 25">
            <a:extLst>
              <a:ext uri="{FF2B5EF4-FFF2-40B4-BE49-F238E27FC236}">
                <a16:creationId xmlns:a16="http://schemas.microsoft.com/office/drawing/2014/main" id="{A156503B-C704-433E-A04B-6416A3B0E81F}"/>
              </a:ext>
            </a:extLst>
          </p:cNvPr>
          <p:cNvSpPr>
            <a:spLocks noGrp="1"/>
          </p:cNvSpPr>
          <p:nvPr/>
        </p:nvSpPr>
        <p:spPr>
          <a:xfrm>
            <a:off x="7269480" y="2304288"/>
            <a:ext cx="457200" cy="0"/>
          </a:xfrm>
          <a:prstGeom prst="line">
            <a:avLst/>
          </a:prstGeom>
          <a:noFill/>
          <a:ln w="15240">
            <a:solidFill>
              <a:srgbClr val="17B7D7"/>
            </a:solidFill>
            <a:prstDash val="solid"/>
            <a:tailEnd type="triangle"/>
          </a:ln>
        </p:spPr>
        <p:txBody>
          <a:bodyPr/>
          <a:lstStyle/>
          <a:p>
            <a:endParaRPr/>
          </a:p>
        </p:txBody>
      </p:sp>
      <p:sp>
        <p:nvSpPr>
          <p:cNvPr id="28" name="Shape 26">
            <a:extLst>
              <a:ext uri="{FF2B5EF4-FFF2-40B4-BE49-F238E27FC236}">
                <a16:creationId xmlns:a16="http://schemas.microsoft.com/office/drawing/2014/main" id="{E1C5F555-EEE5-42B0-8A0F-6A8E045CC09F}"/>
              </a:ext>
            </a:extLst>
          </p:cNvPr>
          <p:cNvSpPr>
            <a:spLocks noGrp="1"/>
          </p:cNvSpPr>
          <p:nvPr/>
        </p:nvSpPr>
        <p:spPr>
          <a:xfrm>
            <a:off x="7772400" y="2057400"/>
            <a:ext cx="914400" cy="502920"/>
          </a:xfrm>
          <a:prstGeom prst="roundRect">
            <a:avLst>
              <a:gd name="adj" fmla="val 9091"/>
            </a:avLst>
          </a:prstGeom>
          <a:solidFill>
            <a:srgbClr val="EAF8FC"/>
          </a:solidFill>
          <a:ln w="12700">
            <a:solidFill>
              <a:srgbClr val="17B7D7"/>
            </a:solidFill>
            <a:prstDash val="solid"/>
          </a:ln>
        </p:spPr>
        <p:txBody>
          <a:bodyPr/>
          <a:lstStyle/>
          <a:p>
            <a:endParaRPr/>
          </a:p>
        </p:txBody>
      </p:sp>
      <p:sp>
        <p:nvSpPr>
          <p:cNvPr id="29" name="Text 27">
            <a:extLst>
              <a:ext uri="{FF2B5EF4-FFF2-40B4-BE49-F238E27FC236}">
                <a16:creationId xmlns:a16="http://schemas.microsoft.com/office/drawing/2014/main" id="{D4DDB95B-5C22-4BE7-843C-3750C2725342}"/>
              </a:ext>
            </a:extLst>
          </p:cNvPr>
          <p:cNvSpPr>
            <a:spLocks noGrp="1"/>
          </p:cNvSpPr>
          <p:nvPr/>
        </p:nvSpPr>
        <p:spPr>
          <a:xfrm>
            <a:off x="7772400" y="2212848"/>
            <a:ext cx="914400" cy="164592"/>
          </a:xfrm>
          <a:prstGeom prst="rect">
            <a:avLst/>
          </a:prstGeom>
          <a:noFill/>
        </p:spPr>
        <p:txBody>
          <a:bodyPr wrap="square" lIns="0" tIns="0" rIns="0" bIns="0" anchor="ctr">
            <a:noAutofit/>
          </a:bodyPr>
          <a:lstStyle/>
          <a:p>
            <a:pPr marL="0" indent="0" algn="ctr">
              <a:buNone/>
            </a:pPr>
            <a:r>
              <a:rPr sz="1450" b="1">
                <a:solidFill>
                  <a:srgbClr val="07245A"/>
                </a:solidFill>
              </a:rPr>
              <a:t>Costo</a:t>
            </a:r>
          </a:p>
        </p:txBody>
      </p:sp>
      <p:sp>
        <p:nvSpPr>
          <p:cNvPr id="30" name="Shape 28">
            <a:extLst>
              <a:ext uri="{FF2B5EF4-FFF2-40B4-BE49-F238E27FC236}">
                <a16:creationId xmlns:a16="http://schemas.microsoft.com/office/drawing/2014/main" id="{364EE79F-3FAE-47BE-9B66-FAD80E1F5F8A}"/>
              </a:ext>
            </a:extLst>
          </p:cNvPr>
          <p:cNvSpPr>
            <a:spLocks noGrp="1"/>
          </p:cNvSpPr>
          <p:nvPr/>
        </p:nvSpPr>
        <p:spPr>
          <a:xfrm>
            <a:off x="8686800" y="2304288"/>
            <a:ext cx="457200" cy="0"/>
          </a:xfrm>
          <a:prstGeom prst="line">
            <a:avLst/>
          </a:prstGeom>
          <a:noFill/>
          <a:ln w="15240">
            <a:solidFill>
              <a:srgbClr val="17B7D7"/>
            </a:solidFill>
            <a:prstDash val="solid"/>
            <a:tailEnd type="triangle"/>
          </a:ln>
        </p:spPr>
        <p:txBody>
          <a:bodyPr/>
          <a:lstStyle/>
          <a:p>
            <a:endParaRPr/>
          </a:p>
        </p:txBody>
      </p:sp>
      <p:sp>
        <p:nvSpPr>
          <p:cNvPr id="31" name="Shape 29">
            <a:extLst>
              <a:ext uri="{FF2B5EF4-FFF2-40B4-BE49-F238E27FC236}">
                <a16:creationId xmlns:a16="http://schemas.microsoft.com/office/drawing/2014/main" id="{46DFC195-882F-4E73-A4E4-5B08C5A22D7D}"/>
              </a:ext>
            </a:extLst>
          </p:cNvPr>
          <p:cNvSpPr>
            <a:spLocks noGrp="1"/>
          </p:cNvSpPr>
          <p:nvPr/>
        </p:nvSpPr>
        <p:spPr>
          <a:xfrm>
            <a:off x="9189720" y="2057400"/>
            <a:ext cx="914400" cy="502920"/>
          </a:xfrm>
          <a:prstGeom prst="roundRect">
            <a:avLst>
              <a:gd name="adj" fmla="val 9091"/>
            </a:avLst>
          </a:prstGeom>
          <a:solidFill>
            <a:srgbClr val="FFFFFF"/>
          </a:solidFill>
          <a:ln w="12700">
            <a:solidFill>
              <a:srgbClr val="17B7D7"/>
            </a:solidFill>
            <a:prstDash val="solid"/>
          </a:ln>
        </p:spPr>
        <p:txBody>
          <a:bodyPr/>
          <a:lstStyle/>
          <a:p>
            <a:endParaRPr/>
          </a:p>
        </p:txBody>
      </p:sp>
      <p:sp>
        <p:nvSpPr>
          <p:cNvPr id="32" name="Text 30">
            <a:extLst>
              <a:ext uri="{FF2B5EF4-FFF2-40B4-BE49-F238E27FC236}">
                <a16:creationId xmlns:a16="http://schemas.microsoft.com/office/drawing/2014/main" id="{1DDCAC00-95EE-4C2B-99E4-215690CA0FEB}"/>
              </a:ext>
            </a:extLst>
          </p:cNvPr>
          <p:cNvSpPr>
            <a:spLocks noGrp="1"/>
          </p:cNvSpPr>
          <p:nvPr/>
        </p:nvSpPr>
        <p:spPr>
          <a:xfrm>
            <a:off x="9189720" y="2212848"/>
            <a:ext cx="914400" cy="164592"/>
          </a:xfrm>
          <a:prstGeom prst="rect">
            <a:avLst/>
          </a:prstGeom>
          <a:noFill/>
        </p:spPr>
        <p:txBody>
          <a:bodyPr wrap="square" lIns="0" tIns="0" rIns="0" bIns="0" anchor="ctr">
            <a:noAutofit/>
          </a:bodyPr>
          <a:lstStyle/>
          <a:p>
            <a:pPr marL="0" indent="0" algn="ctr">
              <a:buNone/>
            </a:pPr>
            <a:r>
              <a:rPr sz="1450" b="1">
                <a:solidFill>
                  <a:srgbClr val="07245A"/>
                </a:solidFill>
              </a:rPr>
              <a:t>Veredicto</a:t>
            </a:r>
          </a:p>
        </p:txBody>
      </p:sp>
      <p:sp>
        <p:nvSpPr>
          <p:cNvPr id="33" name="Shape 31">
            <a:extLst>
              <a:ext uri="{FF2B5EF4-FFF2-40B4-BE49-F238E27FC236}">
                <a16:creationId xmlns:a16="http://schemas.microsoft.com/office/drawing/2014/main" id="{E4B13B68-41C1-47B2-9724-8CD1E9748F98}"/>
              </a:ext>
            </a:extLst>
          </p:cNvPr>
          <p:cNvSpPr>
            <a:spLocks noGrp="1"/>
          </p:cNvSpPr>
          <p:nvPr/>
        </p:nvSpPr>
        <p:spPr>
          <a:xfrm>
            <a:off x="10104120" y="2304288"/>
            <a:ext cx="457200" cy="0"/>
          </a:xfrm>
          <a:prstGeom prst="line">
            <a:avLst/>
          </a:prstGeom>
          <a:noFill/>
          <a:ln w="15240">
            <a:solidFill>
              <a:srgbClr val="17B7D7"/>
            </a:solidFill>
            <a:prstDash val="solid"/>
            <a:tailEnd type="triangle"/>
          </a:ln>
        </p:spPr>
        <p:txBody>
          <a:bodyPr/>
          <a:lstStyle/>
          <a:p>
            <a:endParaRPr/>
          </a:p>
        </p:txBody>
      </p:sp>
      <p:sp>
        <p:nvSpPr>
          <p:cNvPr id="34" name="Shape 32">
            <a:extLst>
              <a:ext uri="{FF2B5EF4-FFF2-40B4-BE49-F238E27FC236}">
                <a16:creationId xmlns:a16="http://schemas.microsoft.com/office/drawing/2014/main" id="{D8D3B55D-C534-4AB6-9C04-2C0681AEDE29}"/>
              </a:ext>
            </a:extLst>
          </p:cNvPr>
          <p:cNvSpPr>
            <a:spLocks noGrp="1"/>
          </p:cNvSpPr>
          <p:nvPr/>
        </p:nvSpPr>
        <p:spPr>
          <a:xfrm>
            <a:off x="10607040" y="2057400"/>
            <a:ext cx="914400" cy="502920"/>
          </a:xfrm>
          <a:prstGeom prst="roundRect">
            <a:avLst>
              <a:gd name="adj" fmla="val 9091"/>
            </a:avLst>
          </a:prstGeom>
          <a:solidFill>
            <a:srgbClr val="EAF8FC"/>
          </a:solidFill>
          <a:ln w="12700">
            <a:solidFill>
              <a:srgbClr val="17B7D7"/>
            </a:solidFill>
            <a:prstDash val="solid"/>
          </a:ln>
        </p:spPr>
        <p:txBody>
          <a:bodyPr/>
          <a:lstStyle/>
          <a:p>
            <a:endParaRPr/>
          </a:p>
        </p:txBody>
      </p:sp>
      <p:sp>
        <p:nvSpPr>
          <p:cNvPr id="35" name="Text 33">
            <a:extLst>
              <a:ext uri="{FF2B5EF4-FFF2-40B4-BE49-F238E27FC236}">
                <a16:creationId xmlns:a16="http://schemas.microsoft.com/office/drawing/2014/main" id="{241B5D05-4FA5-4C78-AA1F-209E671F42AE}"/>
              </a:ext>
            </a:extLst>
          </p:cNvPr>
          <p:cNvSpPr>
            <a:spLocks noGrp="1"/>
          </p:cNvSpPr>
          <p:nvPr/>
        </p:nvSpPr>
        <p:spPr>
          <a:xfrm>
            <a:off x="10607040" y="2212848"/>
            <a:ext cx="914400" cy="164592"/>
          </a:xfrm>
          <a:prstGeom prst="rect">
            <a:avLst/>
          </a:prstGeom>
          <a:noFill/>
        </p:spPr>
        <p:txBody>
          <a:bodyPr wrap="square" lIns="0" tIns="0" rIns="0" bIns="0" anchor="ctr">
            <a:noAutofit/>
          </a:bodyPr>
          <a:lstStyle/>
          <a:p>
            <a:pPr marL="0" indent="0" algn="ctr">
              <a:buNone/>
            </a:pPr>
            <a:r>
              <a:rPr sz="1450" b="1">
                <a:solidFill>
                  <a:srgbClr val="07245A"/>
                </a:solidFill>
              </a:rPr>
              <a:t>Defender</a:t>
            </a:r>
          </a:p>
        </p:txBody>
      </p:sp>
      <p:sp>
        <p:nvSpPr>
          <p:cNvPr id="36" name="Shape 34">
            <a:extLst>
              <a:ext uri="{FF2B5EF4-FFF2-40B4-BE49-F238E27FC236}">
                <a16:creationId xmlns:a16="http://schemas.microsoft.com/office/drawing/2014/main" id="{873E4BFB-7860-49DB-825F-DD2CB16A835B}"/>
              </a:ext>
            </a:extLst>
          </p:cNvPr>
          <p:cNvSpPr>
            <a:spLocks noGrp="1"/>
          </p:cNvSpPr>
          <p:nvPr/>
        </p:nvSpPr>
        <p:spPr>
          <a:xfrm>
            <a:off x="868680" y="2871217"/>
            <a:ext cx="5166360" cy="2020823"/>
          </a:xfrm>
          <a:prstGeom prst="roundRect">
            <a:avLst>
              <a:gd name="adj" fmla="val 3529"/>
            </a:avLst>
          </a:prstGeom>
          <a:solidFill>
            <a:srgbClr val="FFFFFF"/>
          </a:solidFill>
          <a:ln w="10160">
            <a:solidFill>
              <a:srgbClr val="D7E4EF"/>
            </a:solidFill>
            <a:prstDash val="solid"/>
          </a:ln>
        </p:spPr>
        <p:txBody>
          <a:bodyPr/>
          <a:lstStyle/>
          <a:p>
            <a:endParaRPr/>
          </a:p>
        </p:txBody>
      </p:sp>
      <p:sp>
        <p:nvSpPr>
          <p:cNvPr id="37" name="Text 35">
            <a:extLst>
              <a:ext uri="{FF2B5EF4-FFF2-40B4-BE49-F238E27FC236}">
                <a16:creationId xmlns:a16="http://schemas.microsoft.com/office/drawing/2014/main" id="{820CD714-2449-4C6E-BE21-78A764FFC2C6}"/>
              </a:ext>
            </a:extLst>
          </p:cNvPr>
          <p:cNvSpPr>
            <a:spLocks noGrp="1"/>
          </p:cNvSpPr>
          <p:nvPr/>
        </p:nvSpPr>
        <p:spPr>
          <a:xfrm>
            <a:off x="1033272" y="2953894"/>
            <a:ext cx="4837176" cy="309067"/>
          </a:xfrm>
          <a:prstGeom prst="rect">
            <a:avLst/>
          </a:prstGeom>
          <a:noFill/>
        </p:spPr>
        <p:txBody>
          <a:bodyPr wrap="square" lIns="0" tIns="0" rIns="0" bIns="0" anchor="ctr">
            <a:noAutofit/>
          </a:bodyPr>
          <a:lstStyle/>
          <a:p>
            <a:pPr marL="0" indent="0">
              <a:buNone/>
            </a:pPr>
            <a:r>
              <a:rPr sz="2200" b="1">
                <a:solidFill>
                  <a:srgbClr val="07245A"/>
                </a:solidFill>
              </a:rPr>
              <a:t>Consigna</a:t>
            </a:r>
            <a:endParaRPr sz="2000" b="1">
              <a:solidFill>
                <a:srgbClr val="07245A"/>
              </a:solidFill>
            </a:endParaRPr>
          </a:p>
        </p:txBody>
      </p:sp>
      <p:sp>
        <p:nvSpPr>
          <p:cNvPr id="38" name="Shape 36">
            <a:extLst>
              <a:ext uri="{FF2B5EF4-FFF2-40B4-BE49-F238E27FC236}">
                <a16:creationId xmlns:a16="http://schemas.microsoft.com/office/drawing/2014/main" id="{83271513-938B-4A5E-9563-0F07F285E576}"/>
              </a:ext>
            </a:extLst>
          </p:cNvPr>
          <p:cNvSpPr>
            <a:spLocks noGrp="1"/>
          </p:cNvSpPr>
          <p:nvPr/>
        </p:nvSpPr>
        <p:spPr>
          <a:xfrm>
            <a:off x="1033272" y="3310129"/>
            <a:ext cx="502920" cy="0"/>
          </a:xfrm>
          <a:prstGeom prst="line">
            <a:avLst/>
          </a:prstGeom>
          <a:noFill/>
          <a:ln w="22860">
            <a:solidFill>
              <a:srgbClr val="17B7D7"/>
            </a:solidFill>
            <a:prstDash val="solid"/>
          </a:ln>
        </p:spPr>
        <p:txBody>
          <a:bodyPr/>
          <a:lstStyle/>
          <a:p>
            <a:endParaRPr/>
          </a:p>
        </p:txBody>
      </p:sp>
      <p:sp>
        <p:nvSpPr>
          <p:cNvPr id="39" name="Text 37">
            <a:extLst>
              <a:ext uri="{FF2B5EF4-FFF2-40B4-BE49-F238E27FC236}">
                <a16:creationId xmlns:a16="http://schemas.microsoft.com/office/drawing/2014/main" id="{419DBB8F-F570-435A-9AF4-F020EC74CA00}"/>
              </a:ext>
            </a:extLst>
          </p:cNvPr>
          <p:cNvSpPr>
            <a:spLocks noGrp="1"/>
          </p:cNvSpPr>
          <p:nvPr/>
        </p:nvSpPr>
        <p:spPr>
          <a:xfrm>
            <a:off x="1033272" y="3310129"/>
            <a:ext cx="4837176" cy="1490471"/>
          </a:xfrm>
          <a:prstGeom prst="rect">
            <a:avLst/>
          </a:prstGeom>
          <a:noFill/>
        </p:spPr>
        <p:txBody>
          <a:bodyPr wrap="square" lIns="254" tIns="254" rIns="254" bIns="254" anchor="ctr">
            <a:noAutofit/>
          </a:bodyPr>
          <a:lstStyle/>
          <a:p>
            <a:r>
              <a:rPr sz="1600">
                <a:solidFill>
                  <a:srgbClr val="17212B"/>
                </a:solidFill>
              </a:rPr>
              <a:t>MySQL: comparar consultas selectivas antes/después de hasta dos índices y medir 10.000 INSERT para exponer el costo de escritura.</a:t>
            </a:r>
          </a:p>
          <a:p>
            <a:pPr marL="0" indent="0">
              <a:buNone/>
            </a:pPr>
            <a:r>
              <a:rPr sz="1600">
                <a:solidFill>
                  <a:srgbClr val="17212B"/>
                </a:solidFill>
              </a:rPr>
              <a:t>PostgreSQL: comparar heap y tabla particionada, observar pruning, probar un índice complementario y contrastar DELETE con retiro de partición.</a:t>
            </a:r>
          </a:p>
        </p:txBody>
      </p:sp>
      <p:sp>
        <p:nvSpPr>
          <p:cNvPr id="40" name="Shape 38">
            <a:extLst>
              <a:ext uri="{FF2B5EF4-FFF2-40B4-BE49-F238E27FC236}">
                <a16:creationId xmlns:a16="http://schemas.microsoft.com/office/drawing/2014/main" id="{21F54B2E-D991-453E-9F7E-09EDFB3B523C}"/>
              </a:ext>
            </a:extLst>
          </p:cNvPr>
          <p:cNvSpPr>
            <a:spLocks noGrp="1"/>
          </p:cNvSpPr>
          <p:nvPr/>
        </p:nvSpPr>
        <p:spPr>
          <a:xfrm>
            <a:off x="6309360" y="2871217"/>
            <a:ext cx="5074920" cy="2020823"/>
          </a:xfrm>
          <a:prstGeom prst="roundRect">
            <a:avLst>
              <a:gd name="adj" fmla="val 3529"/>
            </a:avLst>
          </a:prstGeom>
          <a:solidFill>
            <a:srgbClr val="FFFFFF"/>
          </a:solidFill>
          <a:ln w="10160">
            <a:solidFill>
              <a:srgbClr val="D7E4EF"/>
            </a:solidFill>
            <a:prstDash val="solid"/>
          </a:ln>
        </p:spPr>
        <p:txBody>
          <a:bodyPr/>
          <a:lstStyle/>
          <a:p>
            <a:endParaRPr/>
          </a:p>
        </p:txBody>
      </p:sp>
      <p:sp>
        <p:nvSpPr>
          <p:cNvPr id="41" name="Text 39">
            <a:extLst>
              <a:ext uri="{FF2B5EF4-FFF2-40B4-BE49-F238E27FC236}">
                <a16:creationId xmlns:a16="http://schemas.microsoft.com/office/drawing/2014/main" id="{61FAF4DF-1EF7-4E9B-83EF-B4CCD178F6E1}"/>
              </a:ext>
            </a:extLst>
          </p:cNvPr>
          <p:cNvSpPr>
            <a:spLocks noGrp="1"/>
          </p:cNvSpPr>
          <p:nvPr/>
        </p:nvSpPr>
        <p:spPr>
          <a:xfrm>
            <a:off x="6473952" y="2953512"/>
            <a:ext cx="4745736" cy="309067"/>
          </a:xfrm>
          <a:prstGeom prst="rect">
            <a:avLst/>
          </a:prstGeom>
          <a:noFill/>
        </p:spPr>
        <p:txBody>
          <a:bodyPr wrap="square" lIns="0" tIns="0" rIns="0" bIns="0" anchor="ctr">
            <a:noAutofit/>
          </a:bodyPr>
          <a:lstStyle/>
          <a:p>
            <a:pPr marL="0" indent="0">
              <a:buNone/>
            </a:pPr>
            <a:r>
              <a:rPr sz="2200" b="1">
                <a:solidFill>
                  <a:srgbClr val="07245A"/>
                </a:solidFill>
              </a:rPr>
              <a:t>Entregable</a:t>
            </a:r>
            <a:endParaRPr sz="2000" b="1">
              <a:solidFill>
                <a:srgbClr val="07245A"/>
              </a:solidFill>
            </a:endParaRPr>
          </a:p>
        </p:txBody>
      </p:sp>
      <p:sp>
        <p:nvSpPr>
          <p:cNvPr id="42" name="Shape 40">
            <a:extLst>
              <a:ext uri="{FF2B5EF4-FFF2-40B4-BE49-F238E27FC236}">
                <a16:creationId xmlns:a16="http://schemas.microsoft.com/office/drawing/2014/main" id="{0B2E7623-9B21-40A8-9B13-E126984D190B}"/>
              </a:ext>
            </a:extLst>
          </p:cNvPr>
          <p:cNvSpPr>
            <a:spLocks noGrp="1"/>
          </p:cNvSpPr>
          <p:nvPr/>
        </p:nvSpPr>
        <p:spPr>
          <a:xfrm>
            <a:off x="6473952" y="3343276"/>
            <a:ext cx="502920" cy="0"/>
          </a:xfrm>
          <a:prstGeom prst="line">
            <a:avLst/>
          </a:prstGeom>
          <a:noFill/>
          <a:ln w="22860">
            <a:solidFill>
              <a:srgbClr val="0B5CAD"/>
            </a:solidFill>
            <a:prstDash val="solid"/>
          </a:ln>
        </p:spPr>
        <p:txBody>
          <a:bodyPr/>
          <a:lstStyle/>
          <a:p>
            <a:endParaRPr/>
          </a:p>
        </p:txBody>
      </p:sp>
      <p:sp>
        <p:nvSpPr>
          <p:cNvPr id="43" name="Text 41">
            <a:extLst>
              <a:ext uri="{FF2B5EF4-FFF2-40B4-BE49-F238E27FC236}">
                <a16:creationId xmlns:a16="http://schemas.microsoft.com/office/drawing/2014/main" id="{A65D9C33-BDE1-4812-A716-1E9903EEA58D}"/>
              </a:ext>
            </a:extLst>
          </p:cNvPr>
          <p:cNvSpPr>
            <a:spLocks noGrp="1"/>
          </p:cNvSpPr>
          <p:nvPr/>
        </p:nvSpPr>
        <p:spPr>
          <a:xfrm>
            <a:off x="6473952" y="3343277"/>
            <a:ext cx="4745736" cy="1457324"/>
          </a:xfrm>
          <a:prstGeom prst="rect">
            <a:avLst/>
          </a:prstGeom>
          <a:noFill/>
        </p:spPr>
        <p:txBody>
          <a:bodyPr wrap="square" lIns="254" tIns="254" rIns="254" bIns="254" anchor="ctr">
            <a:normAutofit/>
          </a:bodyPr>
          <a:lstStyle/>
          <a:p>
            <a:pPr marL="0" indent="0">
              <a:buNone/>
            </a:pPr>
            <a:r>
              <a:rPr sz="1800">
                <a:solidFill>
                  <a:srgbClr val="17212B"/>
                </a:solidFill>
              </a:rPr>
              <a:t>Bitácora con hipótesis previa, DDL, planes antes/después, tres ejecuciones y mediana. Incluir decisión descartada, costo de escritura o retención y veredicto. Cada integrante defiende una evidencia.</a:t>
            </a:r>
          </a:p>
        </p:txBody>
      </p:sp>
      <p:sp>
        <p:nvSpPr>
          <p:cNvPr id="44" name="Text 42">
            <a:extLst>
              <a:ext uri="{FF2B5EF4-FFF2-40B4-BE49-F238E27FC236}">
                <a16:creationId xmlns:a16="http://schemas.microsoft.com/office/drawing/2014/main" id="{24DF68EE-BDEA-4DF0-8C43-9AA88AFF6036}"/>
              </a:ext>
            </a:extLst>
          </p:cNvPr>
          <p:cNvSpPr>
            <a:spLocks noGrp="1"/>
          </p:cNvSpPr>
          <p:nvPr/>
        </p:nvSpPr>
        <p:spPr>
          <a:xfrm>
            <a:off x="914400" y="5143500"/>
            <a:ext cx="10241280" cy="685800"/>
          </a:xfrm>
          <a:prstGeom prst="rect">
            <a:avLst/>
          </a:prstGeom>
          <a:noFill/>
        </p:spPr>
        <p:txBody>
          <a:bodyPr wrap="square" anchor="ctr"/>
          <a:lstStyle/>
          <a:p>
            <a:pPr marL="0" indent="0" algn="ctr">
              <a:buNone/>
            </a:pPr>
            <a:r>
              <a:rPr sz="2600" b="1">
                <a:solidFill>
                  <a:srgbClr val="0B5CAD"/>
                </a:solidFill>
              </a:rPr>
              <a:t>Resultado demostrable: mantener, modificar o revertir la decisión con evidencia reproducible.</a:t>
            </a:r>
          </a:p>
        </p:txBody>
      </p:sp>
      <p:sp>
        <p:nvSpPr>
          <p:cNvPr id="45" name="Shape 43">
            <a:extLst>
              <a:ext uri="{FF2B5EF4-FFF2-40B4-BE49-F238E27FC236}">
                <a16:creationId xmlns:a16="http://schemas.microsoft.com/office/drawing/2014/main" id="{8CBAB000-C548-4C48-B6C4-4B1662D87CB1}"/>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46" name="Text 44">
            <a:extLst>
              <a:ext uri="{FF2B5EF4-FFF2-40B4-BE49-F238E27FC236}">
                <a16:creationId xmlns:a16="http://schemas.microsoft.com/office/drawing/2014/main" id="{987DE042-B090-4121-B2E2-BC2BA4B75068}"/>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Tree>
    <p:extLst>
      <p:ext uri="{BB962C8B-B14F-4D97-AF65-F5344CB8AC3E}">
        <p14:creationId xmlns:p14="http://schemas.microsoft.com/office/powerpoint/2010/main" val="10900441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B375714-6743-4FDC-A32E-4FD12319994B}"/>
              </a:ext>
            </a:extLst>
          </p:cNvPr>
          <p:cNvSpPr>
            <a:spLocks noGrp="1"/>
          </p:cNvSpPr>
          <p:nvPr/>
        </p:nvSpPr>
        <p:spPr>
          <a:xfrm>
            <a:off x="9784080" y="-411480"/>
            <a:ext cx="2468880" cy="2011680"/>
          </a:xfrm>
          <a:prstGeom prst="arc">
            <a:avLst/>
          </a:prstGeom>
          <a:noFill/>
          <a:ln w="19050">
            <a:solidFill>
              <a:srgbClr val="D7EEF8">
                <a:alpha val="55000"/>
              </a:srgbClr>
            </a:solidFill>
            <a:prstDash val="solid"/>
          </a:ln>
        </p:spPr>
        <p:txBody>
          <a:bodyPr/>
          <a:lstStyle/>
          <a:p>
            <a:endParaRPr/>
          </a:p>
        </p:txBody>
      </p:sp>
      <p:sp>
        <p:nvSpPr>
          <p:cNvPr id="3" name="Shape 1">
            <a:extLst>
              <a:ext uri="{FF2B5EF4-FFF2-40B4-BE49-F238E27FC236}">
                <a16:creationId xmlns:a16="http://schemas.microsoft.com/office/drawing/2014/main" id="{8B8D7FA2-63C9-4E91-B28C-19F47BAF07B8}"/>
              </a:ext>
            </a:extLst>
          </p:cNvPr>
          <p:cNvSpPr>
            <a:spLocks noGrp="1"/>
          </p:cNvSpPr>
          <p:nvPr/>
        </p:nvSpPr>
        <p:spPr>
          <a:xfrm>
            <a:off x="10241280" y="5897880"/>
            <a:ext cx="2286000" cy="1554480"/>
          </a:xfrm>
          <a:prstGeom prst="arc">
            <a:avLst/>
          </a:prstGeom>
          <a:noFill/>
          <a:ln w="19050">
            <a:solidFill>
              <a:srgbClr val="C7EAF5">
                <a:alpha val="55000"/>
              </a:srgbClr>
            </a:solidFill>
            <a:prstDash val="solid"/>
          </a:ln>
        </p:spPr>
        <p:txBody>
          <a:bodyPr/>
          <a:lstStyle/>
          <a:p>
            <a:endParaRPr/>
          </a:p>
        </p:txBody>
      </p:sp>
      <p:sp>
        <p:nvSpPr>
          <p:cNvPr id="4" name="Shape 2">
            <a:extLst>
              <a:ext uri="{FF2B5EF4-FFF2-40B4-BE49-F238E27FC236}">
                <a16:creationId xmlns:a16="http://schemas.microsoft.com/office/drawing/2014/main" id="{30B36A17-40A2-40C9-8037-1C82D6E287C8}"/>
              </a:ext>
            </a:extLst>
          </p:cNvPr>
          <p:cNvSpPr>
            <a:spLocks noGrp="1"/>
          </p:cNvSpPr>
          <p:nvPr/>
        </p:nvSpPr>
        <p:spPr>
          <a:xfrm>
            <a:off x="411480" y="658368"/>
            <a:ext cx="11384280" cy="0"/>
          </a:xfrm>
          <a:prstGeom prst="line">
            <a:avLst/>
          </a:prstGeom>
          <a:noFill/>
          <a:ln w="7620">
            <a:solidFill>
              <a:srgbClr val="D7E4EF"/>
            </a:solidFill>
            <a:prstDash val="solid"/>
          </a:ln>
        </p:spPr>
        <p:txBody>
          <a:bodyPr/>
          <a:lstStyle/>
          <a:p>
            <a:endParaRPr/>
          </a:p>
        </p:txBody>
      </p:sp>
      <p:sp>
        <p:nvSpPr>
          <p:cNvPr id="5" name="Shape 3">
            <a:extLst>
              <a:ext uri="{FF2B5EF4-FFF2-40B4-BE49-F238E27FC236}">
                <a16:creationId xmlns:a16="http://schemas.microsoft.com/office/drawing/2014/main" id="{C607416F-F447-443F-9866-50DAE7A770F3}"/>
              </a:ext>
            </a:extLst>
          </p:cNvPr>
          <p:cNvSpPr>
            <a:spLocks noGrp="1"/>
          </p:cNvSpPr>
          <p:nvPr/>
        </p:nvSpPr>
        <p:spPr>
          <a:xfrm>
            <a:off x="411480" y="256032"/>
            <a:ext cx="292608" cy="292608"/>
          </a:xfrm>
          <a:prstGeom prst="rect">
            <a:avLst/>
          </a:prstGeom>
          <a:solidFill>
            <a:srgbClr val="0B5CAD"/>
          </a:solidFill>
          <a:ln w="12700">
            <a:solidFill>
              <a:srgbClr val="0B5CAD"/>
            </a:solidFill>
            <a:prstDash val="solid"/>
          </a:ln>
        </p:spPr>
        <p:txBody>
          <a:bodyPr/>
          <a:lstStyle/>
          <a:p>
            <a:endParaRPr/>
          </a:p>
        </p:txBody>
      </p:sp>
      <p:sp>
        <p:nvSpPr>
          <p:cNvPr id="6" name="Text 4">
            <a:extLst>
              <a:ext uri="{FF2B5EF4-FFF2-40B4-BE49-F238E27FC236}">
                <a16:creationId xmlns:a16="http://schemas.microsoft.com/office/drawing/2014/main" id="{E8A1AD9F-9EA6-4137-B545-426C030B8582}"/>
              </a:ext>
            </a:extLst>
          </p:cNvPr>
          <p:cNvSpPr>
            <a:spLocks noGrp="1"/>
          </p:cNvSpPr>
          <p:nvPr/>
        </p:nvSpPr>
        <p:spPr>
          <a:xfrm>
            <a:off x="768096" y="201168"/>
            <a:ext cx="731520" cy="274320"/>
          </a:xfrm>
          <a:prstGeom prst="rect">
            <a:avLst/>
          </a:prstGeom>
          <a:noFill/>
        </p:spPr>
        <p:txBody>
          <a:bodyPr wrap="square" lIns="0" tIns="0" rIns="0" bIns="0" anchor="ctr"/>
          <a:lstStyle/>
          <a:p>
            <a:pPr marL="0" indent="0">
              <a:buNone/>
            </a:pPr>
            <a:r>
              <a:rPr sz="1800" b="1">
                <a:solidFill>
                  <a:srgbClr val="07245A"/>
                </a:solidFill>
                <a:latin typeface="Aptos Display"/>
                <a:ea typeface="Aptos Display"/>
                <a:cs typeface="Aptos Display"/>
              </a:rPr>
              <a:t>UTN</a:t>
            </a:r>
          </a:p>
        </p:txBody>
      </p:sp>
      <p:sp>
        <p:nvSpPr>
          <p:cNvPr id="7" name="Text 5">
            <a:extLst>
              <a:ext uri="{FF2B5EF4-FFF2-40B4-BE49-F238E27FC236}">
                <a16:creationId xmlns:a16="http://schemas.microsoft.com/office/drawing/2014/main" id="{FB08DFC8-A9B7-4389-B4E1-7FBDF8A9087D}"/>
              </a:ext>
            </a:extLst>
          </p:cNvPr>
          <p:cNvSpPr>
            <a:spLocks noGrp="1"/>
          </p:cNvSpPr>
          <p:nvPr/>
        </p:nvSpPr>
        <p:spPr>
          <a:xfrm>
            <a:off x="768096" y="438912"/>
            <a:ext cx="777240" cy="182880"/>
          </a:xfrm>
          <a:prstGeom prst="rect">
            <a:avLst/>
          </a:prstGeom>
          <a:noFill/>
        </p:spPr>
        <p:txBody>
          <a:bodyPr wrap="square" lIns="0" tIns="0" rIns="0" bIns="0" anchor="ctr"/>
          <a:lstStyle/>
          <a:p>
            <a:pPr marL="0" indent="0">
              <a:buNone/>
            </a:pPr>
            <a:r>
              <a:rPr sz="1000" b="1">
                <a:solidFill>
                  <a:srgbClr val="17B7D7"/>
                </a:solidFill>
              </a:rPr>
              <a:t>FRRe</a:t>
            </a:r>
          </a:p>
        </p:txBody>
      </p:sp>
      <p:sp>
        <p:nvSpPr>
          <p:cNvPr id="8" name="Text 6">
            <a:extLst>
              <a:ext uri="{FF2B5EF4-FFF2-40B4-BE49-F238E27FC236}">
                <a16:creationId xmlns:a16="http://schemas.microsoft.com/office/drawing/2014/main" id="{381C5A80-83F0-44EC-BACE-476F9926966A}"/>
              </a:ext>
            </a:extLst>
          </p:cNvPr>
          <p:cNvSpPr>
            <a:spLocks noGrp="1"/>
          </p:cNvSpPr>
          <p:nvPr/>
        </p:nvSpPr>
        <p:spPr>
          <a:xfrm>
            <a:off x="1600200" y="256032"/>
            <a:ext cx="7863840" cy="237744"/>
          </a:xfrm>
          <a:prstGeom prst="rect">
            <a:avLst/>
          </a:prstGeom>
          <a:noFill/>
        </p:spPr>
        <p:txBody>
          <a:bodyPr wrap="square" lIns="0" tIns="0" rIns="0" bIns="0" anchor="ctr"/>
          <a:lstStyle/>
          <a:p>
            <a:pPr marL="0" indent="0">
              <a:buNone/>
            </a:pPr>
            <a:r>
              <a:rPr sz="1000">
                <a:solidFill>
                  <a:srgbClr val="5D6D7E"/>
                </a:solidFill>
              </a:rPr>
              <a:t>Unidad 2 · Diseño físico y rendimiento</a:t>
            </a:r>
          </a:p>
        </p:txBody>
      </p:sp>
      <p:sp>
        <p:nvSpPr>
          <p:cNvPr id="9" name="Text 7">
            <a:extLst>
              <a:ext uri="{FF2B5EF4-FFF2-40B4-BE49-F238E27FC236}">
                <a16:creationId xmlns:a16="http://schemas.microsoft.com/office/drawing/2014/main" id="{4B37DBAD-D141-433C-B395-2CC958F11DA7}"/>
              </a:ext>
            </a:extLst>
          </p:cNvPr>
          <p:cNvSpPr>
            <a:spLocks noGrp="1"/>
          </p:cNvSpPr>
          <p:nvPr/>
        </p:nvSpPr>
        <p:spPr>
          <a:xfrm>
            <a:off x="11155680" y="228600"/>
            <a:ext cx="438912" cy="292608"/>
          </a:xfrm>
          <a:prstGeom prst="rect">
            <a:avLst/>
          </a:prstGeom>
          <a:solidFill>
            <a:srgbClr val="0B5CAD"/>
          </a:solidFill>
        </p:spPr>
        <p:txBody>
          <a:bodyPr wrap="square" lIns="254" tIns="254" rIns="254" bIns="254" anchor="ctr">
            <a:normAutofit/>
          </a:bodyPr>
          <a:lstStyle/>
          <a:p>
            <a:pPr marL="0" indent="0" algn="ctr">
              <a:buNone/>
            </a:pPr>
            <a:r>
              <a:rPr sz="1150" b="1">
                <a:solidFill>
                  <a:srgbClr val="FFFFFF"/>
                </a:solidFill>
              </a:rPr>
              <a:t>39</a:t>
            </a:r>
          </a:p>
        </p:txBody>
      </p:sp>
      <p:sp>
        <p:nvSpPr>
          <p:cNvPr id="10" name="Text 8">
            <a:extLst>
              <a:ext uri="{FF2B5EF4-FFF2-40B4-BE49-F238E27FC236}">
                <a16:creationId xmlns:a16="http://schemas.microsoft.com/office/drawing/2014/main" id="{84D95DCB-4624-4C65-AED4-E8E5109A6C5D}"/>
              </a:ext>
            </a:extLst>
          </p:cNvPr>
          <p:cNvSpPr>
            <a:spLocks noGrp="1"/>
          </p:cNvSpPr>
          <p:nvPr/>
        </p:nvSpPr>
        <p:spPr>
          <a:xfrm>
            <a:off x="658368" y="868680"/>
            <a:ext cx="10698480" cy="411480"/>
          </a:xfrm>
          <a:prstGeom prst="rect">
            <a:avLst/>
          </a:prstGeom>
          <a:noFill/>
        </p:spPr>
        <p:txBody>
          <a:bodyPr wrap="square" lIns="0" tIns="0" rIns="0" bIns="0" anchor="ctr">
            <a:normAutofit fontScale="88235" lnSpcReduction="20000"/>
          </a:bodyPr>
          <a:lstStyle/>
          <a:p>
            <a:pPr marL="0" indent="0">
              <a:buNone/>
            </a:pPr>
            <a:r>
              <a:rPr sz="3400" b="1">
                <a:solidFill>
                  <a:srgbClr val="07245A"/>
                </a:solidFill>
                <a:latin typeface="Aptos Display"/>
                <a:ea typeface="Aptos Display"/>
                <a:cs typeface="Aptos Display"/>
              </a:rPr>
              <a:t>Protocolo de medición reproducible</a:t>
            </a:r>
          </a:p>
        </p:txBody>
      </p:sp>
      <p:sp>
        <p:nvSpPr>
          <p:cNvPr id="11" name="Shape 9">
            <a:extLst>
              <a:ext uri="{FF2B5EF4-FFF2-40B4-BE49-F238E27FC236}">
                <a16:creationId xmlns:a16="http://schemas.microsoft.com/office/drawing/2014/main" id="{AF755394-459F-4F4E-B0E3-4F509DF87373}"/>
              </a:ext>
            </a:extLst>
          </p:cNvPr>
          <p:cNvSpPr>
            <a:spLocks noGrp="1"/>
          </p:cNvSpPr>
          <p:nvPr/>
        </p:nvSpPr>
        <p:spPr>
          <a:xfrm>
            <a:off x="685800" y="1371600"/>
            <a:ext cx="502920" cy="0"/>
          </a:xfrm>
          <a:prstGeom prst="line">
            <a:avLst/>
          </a:prstGeom>
          <a:noFill/>
          <a:ln w="27940">
            <a:solidFill>
              <a:srgbClr val="17B7D7"/>
            </a:solidFill>
            <a:prstDash val="solid"/>
          </a:ln>
        </p:spPr>
        <p:txBody>
          <a:bodyPr/>
          <a:lstStyle/>
          <a:p>
            <a:endParaRPr/>
          </a:p>
        </p:txBody>
      </p:sp>
      <p:sp>
        <p:nvSpPr>
          <p:cNvPr id="12" name="Text 10">
            <a:extLst>
              <a:ext uri="{FF2B5EF4-FFF2-40B4-BE49-F238E27FC236}">
                <a16:creationId xmlns:a16="http://schemas.microsoft.com/office/drawing/2014/main" id="{FFBBFD7C-9570-405B-8240-67736547FC39}"/>
              </a:ext>
            </a:extLst>
          </p:cNvPr>
          <p:cNvSpPr>
            <a:spLocks noGrp="1"/>
          </p:cNvSpPr>
          <p:nvPr/>
        </p:nvSpPr>
        <p:spPr>
          <a:xfrm>
            <a:off x="685800" y="1481328"/>
            <a:ext cx="10332720" cy="256032"/>
          </a:xfrm>
          <a:prstGeom prst="rect">
            <a:avLst/>
          </a:prstGeom>
          <a:noFill/>
        </p:spPr>
        <p:txBody>
          <a:bodyPr wrap="square" lIns="0" tIns="0" rIns="0" bIns="0" anchor="ctr">
            <a:normAutofit/>
          </a:bodyPr>
          <a:lstStyle/>
          <a:p>
            <a:pPr marL="0" indent="0">
              <a:buNone/>
            </a:pPr>
            <a:r>
              <a:rPr sz="1550">
                <a:solidFill>
                  <a:srgbClr val="34495E"/>
                </a:solidFill>
              </a:rPr>
              <a:t>Mismas condiciones antes y después</a:t>
            </a:r>
          </a:p>
        </p:txBody>
      </p:sp>
      <p:sp>
        <p:nvSpPr>
          <p:cNvPr id="13" name="Shape 11">
            <a:extLst>
              <a:ext uri="{FF2B5EF4-FFF2-40B4-BE49-F238E27FC236}">
                <a16:creationId xmlns:a16="http://schemas.microsoft.com/office/drawing/2014/main" id="{2F7230F0-F624-489A-AD82-F00C809B47BE}"/>
              </a:ext>
            </a:extLst>
          </p:cNvPr>
          <p:cNvSpPr>
            <a:spLocks noGrp="1"/>
          </p:cNvSpPr>
          <p:nvPr/>
        </p:nvSpPr>
        <p:spPr>
          <a:xfrm>
            <a:off x="914400" y="1900648"/>
            <a:ext cx="10332720" cy="1874520"/>
          </a:xfrm>
          <a:prstGeom prst="roundRect">
            <a:avLst>
              <a:gd name="adj" fmla="val 3902"/>
            </a:avLst>
          </a:prstGeom>
          <a:solidFill>
            <a:srgbClr val="EAF8FC"/>
          </a:solidFill>
          <a:ln w="12700">
            <a:solidFill>
              <a:srgbClr val="BFE9F4"/>
            </a:solidFill>
            <a:prstDash val="solid"/>
          </a:ln>
        </p:spPr>
        <p:txBody>
          <a:bodyPr/>
          <a:lstStyle/>
          <a:p>
            <a:endParaRPr/>
          </a:p>
        </p:txBody>
      </p:sp>
      <p:sp>
        <p:nvSpPr>
          <p:cNvPr id="14" name="Text 12">
            <a:extLst>
              <a:ext uri="{FF2B5EF4-FFF2-40B4-BE49-F238E27FC236}">
                <a16:creationId xmlns:a16="http://schemas.microsoft.com/office/drawing/2014/main" id="{E2F5AB8B-6919-4F9C-8594-9C9A36907F9C}"/>
              </a:ext>
            </a:extLst>
          </p:cNvPr>
          <p:cNvSpPr>
            <a:spLocks noGrp="1"/>
          </p:cNvSpPr>
          <p:nvPr/>
        </p:nvSpPr>
        <p:spPr>
          <a:xfrm>
            <a:off x="1280160" y="2266408"/>
            <a:ext cx="9601200" cy="594360"/>
          </a:xfrm>
          <a:prstGeom prst="rect">
            <a:avLst/>
          </a:prstGeom>
          <a:noFill/>
        </p:spPr>
        <p:txBody>
          <a:bodyPr wrap="square" anchor="ctr">
            <a:normAutofit fontScale="66489" lnSpcReduction="20000"/>
          </a:bodyPr>
          <a:lstStyle/>
          <a:p>
            <a:pPr marL="0" indent="0" algn="ctr">
              <a:buNone/>
            </a:pPr>
            <a:r>
              <a:rPr sz="2800" b="1">
                <a:solidFill>
                  <a:srgbClr val="07245A"/>
                </a:solidFill>
              </a:rPr>
              <a:t>La hipótesis se escribe antes del DDL; el veredicto se decide con evidencia comparable.</a:t>
            </a:r>
          </a:p>
        </p:txBody>
      </p:sp>
      <p:sp>
        <p:nvSpPr>
          <p:cNvPr id="15" name="Text 13">
            <a:extLst>
              <a:ext uri="{FF2B5EF4-FFF2-40B4-BE49-F238E27FC236}">
                <a16:creationId xmlns:a16="http://schemas.microsoft.com/office/drawing/2014/main" id="{6BD72E30-B334-45B0-8C20-88A8C0BEB72D}"/>
              </a:ext>
            </a:extLst>
          </p:cNvPr>
          <p:cNvSpPr>
            <a:spLocks noGrp="1"/>
          </p:cNvSpPr>
          <p:nvPr/>
        </p:nvSpPr>
        <p:spPr>
          <a:xfrm>
            <a:off x="1828800" y="3025360"/>
            <a:ext cx="8686800" cy="320040"/>
          </a:xfrm>
          <a:prstGeom prst="rect">
            <a:avLst/>
          </a:prstGeom>
          <a:noFill/>
        </p:spPr>
        <p:txBody>
          <a:bodyPr wrap="square" anchor="ctr"/>
          <a:lstStyle/>
          <a:p>
            <a:pPr marL="0" indent="0" algn="ctr">
              <a:buNone/>
            </a:pPr>
            <a:r>
              <a:rPr sz="1700" i="1">
                <a:solidFill>
                  <a:srgbClr val="34495E"/>
                </a:solidFill>
              </a:rPr>
              <a:t>No reiniciar el servidor ni limpiar cachés entre pruebas.</a:t>
            </a:r>
          </a:p>
        </p:txBody>
      </p:sp>
      <p:sp>
        <p:nvSpPr>
          <p:cNvPr id="16" name="Shape 14">
            <a:extLst>
              <a:ext uri="{FF2B5EF4-FFF2-40B4-BE49-F238E27FC236}">
                <a16:creationId xmlns:a16="http://schemas.microsoft.com/office/drawing/2014/main" id="{4382CB66-89A2-4505-97F5-C996BF6D9DCC}"/>
              </a:ext>
            </a:extLst>
          </p:cNvPr>
          <p:cNvSpPr>
            <a:spLocks noGrp="1"/>
          </p:cNvSpPr>
          <p:nvPr/>
        </p:nvSpPr>
        <p:spPr>
          <a:xfrm>
            <a:off x="822960" y="4069080"/>
            <a:ext cx="2423160" cy="1005840"/>
          </a:xfrm>
          <a:prstGeom prst="roundRect">
            <a:avLst>
              <a:gd name="adj" fmla="val 7273"/>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17" name="Text 15">
            <a:extLst>
              <a:ext uri="{FF2B5EF4-FFF2-40B4-BE49-F238E27FC236}">
                <a16:creationId xmlns:a16="http://schemas.microsoft.com/office/drawing/2014/main" id="{490AC556-4101-4FA6-AD49-7BD1D24584E9}"/>
              </a:ext>
            </a:extLst>
          </p:cNvPr>
          <p:cNvSpPr>
            <a:spLocks noGrp="1"/>
          </p:cNvSpPr>
          <p:nvPr/>
        </p:nvSpPr>
        <p:spPr>
          <a:xfrm>
            <a:off x="1508760" y="4233672"/>
            <a:ext cx="1600200" cy="256032"/>
          </a:xfrm>
          <a:prstGeom prst="rect">
            <a:avLst/>
          </a:prstGeom>
          <a:noFill/>
        </p:spPr>
        <p:txBody>
          <a:bodyPr wrap="square" lIns="0" tIns="0" rIns="0" bIns="0" anchor="ctr">
            <a:normAutofit/>
          </a:bodyPr>
          <a:lstStyle/>
          <a:p>
            <a:pPr marL="0" indent="0">
              <a:buNone/>
            </a:pPr>
            <a:r>
              <a:rPr sz="1600" b="1">
                <a:solidFill>
                  <a:srgbClr val="07245A"/>
                </a:solidFill>
              </a:rPr>
              <a:t>1</a:t>
            </a:r>
          </a:p>
        </p:txBody>
      </p:sp>
      <p:sp>
        <p:nvSpPr>
          <p:cNvPr id="18" name="Shape 16">
            <a:extLst>
              <a:ext uri="{FF2B5EF4-FFF2-40B4-BE49-F238E27FC236}">
                <a16:creationId xmlns:a16="http://schemas.microsoft.com/office/drawing/2014/main" id="{8E82512D-C8A9-4910-AD5D-8CB5CF210951}"/>
              </a:ext>
            </a:extLst>
          </p:cNvPr>
          <p:cNvSpPr>
            <a:spLocks noGrp="1"/>
          </p:cNvSpPr>
          <p:nvPr/>
        </p:nvSpPr>
        <p:spPr>
          <a:xfrm>
            <a:off x="1508760" y="4553712"/>
            <a:ext cx="411480" cy="0"/>
          </a:xfrm>
          <a:prstGeom prst="line">
            <a:avLst/>
          </a:prstGeom>
          <a:noFill/>
          <a:ln w="22860">
            <a:solidFill>
              <a:srgbClr val="17B7D7"/>
            </a:solidFill>
            <a:prstDash val="solid"/>
          </a:ln>
        </p:spPr>
        <p:txBody>
          <a:bodyPr/>
          <a:lstStyle/>
          <a:p>
            <a:endParaRPr/>
          </a:p>
        </p:txBody>
      </p:sp>
      <p:sp>
        <p:nvSpPr>
          <p:cNvPr id="19" name="Text 17">
            <a:extLst>
              <a:ext uri="{FF2B5EF4-FFF2-40B4-BE49-F238E27FC236}">
                <a16:creationId xmlns:a16="http://schemas.microsoft.com/office/drawing/2014/main" id="{7A2A6FD3-A2B6-446E-992F-C049FA9E2406}"/>
              </a:ext>
            </a:extLst>
          </p:cNvPr>
          <p:cNvSpPr>
            <a:spLocks noGrp="1"/>
          </p:cNvSpPr>
          <p:nvPr/>
        </p:nvSpPr>
        <p:spPr>
          <a:xfrm>
            <a:off x="1024128" y="4727448"/>
            <a:ext cx="2020824" cy="256032"/>
          </a:xfrm>
          <a:prstGeom prst="rect">
            <a:avLst/>
          </a:prstGeom>
          <a:noFill/>
        </p:spPr>
        <p:txBody>
          <a:bodyPr wrap="square" lIns="381" tIns="381" rIns="381" bIns="381" anchor="ctr">
            <a:normAutofit fontScale="80547" lnSpcReduction="10000"/>
          </a:bodyPr>
          <a:lstStyle/>
          <a:p>
            <a:pPr marL="0" indent="0">
              <a:buNone/>
            </a:pPr>
            <a:r>
              <a:rPr sz="1400">
                <a:solidFill>
                  <a:srgbClr val="17212B"/>
                </a:solidFill>
              </a:rPr>
              <a:t>Mismos parámetros y plan base</a:t>
            </a:r>
          </a:p>
        </p:txBody>
      </p:sp>
      <p:sp>
        <p:nvSpPr>
          <p:cNvPr id="20" name="Shape 18">
            <a:extLst>
              <a:ext uri="{FF2B5EF4-FFF2-40B4-BE49-F238E27FC236}">
                <a16:creationId xmlns:a16="http://schemas.microsoft.com/office/drawing/2014/main" id="{C9E63C32-059F-4454-A994-8878F93BE541}"/>
              </a:ext>
            </a:extLst>
          </p:cNvPr>
          <p:cNvSpPr>
            <a:spLocks noGrp="1"/>
          </p:cNvSpPr>
          <p:nvPr/>
        </p:nvSpPr>
        <p:spPr>
          <a:xfrm>
            <a:off x="3657600" y="4069080"/>
            <a:ext cx="2423160" cy="1005840"/>
          </a:xfrm>
          <a:prstGeom prst="roundRect">
            <a:avLst>
              <a:gd name="adj" fmla="val 7273"/>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1" name="Text 19">
            <a:extLst>
              <a:ext uri="{FF2B5EF4-FFF2-40B4-BE49-F238E27FC236}">
                <a16:creationId xmlns:a16="http://schemas.microsoft.com/office/drawing/2014/main" id="{EAB0C665-E2FF-4854-994B-DA9ED62E551F}"/>
              </a:ext>
            </a:extLst>
          </p:cNvPr>
          <p:cNvSpPr>
            <a:spLocks noGrp="1"/>
          </p:cNvSpPr>
          <p:nvPr/>
        </p:nvSpPr>
        <p:spPr>
          <a:xfrm>
            <a:off x="4343400" y="4233672"/>
            <a:ext cx="1600200" cy="256032"/>
          </a:xfrm>
          <a:prstGeom prst="rect">
            <a:avLst/>
          </a:prstGeom>
          <a:noFill/>
        </p:spPr>
        <p:txBody>
          <a:bodyPr wrap="square" lIns="0" tIns="0" rIns="0" bIns="0" anchor="ctr">
            <a:normAutofit/>
          </a:bodyPr>
          <a:lstStyle/>
          <a:p>
            <a:pPr marL="0" indent="0">
              <a:buNone/>
            </a:pPr>
            <a:r>
              <a:rPr sz="1600" b="1">
                <a:solidFill>
                  <a:srgbClr val="07245A"/>
                </a:solidFill>
              </a:rPr>
              <a:t>2</a:t>
            </a:r>
          </a:p>
        </p:txBody>
      </p:sp>
      <p:sp>
        <p:nvSpPr>
          <p:cNvPr id="22" name="Shape 20">
            <a:extLst>
              <a:ext uri="{FF2B5EF4-FFF2-40B4-BE49-F238E27FC236}">
                <a16:creationId xmlns:a16="http://schemas.microsoft.com/office/drawing/2014/main" id="{0EDDFEDA-CF40-4C87-9DA4-DD8410696C61}"/>
              </a:ext>
            </a:extLst>
          </p:cNvPr>
          <p:cNvSpPr>
            <a:spLocks noGrp="1"/>
          </p:cNvSpPr>
          <p:nvPr/>
        </p:nvSpPr>
        <p:spPr>
          <a:xfrm>
            <a:off x="4343400" y="4553712"/>
            <a:ext cx="411480" cy="0"/>
          </a:xfrm>
          <a:prstGeom prst="line">
            <a:avLst/>
          </a:prstGeom>
          <a:noFill/>
          <a:ln w="22860">
            <a:solidFill>
              <a:srgbClr val="17B7D7"/>
            </a:solidFill>
            <a:prstDash val="solid"/>
          </a:ln>
        </p:spPr>
        <p:txBody>
          <a:bodyPr/>
          <a:lstStyle/>
          <a:p>
            <a:endParaRPr/>
          </a:p>
        </p:txBody>
      </p:sp>
      <p:sp>
        <p:nvSpPr>
          <p:cNvPr id="23" name="Text 21">
            <a:extLst>
              <a:ext uri="{FF2B5EF4-FFF2-40B4-BE49-F238E27FC236}">
                <a16:creationId xmlns:a16="http://schemas.microsoft.com/office/drawing/2014/main" id="{FB8898C2-FAEE-4805-9949-6DE0724DBD32}"/>
              </a:ext>
            </a:extLst>
          </p:cNvPr>
          <p:cNvSpPr>
            <a:spLocks noGrp="1"/>
          </p:cNvSpPr>
          <p:nvPr/>
        </p:nvSpPr>
        <p:spPr>
          <a:xfrm>
            <a:off x="3858768" y="4727448"/>
            <a:ext cx="2020824" cy="256032"/>
          </a:xfrm>
          <a:prstGeom prst="rect">
            <a:avLst/>
          </a:prstGeom>
          <a:noFill/>
        </p:spPr>
        <p:txBody>
          <a:bodyPr wrap="square" lIns="381" tIns="381" rIns="381" bIns="381" anchor="ctr">
            <a:normAutofit fontScale="83863" lnSpcReduction="10000"/>
          </a:bodyPr>
          <a:lstStyle/>
          <a:p>
            <a:pPr marL="0" indent="0">
              <a:buNone/>
            </a:pPr>
            <a:r>
              <a:rPr sz="1400">
                <a:solidFill>
                  <a:srgbClr val="17212B"/>
                </a:solidFill>
              </a:rPr>
              <a:t>3 ejecuciones; usar mediana</a:t>
            </a:r>
          </a:p>
        </p:txBody>
      </p:sp>
      <p:sp>
        <p:nvSpPr>
          <p:cNvPr id="24" name="Shape 22">
            <a:extLst>
              <a:ext uri="{FF2B5EF4-FFF2-40B4-BE49-F238E27FC236}">
                <a16:creationId xmlns:a16="http://schemas.microsoft.com/office/drawing/2014/main" id="{C0E9403F-D68C-48D4-93F8-FBB8A75444A2}"/>
              </a:ext>
            </a:extLst>
          </p:cNvPr>
          <p:cNvSpPr>
            <a:spLocks noGrp="1"/>
          </p:cNvSpPr>
          <p:nvPr/>
        </p:nvSpPr>
        <p:spPr>
          <a:xfrm>
            <a:off x="6492240" y="4069080"/>
            <a:ext cx="2423160" cy="1005840"/>
          </a:xfrm>
          <a:prstGeom prst="roundRect">
            <a:avLst>
              <a:gd name="adj" fmla="val 7273"/>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5" name="Text 23">
            <a:extLst>
              <a:ext uri="{FF2B5EF4-FFF2-40B4-BE49-F238E27FC236}">
                <a16:creationId xmlns:a16="http://schemas.microsoft.com/office/drawing/2014/main" id="{AF211E41-7A6F-4AFE-B045-18B95D7A4645}"/>
              </a:ext>
            </a:extLst>
          </p:cNvPr>
          <p:cNvSpPr>
            <a:spLocks noGrp="1"/>
          </p:cNvSpPr>
          <p:nvPr/>
        </p:nvSpPr>
        <p:spPr>
          <a:xfrm>
            <a:off x="7178040" y="4233672"/>
            <a:ext cx="1600200" cy="256032"/>
          </a:xfrm>
          <a:prstGeom prst="rect">
            <a:avLst/>
          </a:prstGeom>
          <a:noFill/>
        </p:spPr>
        <p:txBody>
          <a:bodyPr wrap="square" lIns="0" tIns="0" rIns="0" bIns="0" anchor="ctr">
            <a:normAutofit/>
          </a:bodyPr>
          <a:lstStyle/>
          <a:p>
            <a:pPr marL="0" indent="0">
              <a:buNone/>
            </a:pPr>
            <a:r>
              <a:rPr sz="1600" b="1">
                <a:solidFill>
                  <a:srgbClr val="07245A"/>
                </a:solidFill>
              </a:rPr>
              <a:t>3</a:t>
            </a:r>
          </a:p>
        </p:txBody>
      </p:sp>
      <p:sp>
        <p:nvSpPr>
          <p:cNvPr id="26" name="Shape 24">
            <a:extLst>
              <a:ext uri="{FF2B5EF4-FFF2-40B4-BE49-F238E27FC236}">
                <a16:creationId xmlns:a16="http://schemas.microsoft.com/office/drawing/2014/main" id="{9DF1B041-E7E9-43D5-B025-5CD335B320E9}"/>
              </a:ext>
            </a:extLst>
          </p:cNvPr>
          <p:cNvSpPr>
            <a:spLocks noGrp="1"/>
          </p:cNvSpPr>
          <p:nvPr/>
        </p:nvSpPr>
        <p:spPr>
          <a:xfrm>
            <a:off x="7178040" y="4553712"/>
            <a:ext cx="411480" cy="0"/>
          </a:xfrm>
          <a:prstGeom prst="line">
            <a:avLst/>
          </a:prstGeom>
          <a:noFill/>
          <a:ln w="22860">
            <a:solidFill>
              <a:srgbClr val="17B7D7"/>
            </a:solidFill>
            <a:prstDash val="solid"/>
          </a:ln>
        </p:spPr>
        <p:txBody>
          <a:bodyPr/>
          <a:lstStyle/>
          <a:p>
            <a:endParaRPr/>
          </a:p>
        </p:txBody>
      </p:sp>
      <p:sp>
        <p:nvSpPr>
          <p:cNvPr id="27" name="Text 25">
            <a:extLst>
              <a:ext uri="{FF2B5EF4-FFF2-40B4-BE49-F238E27FC236}">
                <a16:creationId xmlns:a16="http://schemas.microsoft.com/office/drawing/2014/main" id="{26F6DC83-B1D3-432B-86FE-19E529060708}"/>
              </a:ext>
            </a:extLst>
          </p:cNvPr>
          <p:cNvSpPr>
            <a:spLocks noGrp="1"/>
          </p:cNvSpPr>
          <p:nvPr/>
        </p:nvSpPr>
        <p:spPr>
          <a:xfrm>
            <a:off x="6693408" y="4727448"/>
            <a:ext cx="2020824" cy="256032"/>
          </a:xfrm>
          <a:prstGeom prst="rect">
            <a:avLst/>
          </a:prstGeom>
          <a:noFill/>
        </p:spPr>
        <p:txBody>
          <a:bodyPr wrap="square" lIns="381" tIns="381" rIns="381" bIns="381" anchor="ctr">
            <a:normAutofit fontScale="76395" lnSpcReduction="20000"/>
          </a:bodyPr>
          <a:lstStyle/>
          <a:p>
            <a:pPr marL="0" indent="0">
              <a:buNone/>
            </a:pPr>
            <a:r>
              <a:rPr sz="1400">
                <a:solidFill>
                  <a:srgbClr val="17212B"/>
                </a:solidFill>
              </a:rPr>
              <a:t>DDL + estadísticas actualizadas</a:t>
            </a:r>
          </a:p>
        </p:txBody>
      </p:sp>
      <p:sp>
        <p:nvSpPr>
          <p:cNvPr id="28" name="Shape 26">
            <a:extLst>
              <a:ext uri="{FF2B5EF4-FFF2-40B4-BE49-F238E27FC236}">
                <a16:creationId xmlns:a16="http://schemas.microsoft.com/office/drawing/2014/main" id="{3BC2058F-49EE-41FA-AC9C-2A90FF4F2B10}"/>
              </a:ext>
            </a:extLst>
          </p:cNvPr>
          <p:cNvSpPr>
            <a:spLocks noGrp="1"/>
          </p:cNvSpPr>
          <p:nvPr/>
        </p:nvSpPr>
        <p:spPr>
          <a:xfrm>
            <a:off x="9326880" y="4069080"/>
            <a:ext cx="2423160" cy="1005840"/>
          </a:xfrm>
          <a:prstGeom prst="roundRect">
            <a:avLst>
              <a:gd name="adj" fmla="val 7273"/>
            </a:avLst>
          </a:prstGeom>
          <a:solidFill>
            <a:srgbClr val="FFFFFF"/>
          </a:solidFill>
          <a:ln w="10160">
            <a:solidFill>
              <a:srgbClr val="D7E4EF"/>
            </a:solidFill>
            <a:prstDash val="solid"/>
          </a:ln>
          <a:effectLst>
            <a:outerShdw blurRad="12700" dist="50800" dir="2700000" algn="bl" rotWithShape="0">
              <a:srgbClr val="B9C9D6">
                <a:alpha val="16000"/>
              </a:srgbClr>
            </a:outerShdw>
          </a:effectLst>
        </p:spPr>
        <p:txBody>
          <a:bodyPr/>
          <a:lstStyle/>
          <a:p>
            <a:endParaRPr/>
          </a:p>
        </p:txBody>
      </p:sp>
      <p:sp>
        <p:nvSpPr>
          <p:cNvPr id="29" name="Text 27">
            <a:extLst>
              <a:ext uri="{FF2B5EF4-FFF2-40B4-BE49-F238E27FC236}">
                <a16:creationId xmlns:a16="http://schemas.microsoft.com/office/drawing/2014/main" id="{ACA65986-EC1A-406E-9AB4-23CD09363262}"/>
              </a:ext>
            </a:extLst>
          </p:cNvPr>
          <p:cNvSpPr>
            <a:spLocks noGrp="1"/>
          </p:cNvSpPr>
          <p:nvPr/>
        </p:nvSpPr>
        <p:spPr>
          <a:xfrm>
            <a:off x="10012680" y="4233672"/>
            <a:ext cx="1600200" cy="256032"/>
          </a:xfrm>
          <a:prstGeom prst="rect">
            <a:avLst/>
          </a:prstGeom>
          <a:noFill/>
        </p:spPr>
        <p:txBody>
          <a:bodyPr wrap="square" lIns="0" tIns="0" rIns="0" bIns="0" anchor="ctr">
            <a:normAutofit/>
          </a:bodyPr>
          <a:lstStyle/>
          <a:p>
            <a:pPr marL="0" indent="0">
              <a:buNone/>
            </a:pPr>
            <a:r>
              <a:rPr sz="1600" b="1">
                <a:solidFill>
                  <a:srgbClr val="07245A"/>
                </a:solidFill>
              </a:rPr>
              <a:t>4</a:t>
            </a:r>
          </a:p>
        </p:txBody>
      </p:sp>
      <p:sp>
        <p:nvSpPr>
          <p:cNvPr id="30" name="Shape 28">
            <a:extLst>
              <a:ext uri="{FF2B5EF4-FFF2-40B4-BE49-F238E27FC236}">
                <a16:creationId xmlns:a16="http://schemas.microsoft.com/office/drawing/2014/main" id="{3C3AB344-D20D-4B07-B930-DDA7F9A42991}"/>
              </a:ext>
            </a:extLst>
          </p:cNvPr>
          <p:cNvSpPr>
            <a:spLocks noGrp="1"/>
          </p:cNvSpPr>
          <p:nvPr/>
        </p:nvSpPr>
        <p:spPr>
          <a:xfrm>
            <a:off x="10012680" y="4553712"/>
            <a:ext cx="411480" cy="0"/>
          </a:xfrm>
          <a:prstGeom prst="line">
            <a:avLst/>
          </a:prstGeom>
          <a:noFill/>
          <a:ln w="22860">
            <a:solidFill>
              <a:srgbClr val="17B7D7"/>
            </a:solidFill>
            <a:prstDash val="solid"/>
          </a:ln>
        </p:spPr>
        <p:txBody>
          <a:bodyPr/>
          <a:lstStyle/>
          <a:p>
            <a:endParaRPr/>
          </a:p>
        </p:txBody>
      </p:sp>
      <p:sp>
        <p:nvSpPr>
          <p:cNvPr id="31" name="Text 29">
            <a:extLst>
              <a:ext uri="{FF2B5EF4-FFF2-40B4-BE49-F238E27FC236}">
                <a16:creationId xmlns:a16="http://schemas.microsoft.com/office/drawing/2014/main" id="{687FB3BB-F621-43A1-9C8F-2933E47FFBE7}"/>
              </a:ext>
            </a:extLst>
          </p:cNvPr>
          <p:cNvSpPr>
            <a:spLocks noGrp="1"/>
          </p:cNvSpPr>
          <p:nvPr/>
        </p:nvSpPr>
        <p:spPr>
          <a:xfrm>
            <a:off x="9528048" y="4727448"/>
            <a:ext cx="2020824" cy="256032"/>
          </a:xfrm>
          <a:prstGeom prst="rect">
            <a:avLst/>
          </a:prstGeom>
          <a:noFill/>
        </p:spPr>
        <p:txBody>
          <a:bodyPr wrap="square" lIns="381" tIns="381" rIns="381" bIns="381" anchor="ctr">
            <a:normAutofit fontScale="85272"/>
          </a:bodyPr>
          <a:lstStyle/>
          <a:p>
            <a:pPr marL="0" indent="0">
              <a:buNone/>
            </a:pPr>
            <a:r>
              <a:rPr sz="1400">
                <a:solidFill>
                  <a:srgbClr val="17212B"/>
                </a:solidFill>
              </a:rPr>
              <a:t>Repetir y comparar evidencias</a:t>
            </a:r>
          </a:p>
        </p:txBody>
      </p:sp>
      <p:sp>
        <p:nvSpPr>
          <p:cNvPr id="32" name="Shape 30">
            <a:extLst>
              <a:ext uri="{FF2B5EF4-FFF2-40B4-BE49-F238E27FC236}">
                <a16:creationId xmlns:a16="http://schemas.microsoft.com/office/drawing/2014/main" id="{28E386AB-C379-4D25-B604-5ABF63B69B4E}"/>
              </a:ext>
            </a:extLst>
          </p:cNvPr>
          <p:cNvSpPr>
            <a:spLocks noGrp="1"/>
          </p:cNvSpPr>
          <p:nvPr/>
        </p:nvSpPr>
        <p:spPr>
          <a:xfrm>
            <a:off x="502920" y="6473952"/>
            <a:ext cx="11155680" cy="0"/>
          </a:xfrm>
          <a:prstGeom prst="line">
            <a:avLst/>
          </a:prstGeom>
          <a:noFill/>
          <a:ln w="8255">
            <a:solidFill>
              <a:srgbClr val="D7E4EF"/>
            </a:solidFill>
            <a:prstDash val="solid"/>
          </a:ln>
        </p:spPr>
        <p:txBody>
          <a:bodyPr/>
          <a:lstStyle/>
          <a:p>
            <a:endParaRPr/>
          </a:p>
        </p:txBody>
      </p:sp>
      <p:sp>
        <p:nvSpPr>
          <p:cNvPr id="33" name="Text 31">
            <a:extLst>
              <a:ext uri="{FF2B5EF4-FFF2-40B4-BE49-F238E27FC236}">
                <a16:creationId xmlns:a16="http://schemas.microsoft.com/office/drawing/2014/main" id="{E391C922-15F1-4C85-AFA3-EDB189134F04}"/>
              </a:ext>
            </a:extLst>
          </p:cNvPr>
          <p:cNvSpPr>
            <a:spLocks noGrp="1"/>
          </p:cNvSpPr>
          <p:nvPr/>
        </p:nvSpPr>
        <p:spPr>
          <a:xfrm>
            <a:off x="530352" y="6537960"/>
            <a:ext cx="7772400" cy="164592"/>
          </a:xfrm>
          <a:prstGeom prst="rect">
            <a:avLst/>
          </a:prstGeom>
          <a:noFill/>
        </p:spPr>
        <p:txBody>
          <a:bodyPr wrap="square" lIns="0" tIns="0" rIns="0" bIns="0" anchor="ctr"/>
          <a:lstStyle/>
          <a:p>
            <a:pPr marL="0" indent="0">
              <a:buNone/>
            </a:pPr>
            <a:r>
              <a:rPr sz="950">
                <a:solidFill>
                  <a:srgbClr val="5D6D7E"/>
                </a:solidFill>
              </a:rPr>
              <a:t>Sistemas de Gestión de Bases de Datos · 2026</a:t>
            </a:r>
          </a:p>
        </p:txBody>
      </p:sp>
    </p:spTree>
    <p:extLst>
      <p:ext uri="{BB962C8B-B14F-4D97-AF65-F5344CB8AC3E}">
        <p14:creationId xmlns:p14="http://schemas.microsoft.com/office/powerpoint/2010/main" val="3100996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439</TotalTime>
  <Words>6337</Words>
  <Application>Microsoft Office PowerPoint</Application>
  <DocSecurity>0</DocSecurity>
  <PresentationFormat>Panorámica</PresentationFormat>
  <Paragraphs>945</Paragraphs>
  <Slides>41</Slides>
  <Notes>41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41</vt:i4>
      </vt:variant>
    </vt:vector>
  </HeadingPairs>
  <TitlesOfParts>
    <vt:vector size="45" baseType="lpstr">
      <vt:lpstr>Aptos</vt:lpstr>
      <vt:lpstr>Aptos Display</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Andrés Pablo FANTIN</cp:lastModifiedBy>
  <cp:revision>1</cp:revision>
  <dcterms:created xsi:type="dcterms:W3CDTF">2026-08-22T03:44:56Z</dcterms:created>
  <dcterms:modified xsi:type="dcterms:W3CDTF">2026-08-23T19:35:43Z</dcterms:modified>
</cp:coreProperties>
</file>